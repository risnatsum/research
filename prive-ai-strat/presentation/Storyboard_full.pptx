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silence — let the title land. Reframe from the start: 'We are not here to show you what we shipped last quarter. We want to talk about where this market is going.' Reference the client's current platform situation if you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chapter as a story beat, not a slide count. 'Think of this as a six-chapter conversation. We start in your world and we end with a specific ask.' Pause after 'what is live today' — it signals an honest line between reality and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telling you the industry is changing — you know that. We want to name the three pressures precisely: AUM competition, regulatory scrutiny, and a hard capacity ceiling on manual operations. These are symptoms of the same structural gap: the platform wasn't designed for this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institutions winning AUM at this tier are not winning on product breadth. They win because their platform makes the RM sharper and makes the client feel anticipated. That's a specific capability requirement — and most platforms in production today were not architected to meet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wealth platforms we speak to have AI — but it's arrived as a series of additions rather than a considered architecture. The consequence is a compliance patchwork. The most consequential gap: no clear line between deterministic and generative outputs. That's where regulatory exposure concentrates.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not semantic — it has real compliance consequences. Portfolio Optimiser, Health Checks, and Scenario Analysis are deterministic. A regulator can examine, reproduce, and challenge them with standard model validation. Portfolio IQ, CLA, and Privé Agent are generative and need an LLM governance layer. Privé treats these as two distinct categories because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question is why two tracks — the answer is risk separation, not resource allocation. Track A has to be regulator-ready, auditable, and stable. Track B has to be fast, flexible, and client-shaped. Once a wealth manager has built tooling on this platform, that's not a feature you can poach with a competitor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Vendors who are investing in dashboards and NL interfaces are responding to where client demand is loudest right now. The problem is that by the time clients are asking for it loudly, competitors are already shipping it. The differentiators on the right are the ones that create integration depth that makes switching painful.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means three different accountability models. The quantitative analytics layer can be deployed and demonstrated to regulators without any AI governance conversation. Platform automation is often the fastest operational win — it removes manual work without touching the client-facing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features can be deployed, demonstrated to regulators, and integrated into client-facing workflows without engaging the firm's AI governance process. For clients with active internal AI approval cycles measured in months, this is a meaningful unlock.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tier separation is not a caveat — it is part of the design. We built the compliance layer specifically because these features generate probabilistic outputs and require it. Portfolio IQ is in SIT right now, which means the governance infrastructure is being stress-tested, not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Privé Agent is not the novelty of NL interfaces — that expectation is now table stakes. The value is that this is built natively into the platform, so it has access to live portfolio data, health check signals, and client records in the same session. The task-execution layer is what makes this genuinely useful — querying is convenience, acting is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is often underestimated in a pitch because it's not a headline capability — but it's frequently the highest-value near-term unlock for operations teams. None of these require AI, so they can be deployed, audited, and demonstrated to internal risk teams without an AI governance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B answers a question every sophisticated client eventually asks: what happens when the standard platform doesn't do what we need? Most vendors say file a feature request. We built a different answer. Once wealth managers have built proprietary tooling here, those tools create real switching cost — not because we locked the client in, but because they built something worth 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guided development workspace is the mechanism that makes this real — it's not a blank code editor. It's a structured environment where wealth managers can construct tools, test them against real data, and deploy them without a Privé engineer in the loop. That shift — from consumer to builder — changes how the firm relates to the platform, and what it would cost to leave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add a custom development layer to the existing platform? The answer is governance and stability. A platform that mixes production AI features with experimental custom tools creates a blurred audit trail and shared failure risk — exactly what regulators at MAS, SFC, and FCA are scrutinising. For enterprise clients where usage is significant, the ability to supply their own API keys means token costs are transparent, manageable, and theirs to optimise.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here is not aspirational — it is what is in production today. Client-facing AI runs through AWS Bedrock because it gives us the enterprise data boundary that institutional clients require: your data does not leave the boundary, and it does not train the model. We are being transparent about the two-provider architecture because the consolidation work is underway — the client-facing stack is already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not a compliance claim — it is a capability map. What matters to this audience is not that Privé has read the regulations, but that the platform architecture was designed with them in mind. The Override UI and Audit Store are not add-ons; they are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for a compliance audience: the human decision is never implicit. The wealth manager cannot receive an AI recommendation and act on it without the platform recording what they chose to do. That log — the original AI output, the confidence signal, and the human decision — is what a regulator asks for, and it exists on demand rather than being reconstructed.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that matters most to compliance teams: 'available on demand' versus 'reconstructed after the fact.' Reconstructed records carry legal risk and examiner scepticism. The Privé Audit Store produces the record at the moment the decision is made — the AI output and human response written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40x internal cost increase sounds alarming — it isn't. It reflects the speed at which Privé's own teams adopted AI-assisted tooling, and it gave us early, concrete data on what unconstrained AI usage actually costs at scale. That data is now structural input into how we price for clients. We will not commit to a pricing model until testing produces a number we can stand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columns here are not a roadmap — they are a statement of current fact. Three quantitative analytics features are already running in production with clients at the Citi and UOB tier. Portfolio IQ and the governance layer exist and are being tested but are not in production yet. Institutional clients have seen enough vendors blur this line. We are not doing that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we hear from compliance and risk teams: what happens to your audit trail if Anthropic changes something? The answer is that the audit infrastructure does not sit inside Anthropic — it sits inside Privé. We use Bedrock for model delivery, but the layer that logs decisions, attaches confidence scores, and produces the audit record is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already closing. The differentiators on the right are quieter asks today, but they're the ones that create the integration depth that makes switching painful. The development workspace is the clearest example — once a wealth manager has built proprietary tooling on Privé's platform, that's not a feature you can replicate with a demo. Privé's decision to build Track B before clients are demanding it universally is the early-mover call this slide is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is structured so both parties put something in and both get something out. Privé brings the platform, governance layer, and implementation support. The client brings a real use case, a named internal champion, and access to test data. At 90 days, the deliverable is a working prototype with an audit trail that a compliance officer can review — not a slide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rhetorical questions — they are the three decisions that need to be made for this to move forward. The pilot structure is designed to be low-friction: one use case, one internal champion, 90 days, a concrete output. The goal of this meeting is to leave with answers to all three, not to schedule a follow-up call to discuss the pilot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points are verifiable. The governance layer is in SIT and can be demonstrated. The dual-track strategy is documented and the track record on Track A is in production. The single-vendor architecture is a structural reality of how the platform is built. The ask is straightforward: engage on a 90-day pilot, answer the three questions on the previous slide, and leave this meeting with a next step that has a name, a timeline, and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0" y="0"/>
            <a:ext cx="57150" cy="10287000"/>
          </a:xfrm>
          <a:prstGeom prst="rect">
            <a:avLst/>
          </a:prstGeom>
          <a:gradFill rotWithShape="1">
            <a:gsLst>
              <a:gs pos="0">
                <a:srgbClr val="60C094">
                  <a:alpha val="100000"/>
                </a:srgbClr>
              </a:gs>
              <a:gs pos="100000">
                <a:srgbClr val="00557E">
                  <a:alpha val="100000"/>
                </a:srgbClr>
              </a:gs>
            </a:gsLst>
            <a:lin ang="5400000" scaled="0"/>
          </a:gradFill>
          <a:ln/>
        </p:spPr>
      </p:sp>
      <p:sp>
        <p:nvSpPr>
          <p:cNvPr id="3" name="Text 1"/>
          <p:cNvSpPr/>
          <p:nvPr/>
        </p:nvSpPr>
        <p:spPr>
          <a:xfrm>
            <a:off x="1047750" y="2550795"/>
            <a:ext cx="321956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52" kern="0" dirty="0">
                <a:solidFill>
                  <a:srgbClr val="60C094"/>
                </a:solidFill>
                <a:latin typeface="Arial" pitchFamily="34" charset="0"/>
                <a:ea typeface="Arial" pitchFamily="34" charset="-122"/>
                <a:cs typeface="Arial" pitchFamily="34" charset="-120"/>
              </a:rPr>
              <a:t>PRIVÉ AI SOLUTIONS</a:t>
            </a:r>
            <a:endParaRPr lang="en-US" sz="1800" dirty="0"/>
          </a:p>
        </p:txBody>
      </p:sp>
      <p:sp>
        <p:nvSpPr>
          <p:cNvPr id="4" name="Text 2"/>
          <p:cNvSpPr/>
          <p:nvPr/>
        </p:nvSpPr>
        <p:spPr>
          <a:xfrm>
            <a:off x="1047750" y="3670935"/>
            <a:ext cx="5865848" cy="2484120"/>
          </a:xfrm>
          <a:prstGeom prst="rect">
            <a:avLst/>
          </a:prstGeom>
          <a:noFill/>
          <a:ln/>
        </p:spPr>
        <p:txBody>
          <a:bodyPr wrap="square" lIns="25400" tIns="25400" rIns="25400" bIns="25400" rtlCol="0" anchor="t">
            <a:normAutofit/>
          </a:bodyPr>
          <a:lstStyle/>
          <a:p>
            <a:pPr algn="l" indent="0" marL="0">
              <a:lnSpc>
                <a:spcPct val="107000"/>
              </a:lnSpc>
              <a:buNone/>
            </a:pPr>
            <a:r>
              <a:rPr lang="en-US" sz="6000" b="1" spc="-60" kern="0" dirty="0">
                <a:solidFill>
                  <a:srgbClr val="FFFFFF"/>
                </a:solidFill>
                <a:latin typeface="Arial" pitchFamily="34" charset="0"/>
                <a:ea typeface="Arial" pitchFamily="34" charset="-122"/>
                <a:cs typeface="Arial" pitchFamily="34" charset="-120"/>
              </a:rPr>
              <a:t>Building the Intelligent Wealth Platform</a:t>
            </a:r>
            <a:endParaRPr lang="en-US" sz="6000" dirty="0"/>
          </a:p>
        </p:txBody>
      </p:sp>
      <p:sp>
        <p:nvSpPr>
          <p:cNvPr id="5" name="Shape 3"/>
          <p:cNvSpPr/>
          <p:nvPr/>
        </p:nvSpPr>
        <p:spPr>
          <a:xfrm>
            <a:off x="1047750" y="6612255"/>
            <a:ext cx="609600" cy="28575"/>
          </a:xfrm>
          <a:prstGeom prst="rect">
            <a:avLst/>
          </a:prstGeom>
          <a:solidFill>
            <a:srgbClr val="60C094"/>
          </a:solidFill>
          <a:ln/>
        </p:spPr>
      </p:sp>
      <p:sp>
        <p:nvSpPr>
          <p:cNvPr id="6" name="Text 4"/>
          <p:cNvSpPr/>
          <p:nvPr/>
        </p:nvSpPr>
        <p:spPr>
          <a:xfrm>
            <a:off x="1047750" y="7345680"/>
            <a:ext cx="3196336"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FFFFFF">
                    <a:alpha val="48000"/>
                  </a:srgbClr>
                </a:solidFill>
                <a:latin typeface="Arial" pitchFamily="34" charset="0"/>
                <a:ea typeface="Arial" pitchFamily="34" charset="-122"/>
                <a:cs typeface="Arial" pitchFamily="34" charset="-120"/>
              </a:rPr>
              <a:t>[Client Name] · [Date]</a:t>
            </a:r>
            <a:endParaRPr lang="en-US" sz="2250" dirty="0"/>
          </a:p>
        </p:txBody>
      </p:sp>
      <p:sp>
        <p:nvSpPr>
          <p:cNvPr id="7" name="Shape 5"/>
          <p:cNvSpPr/>
          <p:nvPr/>
        </p:nvSpPr>
        <p:spPr>
          <a:xfrm>
            <a:off x="16436340" y="9376410"/>
            <a:ext cx="803910" cy="453390"/>
          </a:xfrm>
          <a:prstGeom prst="roundRect">
            <a:avLst>
              <a:gd name="adj" fmla="val 12605"/>
            </a:avLst>
          </a:prstGeom>
          <a:solidFill>
            <a:srgbClr val="FFFFFF">
              <a:alpha val="8000"/>
            </a:srgbClr>
          </a:solidFill>
          <a:ln w="7620">
            <a:solidFill>
              <a:srgbClr val="FFFFFF">
                <a:alpha val="16000"/>
              </a:srgbClr>
            </a:solidFill>
            <a:prstDash val="solid"/>
          </a:ln>
        </p:spPr>
      </p:sp>
      <p:pic>
        <p:nvPicPr>
          <p:cNvPr id="8" name="Image 0" descr="preencoded.png">    </p:cNvPr>
          <p:cNvPicPr>
            <a:picLocks noChangeAspect="1"/>
          </p:cNvPicPr>
          <p:nvPr/>
        </p:nvPicPr>
        <p:blipFill>
          <a:blip r:embed="rId1"/>
          <a:stretch>
            <a:fillRect/>
          </a:stretch>
        </p:blipFill>
        <p:spPr>
          <a:xfrm>
            <a:off x="16615410" y="9479280"/>
            <a:ext cx="445770" cy="2476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WHAT WE WILL COVER TODAY</a:t>
            </a:r>
            <a:endParaRPr lang="en-US" sz="1800" dirty="0"/>
          </a:p>
        </p:txBody>
      </p:sp>
      <p:sp>
        <p:nvSpPr>
          <p:cNvPr id="3" name="Text 1"/>
          <p:cNvSpPr/>
          <p:nvPr/>
        </p:nvSpPr>
        <p:spPr>
          <a:xfrm>
            <a:off x="1047750" y="194437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Six chapters, one argument.</a:t>
            </a:r>
            <a:endParaRPr lang="en-US" sz="4350" dirty="0"/>
          </a:p>
        </p:txBody>
      </p:sp>
      <p:sp>
        <p:nvSpPr>
          <p:cNvPr id="4" name="Text 2"/>
          <p:cNvSpPr/>
          <p:nvPr/>
        </p:nvSpPr>
        <p:spPr>
          <a:xfrm>
            <a:off x="1047750" y="2952115"/>
            <a:ext cx="5334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0C094"/>
                </a:solidFill>
                <a:latin typeface="Arial" pitchFamily="34" charset="0"/>
                <a:ea typeface="Arial" pitchFamily="34" charset="-122"/>
                <a:cs typeface="Arial" pitchFamily="34" charset="-120"/>
              </a:rPr>
              <a:t>01</a:t>
            </a:r>
            <a:endParaRPr lang="en-US" sz="3000" dirty="0"/>
          </a:p>
        </p:txBody>
      </p:sp>
      <p:sp>
        <p:nvSpPr>
          <p:cNvPr id="5" name="Text 3"/>
          <p:cNvSpPr/>
          <p:nvPr/>
        </p:nvSpPr>
        <p:spPr>
          <a:xfrm>
            <a:off x="1714500" y="3199765"/>
            <a:ext cx="577013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spc="117" kern="0" dirty="0">
                <a:solidFill>
                  <a:srgbClr val="00557E"/>
                </a:solidFill>
                <a:latin typeface="Arial" pitchFamily="34" charset="0"/>
                <a:ea typeface="Arial" pitchFamily="34" charset="-122"/>
                <a:cs typeface="Arial" pitchFamily="34" charset="-120"/>
              </a:rPr>
              <a:t>THE PRESSURE YOU ARE NAVIGATING</a:t>
            </a:r>
            <a:endParaRPr lang="en-US" sz="1950" dirty="0"/>
          </a:p>
        </p:txBody>
      </p:sp>
      <p:sp>
        <p:nvSpPr>
          <p:cNvPr id="6" name="Text 4"/>
          <p:cNvSpPr/>
          <p:nvPr/>
        </p:nvSpPr>
        <p:spPr>
          <a:xfrm>
            <a:off x="1714500" y="3818890"/>
            <a:ext cx="577013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What wealth managers are actually dealing with</a:t>
            </a:r>
            <a:endParaRPr lang="en-US" sz="1950" dirty="0"/>
          </a:p>
        </p:txBody>
      </p:sp>
      <p:sp>
        <p:nvSpPr>
          <p:cNvPr id="7" name="Text 5"/>
          <p:cNvSpPr/>
          <p:nvPr/>
        </p:nvSpPr>
        <p:spPr>
          <a:xfrm>
            <a:off x="9525000" y="2952115"/>
            <a:ext cx="5334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0C094"/>
                </a:solidFill>
                <a:latin typeface="Arial" pitchFamily="34" charset="0"/>
                <a:ea typeface="Arial" pitchFamily="34" charset="-122"/>
                <a:cs typeface="Arial" pitchFamily="34" charset="-120"/>
              </a:rPr>
              <a:t>02</a:t>
            </a:r>
            <a:endParaRPr lang="en-US" sz="3000" dirty="0"/>
          </a:p>
        </p:txBody>
      </p:sp>
      <p:sp>
        <p:nvSpPr>
          <p:cNvPr id="8" name="Text 6"/>
          <p:cNvSpPr/>
          <p:nvPr/>
        </p:nvSpPr>
        <p:spPr>
          <a:xfrm>
            <a:off x="10191750" y="3199765"/>
            <a:ext cx="687481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spc="117" kern="0" dirty="0">
                <a:solidFill>
                  <a:srgbClr val="00557E"/>
                </a:solidFill>
                <a:latin typeface="Arial" pitchFamily="34" charset="0"/>
                <a:ea typeface="Arial" pitchFamily="34" charset="-122"/>
                <a:cs typeface="Arial" pitchFamily="34" charset="-120"/>
              </a:rPr>
              <a:t>THE STRATEGIC REFRAME</a:t>
            </a:r>
            <a:endParaRPr lang="en-US" sz="1950" dirty="0"/>
          </a:p>
        </p:txBody>
      </p:sp>
      <p:sp>
        <p:nvSpPr>
          <p:cNvPr id="9" name="Text 7"/>
          <p:cNvSpPr/>
          <p:nvPr/>
        </p:nvSpPr>
        <p:spPr>
          <a:xfrm>
            <a:off x="10191750" y="3818890"/>
            <a:ext cx="687481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Why bolt-on AI fails and what architecture actually solves</a:t>
            </a:r>
            <a:endParaRPr lang="en-US" sz="1950" dirty="0"/>
          </a:p>
        </p:txBody>
      </p:sp>
      <p:sp>
        <p:nvSpPr>
          <p:cNvPr id="10" name="Text 8"/>
          <p:cNvSpPr/>
          <p:nvPr/>
        </p:nvSpPr>
        <p:spPr>
          <a:xfrm>
            <a:off x="1047750" y="5101907"/>
            <a:ext cx="5334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0C094"/>
                </a:solidFill>
                <a:latin typeface="Arial" pitchFamily="34" charset="0"/>
                <a:ea typeface="Arial" pitchFamily="34" charset="-122"/>
                <a:cs typeface="Arial" pitchFamily="34" charset="-120"/>
              </a:rPr>
              <a:t>03</a:t>
            </a:r>
            <a:endParaRPr lang="en-US" sz="3000" dirty="0"/>
          </a:p>
        </p:txBody>
      </p:sp>
      <p:sp>
        <p:nvSpPr>
          <p:cNvPr id="11" name="Text 9"/>
          <p:cNvSpPr/>
          <p:nvPr/>
        </p:nvSpPr>
        <p:spPr>
          <a:xfrm>
            <a:off x="1714500" y="5349557"/>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spc="117" kern="0" dirty="0">
                <a:solidFill>
                  <a:srgbClr val="00557E"/>
                </a:solidFill>
                <a:latin typeface="Arial" pitchFamily="34" charset="0"/>
                <a:ea typeface="Arial" pitchFamily="34" charset="-122"/>
                <a:cs typeface="Arial" pitchFamily="34" charset="-120"/>
              </a:rPr>
              <a:t>THE PLATFORM IN DETAIL</a:t>
            </a:r>
            <a:endParaRPr lang="en-US" sz="1950" dirty="0"/>
          </a:p>
        </p:txBody>
      </p:sp>
      <p:sp>
        <p:nvSpPr>
          <p:cNvPr id="12" name="Text 10"/>
          <p:cNvSpPr/>
          <p:nvPr/>
        </p:nvSpPr>
        <p:spPr>
          <a:xfrm>
            <a:off x="1714500" y="5968682"/>
            <a:ext cx="7259955"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A dual-track response — compliance hardened and genuinely new</a:t>
            </a:r>
            <a:endParaRPr lang="en-US" sz="1950" dirty="0"/>
          </a:p>
        </p:txBody>
      </p:sp>
      <p:sp>
        <p:nvSpPr>
          <p:cNvPr id="13" name="Text 11"/>
          <p:cNvSpPr/>
          <p:nvPr/>
        </p:nvSpPr>
        <p:spPr>
          <a:xfrm>
            <a:off x="9525000" y="5101907"/>
            <a:ext cx="5334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0C094"/>
                </a:solidFill>
                <a:latin typeface="Arial" pitchFamily="34" charset="0"/>
                <a:ea typeface="Arial" pitchFamily="34" charset="-122"/>
                <a:cs typeface="Arial" pitchFamily="34" charset="-120"/>
              </a:rPr>
              <a:t>04</a:t>
            </a:r>
            <a:endParaRPr lang="en-US" sz="3000" dirty="0"/>
          </a:p>
        </p:txBody>
      </p:sp>
      <p:sp>
        <p:nvSpPr>
          <p:cNvPr id="14" name="Text 12"/>
          <p:cNvSpPr/>
          <p:nvPr/>
        </p:nvSpPr>
        <p:spPr>
          <a:xfrm>
            <a:off x="10191750" y="5349557"/>
            <a:ext cx="6254718"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spc="117" kern="0" dirty="0">
                <a:solidFill>
                  <a:srgbClr val="00557E"/>
                </a:solidFill>
                <a:latin typeface="Arial" pitchFamily="34" charset="0"/>
                <a:ea typeface="Arial" pitchFamily="34" charset="-122"/>
                <a:cs typeface="Arial" pitchFamily="34" charset="-120"/>
              </a:rPr>
              <a:t>COMPLIANCE POSTURE</a:t>
            </a:r>
            <a:endParaRPr lang="en-US" sz="1950" dirty="0"/>
          </a:p>
        </p:txBody>
      </p:sp>
      <p:sp>
        <p:nvSpPr>
          <p:cNvPr id="15" name="Text 13"/>
          <p:cNvSpPr/>
          <p:nvPr/>
        </p:nvSpPr>
        <p:spPr>
          <a:xfrm>
            <a:off x="10191750" y="5968682"/>
            <a:ext cx="6254718"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Governance built into the platform, not bolted onto it</a:t>
            </a:r>
            <a:endParaRPr lang="en-US" sz="1950" dirty="0"/>
          </a:p>
        </p:txBody>
      </p:sp>
      <p:sp>
        <p:nvSpPr>
          <p:cNvPr id="16" name="Text 14"/>
          <p:cNvSpPr/>
          <p:nvPr/>
        </p:nvSpPr>
        <p:spPr>
          <a:xfrm>
            <a:off x="1047750" y="7623016"/>
            <a:ext cx="5334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0C094"/>
                </a:solidFill>
                <a:latin typeface="Arial" pitchFamily="34" charset="0"/>
                <a:ea typeface="Arial" pitchFamily="34" charset="-122"/>
                <a:cs typeface="Arial" pitchFamily="34" charset="-120"/>
              </a:rPr>
              <a:t>05</a:t>
            </a:r>
            <a:endParaRPr lang="en-US" sz="3000" dirty="0"/>
          </a:p>
        </p:txBody>
      </p:sp>
      <p:sp>
        <p:nvSpPr>
          <p:cNvPr id="17" name="Text 15"/>
          <p:cNvSpPr/>
          <p:nvPr/>
        </p:nvSpPr>
        <p:spPr>
          <a:xfrm>
            <a:off x="1714500" y="7870666"/>
            <a:ext cx="462913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spc="117" kern="0" dirty="0">
                <a:solidFill>
                  <a:srgbClr val="00557E"/>
                </a:solidFill>
                <a:latin typeface="Arial" pitchFamily="34" charset="0"/>
                <a:ea typeface="Arial" pitchFamily="34" charset="-122"/>
                <a:cs typeface="Arial" pitchFamily="34" charset="-120"/>
              </a:rPr>
              <a:t>WHAT IS LIVE TODAY</a:t>
            </a:r>
            <a:endParaRPr lang="en-US" sz="1950" dirty="0"/>
          </a:p>
        </p:txBody>
      </p:sp>
      <p:sp>
        <p:nvSpPr>
          <p:cNvPr id="18" name="Text 16"/>
          <p:cNvSpPr/>
          <p:nvPr/>
        </p:nvSpPr>
        <p:spPr>
          <a:xfrm>
            <a:off x="1714500" y="8489791"/>
            <a:ext cx="462913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Production reality, not a roadmap slide</a:t>
            </a:r>
            <a:endParaRPr lang="en-US" sz="1950" dirty="0"/>
          </a:p>
        </p:txBody>
      </p:sp>
      <p:sp>
        <p:nvSpPr>
          <p:cNvPr id="19" name="Text 17"/>
          <p:cNvSpPr/>
          <p:nvPr/>
        </p:nvSpPr>
        <p:spPr>
          <a:xfrm>
            <a:off x="9525000" y="7623016"/>
            <a:ext cx="533400"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0C094"/>
                </a:solidFill>
                <a:latin typeface="Arial" pitchFamily="34" charset="0"/>
                <a:ea typeface="Arial" pitchFamily="34" charset="-122"/>
                <a:cs typeface="Arial" pitchFamily="34" charset="-120"/>
              </a:rPr>
              <a:t>06</a:t>
            </a:r>
            <a:endParaRPr lang="en-US" sz="3000" dirty="0"/>
          </a:p>
        </p:txBody>
      </p:sp>
      <p:sp>
        <p:nvSpPr>
          <p:cNvPr id="20" name="Text 18"/>
          <p:cNvSpPr/>
          <p:nvPr/>
        </p:nvSpPr>
        <p:spPr>
          <a:xfrm>
            <a:off x="10191750" y="7870666"/>
            <a:ext cx="5255165"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spc="117" kern="0" dirty="0">
                <a:solidFill>
                  <a:srgbClr val="00557E"/>
                </a:solidFill>
                <a:latin typeface="Arial" pitchFamily="34" charset="0"/>
                <a:ea typeface="Arial" pitchFamily="34" charset="-122"/>
                <a:cs typeface="Arial" pitchFamily="34" charset="-120"/>
              </a:rPr>
              <a:t>THE PATH FORWARD</a:t>
            </a:r>
            <a:endParaRPr lang="en-US" sz="1950" dirty="0"/>
          </a:p>
        </p:txBody>
      </p:sp>
      <p:sp>
        <p:nvSpPr>
          <p:cNvPr id="21" name="Text 19"/>
          <p:cNvSpPr/>
          <p:nvPr/>
        </p:nvSpPr>
        <p:spPr>
          <a:xfrm>
            <a:off x="10191750" y="8489791"/>
            <a:ext cx="5255165"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A concrete pilot ask and a decision to make</a:t>
            </a:r>
            <a:endParaRPr lang="en-US" sz="1950" dirty="0"/>
          </a:p>
        </p:txBody>
      </p:sp>
      <p:pic>
        <p:nvPicPr>
          <p:cNvPr id="22"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01 · PRESSURE</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The Pressure Wealth Managers Are Navigating</a:t>
            </a:r>
            <a:endParaRPr lang="en-US" sz="4350" dirty="0"/>
          </a:p>
        </p:txBody>
      </p:sp>
      <p:sp>
        <p:nvSpPr>
          <p:cNvPr id="4" name="Shape 2"/>
          <p:cNvSpPr/>
          <p:nvPr/>
        </p:nvSpPr>
        <p:spPr>
          <a:xfrm>
            <a:off x="1047750" y="2933065"/>
            <a:ext cx="7924800" cy="3039110"/>
          </a:xfrm>
          <a:prstGeom prst="roundRect">
            <a:avLst>
              <a:gd name="adj" fmla="val 2507"/>
            </a:avLst>
          </a:prstGeom>
          <a:solidFill>
            <a:srgbClr val="F4F5F7"/>
          </a:solidFill>
          <a:ln w="7620">
            <a:solidFill>
              <a:srgbClr val="E0E0E0"/>
            </a:solidFill>
            <a:prstDash val="solid"/>
          </a:ln>
        </p:spPr>
      </p:sp>
      <p:sp>
        <p:nvSpPr>
          <p:cNvPr id="5" name="Text 3"/>
          <p:cNvSpPr/>
          <p:nvPr/>
        </p:nvSpPr>
        <p:spPr>
          <a:xfrm>
            <a:off x="1398270" y="3512185"/>
            <a:ext cx="794613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AUM COMPETITION</a:t>
            </a:r>
            <a:endParaRPr lang="en-US" sz="1800" dirty="0"/>
          </a:p>
        </p:txBody>
      </p:sp>
      <p:sp>
        <p:nvSpPr>
          <p:cNvPr id="6" name="Text 4"/>
          <p:cNvSpPr/>
          <p:nvPr/>
        </p:nvSpPr>
        <p:spPr>
          <a:xfrm>
            <a:off x="1398270" y="4750435"/>
            <a:ext cx="7440473" cy="830580"/>
          </a:xfrm>
          <a:prstGeom prst="rect">
            <a:avLst/>
          </a:prstGeom>
          <a:noFill/>
          <a:ln/>
        </p:spPr>
        <p:txBody>
          <a:bodyPr wrap="square" lIns="25400" tIns="25400" rIns="25400" bIns="25400" rtlCol="0" anchor="t">
            <a:normAutofit/>
          </a:bodyPr>
          <a:lstStyle/>
          <a:p>
            <a:pPr algn="l" indent="0" marL="0">
              <a:lnSpc>
                <a:spcPct val="160000"/>
              </a:lnSpc>
              <a:buNone/>
            </a:pPr>
            <a:r>
              <a:rPr lang="en-US" sz="1950" dirty="0">
                <a:solidFill>
                  <a:srgbClr val="333333"/>
                </a:solidFill>
                <a:latin typeface="Arial" pitchFamily="34" charset="0"/>
                <a:ea typeface="Arial" pitchFamily="34" charset="-122"/>
                <a:cs typeface="Arial" pitchFamily="34" charset="-120"/>
              </a:rPr>
              <a:t>Digital capability is no longer a differentiator. It is the baseline expectation for a seat at the table.</a:t>
            </a:r>
            <a:endParaRPr lang="en-US" sz="1950" dirty="0"/>
          </a:p>
        </p:txBody>
      </p:sp>
      <p:sp>
        <p:nvSpPr>
          <p:cNvPr id="7" name="Text 5"/>
          <p:cNvSpPr/>
          <p:nvPr/>
        </p:nvSpPr>
        <p:spPr>
          <a:xfrm>
            <a:off x="1398270" y="6247765"/>
            <a:ext cx="7440473" cy="830580"/>
          </a:xfrm>
          <a:prstGeom prst="rect">
            <a:avLst/>
          </a:prstGeom>
          <a:noFill/>
          <a:ln/>
        </p:spPr>
        <p:txBody>
          <a:bodyPr wrap="square" lIns="25400" tIns="25400" rIns="25400" bIns="25400" rtlCol="0" anchor="t">
            <a:normAutofit/>
          </a:bodyPr>
          <a:lstStyle/>
          <a:p>
            <a:pPr algn="l" indent="0" marL="0">
              <a:lnSpc>
                <a:spcPct val="160000"/>
              </a:lnSpc>
              <a:buNone/>
            </a:pPr>
            <a:r>
              <a:rPr lang="en-US" sz="1950" dirty="0">
                <a:solidFill>
                  <a:srgbClr val="3D505D"/>
                </a:solidFill>
                <a:latin typeface="Arial" pitchFamily="34" charset="0"/>
                <a:ea typeface="Arial" pitchFamily="34" charset="-122"/>
                <a:cs typeface="Arial" pitchFamily="34" charset="-120"/>
              </a:rPr>
              <a:t>Platforms that cannot surface proactive insights or support self-serve data access are not competitive — they are a liability.</a:t>
            </a:r>
            <a:endParaRPr lang="en-US" sz="1950" dirty="0"/>
          </a:p>
        </p:txBody>
      </p:sp>
      <p:sp>
        <p:nvSpPr>
          <p:cNvPr id="8" name="Shape 6"/>
          <p:cNvSpPr/>
          <p:nvPr/>
        </p:nvSpPr>
        <p:spPr>
          <a:xfrm>
            <a:off x="9315450" y="2933065"/>
            <a:ext cx="7924800" cy="3039110"/>
          </a:xfrm>
          <a:prstGeom prst="roundRect">
            <a:avLst>
              <a:gd name="adj" fmla="val 2507"/>
            </a:avLst>
          </a:prstGeom>
          <a:solidFill>
            <a:srgbClr val="F4F5F7"/>
          </a:solidFill>
          <a:ln w="7620">
            <a:solidFill>
              <a:srgbClr val="E0E0E0"/>
            </a:solidFill>
            <a:prstDash val="solid"/>
          </a:ln>
        </p:spPr>
      </p:sp>
      <p:sp>
        <p:nvSpPr>
          <p:cNvPr id="9" name="Text 7"/>
          <p:cNvSpPr/>
          <p:nvPr/>
        </p:nvSpPr>
        <p:spPr>
          <a:xfrm>
            <a:off x="9665970" y="3512185"/>
            <a:ext cx="794613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REGULATORY SCRUTINY</a:t>
            </a:r>
            <a:endParaRPr lang="en-US" sz="1800" dirty="0"/>
          </a:p>
        </p:txBody>
      </p:sp>
      <p:sp>
        <p:nvSpPr>
          <p:cNvPr id="10" name="Text 8"/>
          <p:cNvSpPr/>
          <p:nvPr/>
        </p:nvSpPr>
        <p:spPr>
          <a:xfrm>
            <a:off x="9665970" y="4750435"/>
            <a:ext cx="794613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MAS FEAT Principles</a:t>
            </a:r>
            <a:endParaRPr lang="en-US" sz="1950" dirty="0"/>
          </a:p>
        </p:txBody>
      </p:sp>
      <p:sp>
        <p:nvSpPr>
          <p:cNvPr id="11" name="Text 9"/>
          <p:cNvSpPr/>
          <p:nvPr/>
        </p:nvSpPr>
        <p:spPr>
          <a:xfrm>
            <a:off x="9665970" y="5731510"/>
            <a:ext cx="794613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SFC AI Circular (2023)</a:t>
            </a:r>
            <a:endParaRPr lang="en-US" sz="1950" dirty="0"/>
          </a:p>
        </p:txBody>
      </p:sp>
      <p:sp>
        <p:nvSpPr>
          <p:cNvPr id="12" name="Text 10"/>
          <p:cNvSpPr/>
          <p:nvPr/>
        </p:nvSpPr>
        <p:spPr>
          <a:xfrm>
            <a:off x="9665970" y="6712585"/>
            <a:ext cx="794613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FCA Consumer Duty</a:t>
            </a:r>
            <a:endParaRPr lang="en-US" sz="1950" dirty="0"/>
          </a:p>
        </p:txBody>
      </p:sp>
      <p:sp>
        <p:nvSpPr>
          <p:cNvPr id="13" name="Text 11"/>
          <p:cNvSpPr/>
          <p:nvPr/>
        </p:nvSpPr>
        <p:spPr>
          <a:xfrm>
            <a:off x="9665970" y="7788910"/>
            <a:ext cx="7440473"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Three regimes. One shared requirement: explainable, auditable AI decisions.</a:t>
            </a:r>
            <a:endParaRPr lang="en-US" sz="1950" dirty="0"/>
          </a:p>
        </p:txBody>
      </p:sp>
      <p:sp>
        <p:nvSpPr>
          <p:cNvPr id="14" name="Shape 12"/>
          <p:cNvSpPr/>
          <p:nvPr/>
        </p:nvSpPr>
        <p:spPr>
          <a:xfrm>
            <a:off x="1047750" y="6200775"/>
            <a:ext cx="16192500" cy="3362325"/>
          </a:xfrm>
          <a:prstGeom prst="roundRect">
            <a:avLst>
              <a:gd name="adj" fmla="val 2266"/>
            </a:avLst>
          </a:prstGeom>
          <a:solidFill>
            <a:srgbClr val="1A2535"/>
          </a:solidFill>
          <a:ln/>
        </p:spPr>
      </p:sp>
      <p:sp>
        <p:nvSpPr>
          <p:cNvPr id="15" name="Text 13"/>
          <p:cNvSpPr/>
          <p:nvPr/>
        </p:nvSpPr>
        <p:spPr>
          <a:xfrm>
            <a:off x="1390650" y="6657975"/>
            <a:ext cx="1705737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60C094"/>
                </a:solidFill>
                <a:latin typeface="Arial" pitchFamily="34" charset="0"/>
                <a:ea typeface="Arial" pitchFamily="34" charset="-122"/>
                <a:cs typeface="Arial" pitchFamily="34" charset="-120"/>
              </a:rPr>
              <a:t>OPERATIONAL REALITY</a:t>
            </a:r>
            <a:endParaRPr lang="en-US" sz="1800" dirty="0"/>
          </a:p>
        </p:txBody>
      </p:sp>
      <p:sp>
        <p:nvSpPr>
          <p:cNvPr id="16" name="Text 14"/>
          <p:cNvSpPr/>
          <p:nvPr/>
        </p:nvSpPr>
        <p:spPr>
          <a:xfrm>
            <a:off x="1390650" y="7381875"/>
            <a:ext cx="769162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0000"/>
                  </a:srgbClr>
                </a:solidFill>
                <a:latin typeface="Arial" pitchFamily="34" charset="0"/>
                <a:ea typeface="Arial" pitchFamily="34" charset="-122"/>
                <a:cs typeface="Arial" pitchFamily="34" charset="-120"/>
              </a:rPr>
              <a:t>→ Asset onboarding: manual data entry across disconnected systems</a:t>
            </a:r>
            <a:endParaRPr lang="en-US" sz="1950" dirty="0"/>
          </a:p>
        </p:txBody>
      </p:sp>
      <p:sp>
        <p:nvSpPr>
          <p:cNvPr id="17" name="Text 15"/>
          <p:cNvSpPr/>
          <p:nvPr/>
        </p:nvSpPr>
        <p:spPr>
          <a:xfrm>
            <a:off x="9429750" y="7381875"/>
            <a:ext cx="769162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0000"/>
                  </a:srgbClr>
                </a:solidFill>
                <a:latin typeface="Arial" pitchFamily="34" charset="0"/>
                <a:ea typeface="Arial" pitchFamily="34" charset="-122"/>
                <a:cs typeface="Arial" pitchFamily="34" charset="-120"/>
              </a:rPr>
              <a:t>→ Portfolio health checks: analyst time, not platform output</a:t>
            </a:r>
            <a:endParaRPr lang="en-US" sz="1950" dirty="0"/>
          </a:p>
        </p:txBody>
      </p:sp>
      <p:sp>
        <p:nvSpPr>
          <p:cNvPr id="18" name="Text 16"/>
          <p:cNvSpPr/>
          <p:nvPr/>
        </p:nvSpPr>
        <p:spPr>
          <a:xfrm>
            <a:off x="1390650" y="8715375"/>
            <a:ext cx="821436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0000"/>
                  </a:srgbClr>
                </a:solidFill>
                <a:latin typeface="Arial" pitchFamily="34" charset="0"/>
                <a:ea typeface="Arial" pitchFamily="34" charset="-122"/>
                <a:cs typeface="Arial" pitchFamily="34" charset="-120"/>
              </a:rPr>
              <a:t>→ Fund document updates: pulled by operations, not automated</a:t>
            </a:r>
            <a:endParaRPr lang="en-US" sz="1950" dirty="0"/>
          </a:p>
        </p:txBody>
      </p:sp>
      <p:sp>
        <p:nvSpPr>
          <p:cNvPr id="19" name="Text 17"/>
          <p:cNvSpPr/>
          <p:nvPr/>
        </p:nvSpPr>
        <p:spPr>
          <a:xfrm>
            <a:off x="9429750" y="8715375"/>
            <a:ext cx="821436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0000"/>
                  </a:srgbClr>
                </a:solidFill>
                <a:latin typeface="Arial" pitchFamily="34" charset="0"/>
                <a:ea typeface="Arial" pitchFamily="34" charset="-122"/>
                <a:cs typeface="Arial" pitchFamily="34" charset="-120"/>
              </a:rPr>
              <a:t>→ Client reporting: assembled by hand for each relationship</a:t>
            </a:r>
            <a:endParaRPr lang="en-US" sz="1950" dirty="0"/>
          </a:p>
        </p:txBody>
      </p:sp>
      <p:pic>
        <p:nvPicPr>
          <p:cNvPr id="20"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01 · PRESSURE</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What Clients and RMs Now Expect From a Platform</a:t>
            </a:r>
            <a:endParaRPr lang="en-US" sz="4350" dirty="0"/>
          </a:p>
        </p:txBody>
      </p:sp>
      <p:sp>
        <p:nvSpPr>
          <p:cNvPr id="4" name="Shape 2"/>
          <p:cNvSpPr/>
          <p:nvPr/>
        </p:nvSpPr>
        <p:spPr>
          <a:xfrm>
            <a:off x="1047750" y="2933065"/>
            <a:ext cx="16192500" cy="1066800"/>
          </a:xfrm>
          <a:prstGeom prst="roundRect">
            <a:avLst>
              <a:gd name="adj" fmla="val 7143"/>
            </a:avLst>
          </a:prstGeom>
          <a:solidFill>
            <a:srgbClr val="00557E"/>
          </a:solidFill>
          <a:ln/>
        </p:spPr>
      </p:sp>
      <p:sp>
        <p:nvSpPr>
          <p:cNvPr id="5" name="Text 3"/>
          <p:cNvSpPr/>
          <p:nvPr/>
        </p:nvSpPr>
        <p:spPr>
          <a:xfrm>
            <a:off x="1352550" y="3295015"/>
            <a:ext cx="825627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FFFFFF"/>
                </a:solidFill>
                <a:latin typeface="Arial" pitchFamily="34" charset="0"/>
                <a:ea typeface="Arial" pitchFamily="34" charset="-122"/>
                <a:cs typeface="Arial" pitchFamily="34" charset="-120"/>
              </a:rPr>
              <a:t>EXPECTATION</a:t>
            </a:r>
            <a:endParaRPr lang="en-US" sz="1800" dirty="0"/>
          </a:p>
        </p:txBody>
      </p:sp>
      <p:sp>
        <p:nvSpPr>
          <p:cNvPr id="6" name="Text 4"/>
          <p:cNvSpPr/>
          <p:nvPr/>
        </p:nvSpPr>
        <p:spPr>
          <a:xfrm>
            <a:off x="9429750" y="3295015"/>
            <a:ext cx="825627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FFFFFF"/>
                </a:solidFill>
                <a:latin typeface="Arial" pitchFamily="34" charset="0"/>
                <a:ea typeface="Arial" pitchFamily="34" charset="-122"/>
                <a:cs typeface="Arial" pitchFamily="34" charset="-120"/>
              </a:rPr>
              <a:t>WHAT IT REQUIRES</a:t>
            </a:r>
            <a:endParaRPr lang="en-US" sz="1800" dirty="0"/>
          </a:p>
        </p:txBody>
      </p:sp>
      <p:sp>
        <p:nvSpPr>
          <p:cNvPr id="7" name="Shape 5"/>
          <p:cNvSpPr/>
          <p:nvPr/>
        </p:nvSpPr>
        <p:spPr>
          <a:xfrm>
            <a:off x="1047750" y="7764780"/>
            <a:ext cx="16192500" cy="9525"/>
          </a:xfrm>
          <a:prstGeom prst="rect">
            <a:avLst/>
          </a:prstGeom>
          <a:solidFill>
            <a:srgbClr val="E0E0E0"/>
          </a:solidFill>
          <a:ln/>
        </p:spPr>
      </p:sp>
      <p:sp>
        <p:nvSpPr>
          <p:cNvPr id="8" name="Shape 6"/>
          <p:cNvSpPr/>
          <p:nvPr/>
        </p:nvSpPr>
        <p:spPr>
          <a:xfrm>
            <a:off x="1047750" y="3999865"/>
            <a:ext cx="9525" cy="3772535"/>
          </a:xfrm>
          <a:prstGeom prst="rect">
            <a:avLst/>
          </a:prstGeom>
          <a:solidFill>
            <a:srgbClr val="E0E0E0"/>
          </a:solidFill>
          <a:ln/>
        </p:spPr>
      </p:sp>
      <p:sp>
        <p:nvSpPr>
          <p:cNvPr id="9" name="Shape 7"/>
          <p:cNvSpPr/>
          <p:nvPr/>
        </p:nvSpPr>
        <p:spPr>
          <a:xfrm>
            <a:off x="17232630" y="3999865"/>
            <a:ext cx="9525" cy="3772535"/>
          </a:xfrm>
          <a:prstGeom prst="rect">
            <a:avLst/>
          </a:prstGeom>
          <a:solidFill>
            <a:srgbClr val="E0E0E0"/>
          </a:solidFill>
          <a:ln/>
        </p:spPr>
      </p:sp>
      <p:sp>
        <p:nvSpPr>
          <p:cNvPr id="10" name="Shape 8"/>
          <p:cNvSpPr/>
          <p:nvPr/>
        </p:nvSpPr>
        <p:spPr>
          <a:xfrm>
            <a:off x="1055370" y="5981065"/>
            <a:ext cx="8088630" cy="9525"/>
          </a:xfrm>
          <a:prstGeom prst="rect">
            <a:avLst/>
          </a:prstGeom>
          <a:solidFill>
            <a:srgbClr val="E0E0E0"/>
          </a:solidFill>
          <a:ln/>
        </p:spPr>
      </p:sp>
      <p:sp>
        <p:nvSpPr>
          <p:cNvPr id="11" name="Text 9"/>
          <p:cNvSpPr/>
          <p:nvPr/>
        </p:nvSpPr>
        <p:spPr>
          <a:xfrm>
            <a:off x="1360170" y="4476115"/>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Proactive portfolio intelligence</a:t>
            </a:r>
            <a:endParaRPr lang="en-US" sz="1950" dirty="0"/>
          </a:p>
        </p:txBody>
      </p:sp>
      <p:sp>
        <p:nvSpPr>
          <p:cNvPr id="12" name="Text 10"/>
          <p:cNvSpPr/>
          <p:nvPr/>
        </p:nvSpPr>
        <p:spPr>
          <a:xfrm>
            <a:off x="1360170" y="5133340"/>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not weekly PDF reports</a:t>
            </a:r>
            <a:endParaRPr lang="en-US" sz="1950" dirty="0"/>
          </a:p>
        </p:txBody>
      </p:sp>
      <p:sp>
        <p:nvSpPr>
          <p:cNvPr id="13" name="Shape 11"/>
          <p:cNvSpPr/>
          <p:nvPr/>
        </p:nvSpPr>
        <p:spPr>
          <a:xfrm>
            <a:off x="9144000" y="5981065"/>
            <a:ext cx="8088630" cy="9525"/>
          </a:xfrm>
          <a:prstGeom prst="rect">
            <a:avLst/>
          </a:prstGeom>
          <a:solidFill>
            <a:srgbClr val="E0E0E0"/>
          </a:solidFill>
          <a:ln/>
        </p:spPr>
      </p:sp>
      <p:sp>
        <p:nvSpPr>
          <p:cNvPr id="14" name="Shape 12"/>
          <p:cNvSpPr/>
          <p:nvPr/>
        </p:nvSpPr>
        <p:spPr>
          <a:xfrm>
            <a:off x="9144000" y="3999865"/>
            <a:ext cx="9525" cy="1988820"/>
          </a:xfrm>
          <a:prstGeom prst="rect">
            <a:avLst/>
          </a:prstGeom>
          <a:solidFill>
            <a:srgbClr val="E0E0E0"/>
          </a:solidFill>
          <a:ln/>
        </p:spPr>
      </p:sp>
      <p:sp>
        <p:nvSpPr>
          <p:cNvPr id="15" name="Text 13"/>
          <p:cNvSpPr/>
          <p:nvPr/>
        </p:nvSpPr>
        <p:spPr>
          <a:xfrm>
            <a:off x="9456420" y="4804728"/>
            <a:ext cx="821855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Platform surfaces alerts and insights without RM initiation</a:t>
            </a:r>
            <a:endParaRPr lang="en-US" sz="1950" dirty="0"/>
          </a:p>
        </p:txBody>
      </p:sp>
      <p:sp>
        <p:nvSpPr>
          <p:cNvPr id="16" name="Shape 14"/>
          <p:cNvSpPr/>
          <p:nvPr/>
        </p:nvSpPr>
        <p:spPr>
          <a:xfrm>
            <a:off x="1055370" y="7969885"/>
            <a:ext cx="8088630" cy="9525"/>
          </a:xfrm>
          <a:prstGeom prst="rect">
            <a:avLst/>
          </a:prstGeom>
          <a:solidFill>
            <a:srgbClr val="E0E0E0"/>
          </a:solidFill>
          <a:ln/>
        </p:spPr>
      </p:sp>
      <p:sp>
        <p:nvSpPr>
          <p:cNvPr id="17" name="Text 15"/>
          <p:cNvSpPr/>
          <p:nvPr/>
        </p:nvSpPr>
        <p:spPr>
          <a:xfrm>
            <a:off x="1360170" y="6464935"/>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Self-serve data access</a:t>
            </a:r>
            <a:endParaRPr lang="en-US" sz="1950" dirty="0"/>
          </a:p>
        </p:txBody>
      </p:sp>
      <p:sp>
        <p:nvSpPr>
          <p:cNvPr id="18" name="Text 16"/>
          <p:cNvSpPr/>
          <p:nvPr/>
        </p:nvSpPr>
        <p:spPr>
          <a:xfrm>
            <a:off x="1360170" y="7122160"/>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not requests to operations</a:t>
            </a:r>
            <a:endParaRPr lang="en-US" sz="1950" dirty="0"/>
          </a:p>
        </p:txBody>
      </p:sp>
      <p:sp>
        <p:nvSpPr>
          <p:cNvPr id="19" name="Shape 17"/>
          <p:cNvSpPr/>
          <p:nvPr/>
        </p:nvSpPr>
        <p:spPr>
          <a:xfrm>
            <a:off x="9144000" y="7969885"/>
            <a:ext cx="8088630" cy="9525"/>
          </a:xfrm>
          <a:prstGeom prst="rect">
            <a:avLst/>
          </a:prstGeom>
          <a:solidFill>
            <a:srgbClr val="E0E0E0"/>
          </a:solidFill>
          <a:ln/>
        </p:spPr>
      </p:sp>
      <p:sp>
        <p:nvSpPr>
          <p:cNvPr id="20" name="Shape 18"/>
          <p:cNvSpPr/>
          <p:nvPr/>
        </p:nvSpPr>
        <p:spPr>
          <a:xfrm>
            <a:off x="9144000" y="5988685"/>
            <a:ext cx="9525" cy="1988820"/>
          </a:xfrm>
          <a:prstGeom prst="rect">
            <a:avLst/>
          </a:prstGeom>
          <a:solidFill>
            <a:srgbClr val="E0E0E0"/>
          </a:solidFill>
          <a:ln/>
        </p:spPr>
      </p:sp>
      <p:sp>
        <p:nvSpPr>
          <p:cNvPr id="21" name="Text 19"/>
          <p:cNvSpPr/>
          <p:nvPr/>
        </p:nvSpPr>
        <p:spPr>
          <a:xfrm>
            <a:off x="9456420" y="6793548"/>
            <a:ext cx="821855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Clients query their own portfolios in real time</a:t>
            </a:r>
            <a:endParaRPr lang="en-US" sz="1950" dirty="0"/>
          </a:p>
        </p:txBody>
      </p:sp>
      <p:sp>
        <p:nvSpPr>
          <p:cNvPr id="22" name="Shape 20"/>
          <p:cNvSpPr/>
          <p:nvPr/>
        </p:nvSpPr>
        <p:spPr>
          <a:xfrm>
            <a:off x="1055370" y="9958705"/>
            <a:ext cx="8088630" cy="9525"/>
          </a:xfrm>
          <a:prstGeom prst="rect">
            <a:avLst/>
          </a:prstGeom>
          <a:solidFill>
            <a:srgbClr val="E0E0E0"/>
          </a:solidFill>
          <a:ln/>
        </p:spPr>
      </p:sp>
      <p:sp>
        <p:nvSpPr>
          <p:cNvPr id="23" name="Text 21"/>
          <p:cNvSpPr/>
          <p:nvPr/>
        </p:nvSpPr>
        <p:spPr>
          <a:xfrm>
            <a:off x="1360170" y="8453755"/>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Audit-ready AI outputs</a:t>
            </a:r>
            <a:endParaRPr lang="en-US" sz="1950" dirty="0"/>
          </a:p>
        </p:txBody>
      </p:sp>
      <p:sp>
        <p:nvSpPr>
          <p:cNvPr id="24" name="Text 22"/>
          <p:cNvSpPr/>
          <p:nvPr/>
        </p:nvSpPr>
        <p:spPr>
          <a:xfrm>
            <a:off x="1360170" y="9110980"/>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not reconstructed logs</a:t>
            </a:r>
            <a:endParaRPr lang="en-US" sz="1950" dirty="0"/>
          </a:p>
        </p:txBody>
      </p:sp>
      <p:sp>
        <p:nvSpPr>
          <p:cNvPr id="25" name="Shape 23"/>
          <p:cNvSpPr/>
          <p:nvPr/>
        </p:nvSpPr>
        <p:spPr>
          <a:xfrm>
            <a:off x="9144000" y="9958705"/>
            <a:ext cx="8088630" cy="9525"/>
          </a:xfrm>
          <a:prstGeom prst="rect">
            <a:avLst/>
          </a:prstGeom>
          <a:solidFill>
            <a:srgbClr val="E0E0E0"/>
          </a:solidFill>
          <a:ln/>
        </p:spPr>
      </p:sp>
      <p:sp>
        <p:nvSpPr>
          <p:cNvPr id="26" name="Shape 24"/>
          <p:cNvSpPr/>
          <p:nvPr/>
        </p:nvSpPr>
        <p:spPr>
          <a:xfrm>
            <a:off x="9144000" y="7977505"/>
            <a:ext cx="9525" cy="1988820"/>
          </a:xfrm>
          <a:prstGeom prst="rect">
            <a:avLst/>
          </a:prstGeom>
          <a:solidFill>
            <a:srgbClr val="E0E0E0"/>
          </a:solidFill>
          <a:ln/>
        </p:spPr>
      </p:sp>
      <p:sp>
        <p:nvSpPr>
          <p:cNvPr id="27" name="Text 25"/>
          <p:cNvSpPr/>
          <p:nvPr/>
        </p:nvSpPr>
        <p:spPr>
          <a:xfrm>
            <a:off x="9456420" y="8596630"/>
            <a:ext cx="7695553"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Every AI-assisted recommendation carries a structured, exportable record at the point of creation</a:t>
            </a:r>
            <a:endParaRPr lang="en-US" sz="1950" dirty="0"/>
          </a:p>
        </p:txBody>
      </p:sp>
      <p:sp>
        <p:nvSpPr>
          <p:cNvPr id="28" name="Text 26"/>
          <p:cNvSpPr/>
          <p:nvPr/>
        </p:nvSpPr>
        <p:spPr>
          <a:xfrm>
            <a:off x="1360170" y="10442575"/>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RM tools that surface signals</a:t>
            </a:r>
            <a:endParaRPr lang="en-US" sz="1950" dirty="0"/>
          </a:p>
        </p:txBody>
      </p:sp>
      <p:sp>
        <p:nvSpPr>
          <p:cNvPr id="29" name="Text 27"/>
          <p:cNvSpPr/>
          <p:nvPr/>
        </p:nvSpPr>
        <p:spPr>
          <a:xfrm>
            <a:off x="1360170" y="11099800"/>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not dashboards that report</a:t>
            </a:r>
            <a:endParaRPr lang="en-US" sz="1950" dirty="0"/>
          </a:p>
        </p:txBody>
      </p:sp>
      <p:sp>
        <p:nvSpPr>
          <p:cNvPr id="30" name="Shape 28"/>
          <p:cNvSpPr/>
          <p:nvPr/>
        </p:nvSpPr>
        <p:spPr>
          <a:xfrm>
            <a:off x="9144000" y="9966325"/>
            <a:ext cx="9525" cy="1981200"/>
          </a:xfrm>
          <a:prstGeom prst="rect">
            <a:avLst/>
          </a:prstGeom>
          <a:solidFill>
            <a:srgbClr val="E0E0E0"/>
          </a:solidFill>
          <a:ln/>
        </p:spPr>
      </p:sp>
      <p:sp>
        <p:nvSpPr>
          <p:cNvPr id="31" name="Text 29"/>
          <p:cNvSpPr/>
          <p:nvPr/>
        </p:nvSpPr>
        <p:spPr>
          <a:xfrm>
            <a:off x="9456420" y="10771188"/>
            <a:ext cx="821855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Platform connects behavioural signals to relationship actions</a:t>
            </a:r>
            <a:endParaRPr lang="en-US" sz="1950" dirty="0"/>
          </a:p>
        </p:txBody>
      </p:sp>
      <p:sp>
        <p:nvSpPr>
          <p:cNvPr id="32" name="Shape 30"/>
          <p:cNvSpPr/>
          <p:nvPr/>
        </p:nvSpPr>
        <p:spPr>
          <a:xfrm>
            <a:off x="1047750" y="7981950"/>
            <a:ext cx="16192500" cy="1581150"/>
          </a:xfrm>
          <a:prstGeom prst="rect">
            <a:avLst/>
          </a:prstGeom>
          <a:solidFill>
            <a:srgbClr val="F4F5F7"/>
          </a:solidFill>
          <a:ln/>
        </p:spPr>
      </p:sp>
      <p:sp>
        <p:nvSpPr>
          <p:cNvPr id="33" name="Shape 31"/>
          <p:cNvSpPr/>
          <p:nvPr/>
        </p:nvSpPr>
        <p:spPr>
          <a:xfrm>
            <a:off x="1047750" y="7981950"/>
            <a:ext cx="38100" cy="1581150"/>
          </a:xfrm>
          <a:prstGeom prst="rect">
            <a:avLst/>
          </a:prstGeom>
          <a:solidFill>
            <a:srgbClr val="00557E"/>
          </a:solidFill>
          <a:ln/>
        </p:spPr>
      </p:sp>
      <p:sp>
        <p:nvSpPr>
          <p:cNvPr id="34" name="Text 32"/>
          <p:cNvSpPr/>
          <p:nvPr/>
        </p:nvSpPr>
        <p:spPr>
          <a:xfrm>
            <a:off x="1352550" y="8401050"/>
            <a:ext cx="16089630"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A2535"/>
                </a:solidFill>
                <a:latin typeface="Arial" pitchFamily="34" charset="0"/>
                <a:ea typeface="Arial" pitchFamily="34" charset="-122"/>
                <a:cs typeface="Arial" pitchFamily="34" charset="-120"/>
              </a:rPr>
              <a:t>Most wealth platforms were designed to display data. The expectation now is that the platform does the first layer of thinking — and shows its work.</a:t>
            </a:r>
            <a:endParaRPr lang="en-US" sz="1950" dirty="0"/>
          </a:p>
        </p:txBody>
      </p:sp>
      <p:pic>
        <p:nvPicPr>
          <p:cNvPr id="35"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02 · INSIGHT</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Why AI Additions to Wealth Platforms Often Fall Short</a:t>
            </a:r>
            <a:endParaRPr lang="en-US" sz="4350" dirty="0"/>
          </a:p>
        </p:txBody>
      </p:sp>
      <p:sp>
        <p:nvSpPr>
          <p:cNvPr id="4" name="Shape 2"/>
          <p:cNvSpPr/>
          <p:nvPr/>
        </p:nvSpPr>
        <p:spPr>
          <a:xfrm>
            <a:off x="1047750" y="2933065"/>
            <a:ext cx="7924800" cy="5197475"/>
          </a:xfrm>
          <a:prstGeom prst="roundRect">
            <a:avLst>
              <a:gd name="adj" fmla="val 1466"/>
            </a:avLst>
          </a:prstGeom>
          <a:solidFill>
            <a:srgbClr val="F4F5F7"/>
          </a:solidFill>
          <a:ln w="7620">
            <a:solidFill>
              <a:srgbClr val="E0E0E0"/>
            </a:solidFill>
            <a:prstDash val="solid"/>
          </a:ln>
        </p:spPr>
      </p:sp>
      <p:sp>
        <p:nvSpPr>
          <p:cNvPr id="5" name="Text 3"/>
          <p:cNvSpPr/>
          <p:nvPr/>
        </p:nvSpPr>
        <p:spPr>
          <a:xfrm>
            <a:off x="1398270" y="3512185"/>
            <a:ext cx="794613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BOLT-ON AI</a:t>
            </a:r>
            <a:endParaRPr lang="en-US" sz="1800" dirty="0"/>
          </a:p>
        </p:txBody>
      </p:sp>
      <p:sp>
        <p:nvSpPr>
          <p:cNvPr id="6" name="Text 4"/>
          <p:cNvSpPr/>
          <p:nvPr/>
        </p:nvSpPr>
        <p:spPr>
          <a:xfrm>
            <a:off x="1398270" y="4502785"/>
            <a:ext cx="28956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744980" y="4750435"/>
            <a:ext cx="5856364"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Features added post-hoc </a:t>
            </a:r>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Each module with its own audit trail — or none at all</a:t>
            </a:r>
            <a:endParaRPr lang="en-US" sz="1950" dirty="0"/>
          </a:p>
        </p:txBody>
      </p:sp>
      <p:sp>
        <p:nvSpPr>
          <p:cNvPr id="8" name="Text 6"/>
          <p:cNvSpPr/>
          <p:nvPr/>
        </p:nvSpPr>
        <p:spPr>
          <a:xfrm>
            <a:off x="1398270" y="5912485"/>
            <a:ext cx="28956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a:t>
            </a:r>
            <a:endParaRPr lang="en-US" sz="1950" dirty="0"/>
          </a:p>
        </p:txBody>
      </p:sp>
      <p:sp>
        <p:nvSpPr>
          <p:cNvPr id="9" name="Text 7"/>
          <p:cNvSpPr/>
          <p:nvPr/>
        </p:nvSpPr>
        <p:spPr>
          <a:xfrm>
            <a:off x="1744980" y="6160135"/>
            <a:ext cx="7083362"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Disconnected data layers </a:t>
            </a:r>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AI modules pulling from different sources — no reconcilable source of truth</a:t>
            </a:r>
            <a:endParaRPr lang="en-US" sz="1950" dirty="0"/>
          </a:p>
        </p:txBody>
      </p:sp>
      <p:sp>
        <p:nvSpPr>
          <p:cNvPr id="10" name="Text 8"/>
          <p:cNvSpPr/>
          <p:nvPr/>
        </p:nvSpPr>
        <p:spPr>
          <a:xfrm>
            <a:off x="1398270" y="7693660"/>
            <a:ext cx="28956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a:t>
            </a:r>
            <a:endParaRPr lang="en-US" sz="1950" dirty="0"/>
          </a:p>
        </p:txBody>
      </p:sp>
      <p:sp>
        <p:nvSpPr>
          <p:cNvPr id="11" name="Text 9"/>
          <p:cNvSpPr/>
          <p:nvPr/>
        </p:nvSpPr>
        <p:spPr>
          <a:xfrm>
            <a:off x="1744980" y="7941310"/>
            <a:ext cx="7083362"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No separation of output types </a:t>
            </a:r>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Deterministic and generative outputs presented side-by-side with no signal</a:t>
            </a:r>
            <a:endParaRPr lang="en-US" sz="1950" dirty="0"/>
          </a:p>
        </p:txBody>
      </p:sp>
      <p:sp>
        <p:nvSpPr>
          <p:cNvPr id="12" name="Shape 10"/>
          <p:cNvSpPr/>
          <p:nvPr/>
        </p:nvSpPr>
        <p:spPr>
          <a:xfrm>
            <a:off x="9315450" y="2933065"/>
            <a:ext cx="7924800" cy="5197475"/>
          </a:xfrm>
          <a:prstGeom prst="roundRect">
            <a:avLst>
              <a:gd name="adj" fmla="val 1466"/>
            </a:avLst>
          </a:prstGeom>
          <a:solidFill>
            <a:srgbClr val="EAF5F0"/>
          </a:solidFill>
          <a:ln w="7620">
            <a:solidFill>
              <a:srgbClr val="60C094"/>
            </a:solidFill>
            <a:prstDash val="solid"/>
          </a:ln>
        </p:spPr>
      </p:sp>
      <p:sp>
        <p:nvSpPr>
          <p:cNvPr id="13" name="Text 11"/>
          <p:cNvSpPr/>
          <p:nvPr/>
        </p:nvSpPr>
        <p:spPr>
          <a:xfrm>
            <a:off x="9665970" y="3512185"/>
            <a:ext cx="794613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ARCHITECTED AI</a:t>
            </a:r>
            <a:endParaRPr lang="en-US" sz="1800" dirty="0"/>
          </a:p>
        </p:txBody>
      </p:sp>
      <p:sp>
        <p:nvSpPr>
          <p:cNvPr id="14" name="Text 12"/>
          <p:cNvSpPr/>
          <p:nvPr/>
        </p:nvSpPr>
        <p:spPr>
          <a:xfrm>
            <a:off x="9665970" y="4502785"/>
            <a:ext cx="28956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15" name="Text 13"/>
          <p:cNvSpPr/>
          <p:nvPr/>
        </p:nvSpPr>
        <p:spPr>
          <a:xfrm>
            <a:off x="10012680" y="4750435"/>
            <a:ext cx="7083362"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Governance at the platform layer </a:t>
            </a:r>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Consistent standards applied across every feature, from day one</a:t>
            </a:r>
            <a:endParaRPr lang="en-US" sz="1950" dirty="0"/>
          </a:p>
        </p:txBody>
      </p:sp>
      <p:sp>
        <p:nvSpPr>
          <p:cNvPr id="16" name="Text 14"/>
          <p:cNvSpPr/>
          <p:nvPr/>
        </p:nvSpPr>
        <p:spPr>
          <a:xfrm>
            <a:off x="9665970" y="6283960"/>
            <a:ext cx="28956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17" name="Text 15"/>
          <p:cNvSpPr/>
          <p:nvPr/>
        </p:nvSpPr>
        <p:spPr>
          <a:xfrm>
            <a:off x="10012680" y="6531610"/>
            <a:ext cx="7083362"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Unified data layer </a:t>
            </a:r>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Consistent data lineage — every output traceable to a single source of truth</a:t>
            </a:r>
            <a:endParaRPr lang="en-US" sz="1950" dirty="0"/>
          </a:p>
        </p:txBody>
      </p:sp>
      <p:sp>
        <p:nvSpPr>
          <p:cNvPr id="18" name="Text 16"/>
          <p:cNvSpPr/>
          <p:nvPr/>
        </p:nvSpPr>
        <p:spPr>
          <a:xfrm>
            <a:off x="9665970" y="8065135"/>
            <a:ext cx="28956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19" name="Text 17"/>
          <p:cNvSpPr/>
          <p:nvPr/>
        </p:nvSpPr>
        <p:spPr>
          <a:xfrm>
            <a:off x="10012680" y="8312785"/>
            <a:ext cx="7083362"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33333"/>
                </a:solidFill>
                <a:latin typeface="Arial" pitchFamily="34" charset="0"/>
                <a:ea typeface="Arial" pitchFamily="34" charset="-122"/>
                <a:cs typeface="Arial" pitchFamily="34" charset="-120"/>
              </a:rPr>
              <a:t>Explicit separation of output types </a:t>
            </a:r>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Clear signal to wealth managers: deterministic rule vs. generative inference</a:t>
            </a:r>
            <a:endParaRPr lang="en-US" sz="1950" dirty="0"/>
          </a:p>
        </p:txBody>
      </p:sp>
      <p:sp>
        <p:nvSpPr>
          <p:cNvPr id="20" name="Shape 18"/>
          <p:cNvSpPr/>
          <p:nvPr/>
        </p:nvSpPr>
        <p:spPr>
          <a:xfrm>
            <a:off x="1047750" y="8340090"/>
            <a:ext cx="16192500" cy="1223010"/>
          </a:xfrm>
          <a:prstGeom prst="roundRect">
            <a:avLst>
              <a:gd name="adj" fmla="val 6231"/>
            </a:avLst>
          </a:prstGeom>
          <a:solidFill>
            <a:srgbClr val="1A2535"/>
          </a:solidFill>
          <a:ln/>
        </p:spPr>
      </p:sp>
      <p:sp>
        <p:nvSpPr>
          <p:cNvPr id="21" name="Text 19"/>
          <p:cNvSpPr/>
          <p:nvPr/>
        </p:nvSpPr>
        <p:spPr>
          <a:xfrm>
            <a:off x="1352550" y="8778240"/>
            <a:ext cx="17141190" cy="38481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FFFFFF"/>
                </a:solidFill>
                <a:latin typeface="Arial" pitchFamily="34" charset="0"/>
                <a:ea typeface="Arial" pitchFamily="34" charset="-122"/>
                <a:cs typeface="Arial" pitchFamily="34" charset="-120"/>
              </a:rPr>
              <a:t>Compliance risk does not come from using AI. It comes from not knowing which kind of AI produced a given output.</a:t>
            </a:r>
            <a:endParaRPr lang="en-US" sz="1950" dirty="0"/>
          </a:p>
        </p:txBody>
      </p:sp>
      <p:pic>
        <p:nvPicPr>
          <p:cNvPr id="22"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02 · INSIGHT</a:t>
            </a:r>
            <a:endParaRPr lang="en-US" sz="1800" dirty="0"/>
          </a:p>
        </p:txBody>
      </p:sp>
      <p:sp>
        <p:nvSpPr>
          <p:cNvPr id="3" name="Text 1"/>
          <p:cNvSpPr/>
          <p:nvPr/>
        </p:nvSpPr>
        <p:spPr>
          <a:xfrm>
            <a:off x="1047750" y="1925320"/>
            <a:ext cx="16678275" cy="1253490"/>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A Distinction That Matters: Quantitative Analytics vs. Generative AI</a:t>
            </a:r>
            <a:endParaRPr lang="en-US" sz="4350" dirty="0"/>
          </a:p>
        </p:txBody>
      </p:sp>
      <p:sp>
        <p:nvSpPr>
          <p:cNvPr id="4" name="Shape 2"/>
          <p:cNvSpPr/>
          <p:nvPr/>
        </p:nvSpPr>
        <p:spPr>
          <a:xfrm>
            <a:off x="1047750" y="3540760"/>
            <a:ext cx="7924800" cy="6022340"/>
          </a:xfrm>
          <a:prstGeom prst="roundRect">
            <a:avLst>
              <a:gd name="adj" fmla="val 1265"/>
            </a:avLst>
          </a:prstGeom>
          <a:solidFill>
            <a:srgbClr val="F4F5F7"/>
          </a:solidFill>
          <a:ln w="7620">
            <a:solidFill>
              <a:srgbClr val="E0E0E0"/>
            </a:solidFill>
            <a:prstDash val="solid"/>
          </a:ln>
        </p:spPr>
      </p:sp>
      <p:sp>
        <p:nvSpPr>
          <p:cNvPr id="5" name="Text 3"/>
          <p:cNvSpPr/>
          <p:nvPr/>
        </p:nvSpPr>
        <p:spPr>
          <a:xfrm>
            <a:off x="1379220" y="4100830"/>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QUANTITATIVE ANALYTICS</a:t>
            </a:r>
            <a:endParaRPr lang="en-US" sz="1800" dirty="0"/>
          </a:p>
        </p:txBody>
      </p:sp>
      <p:sp>
        <p:nvSpPr>
          <p:cNvPr id="6" name="Text 4"/>
          <p:cNvSpPr/>
          <p:nvPr/>
        </p:nvSpPr>
        <p:spPr>
          <a:xfrm>
            <a:off x="1379220" y="4672330"/>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72" kern="0" dirty="0">
                <a:solidFill>
                  <a:srgbClr val="3D505D"/>
                </a:solidFill>
                <a:latin typeface="Arial" pitchFamily="34" charset="0"/>
                <a:ea typeface="Arial" pitchFamily="34" charset="-122"/>
                <a:cs typeface="Arial" pitchFamily="34" charset="-120"/>
              </a:rPr>
              <a:t>Deterministic · Rules-based</a:t>
            </a:r>
            <a:endParaRPr lang="en-US" sz="1800" dirty="0"/>
          </a:p>
        </p:txBody>
      </p:sp>
      <p:sp>
        <p:nvSpPr>
          <p:cNvPr id="7" name="Shape 5"/>
          <p:cNvSpPr/>
          <p:nvPr/>
        </p:nvSpPr>
        <p:spPr>
          <a:xfrm>
            <a:off x="1379220" y="5415280"/>
            <a:ext cx="381000" cy="19050"/>
          </a:xfrm>
          <a:prstGeom prst="rect">
            <a:avLst/>
          </a:prstGeom>
          <a:solidFill>
            <a:srgbClr val="3D505D"/>
          </a:solidFill>
          <a:ln/>
        </p:spPr>
      </p:sp>
      <p:sp>
        <p:nvSpPr>
          <p:cNvPr id="8" name="Shape 6"/>
          <p:cNvSpPr/>
          <p:nvPr/>
        </p:nvSpPr>
        <p:spPr>
          <a:xfrm>
            <a:off x="1379220" y="5605780"/>
            <a:ext cx="7261860" cy="2082165"/>
          </a:xfrm>
          <a:prstGeom prst="roundRect">
            <a:avLst>
              <a:gd name="adj" fmla="val 2745"/>
            </a:avLst>
          </a:prstGeom>
          <a:solidFill>
            <a:srgbClr val="FFFFFF"/>
          </a:solidFill>
          <a:ln w="7620">
            <a:solidFill>
              <a:srgbClr val="E0E0E0"/>
            </a:solidFill>
            <a:prstDash val="solid"/>
          </a:ln>
        </p:spPr>
      </p:sp>
      <p:sp>
        <p:nvSpPr>
          <p:cNvPr id="9" name="Text 7"/>
          <p:cNvSpPr/>
          <p:nvPr/>
        </p:nvSpPr>
        <p:spPr>
          <a:xfrm>
            <a:off x="1577340" y="6013450"/>
            <a:ext cx="755218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Portfolio Optimiser</a:t>
            </a:r>
            <a:endParaRPr lang="en-US" sz="1950" dirty="0"/>
          </a:p>
        </p:txBody>
      </p:sp>
      <p:sp>
        <p:nvSpPr>
          <p:cNvPr id="10" name="Text 8"/>
          <p:cNvSpPr/>
          <p:nvPr/>
        </p:nvSpPr>
        <p:spPr>
          <a:xfrm>
            <a:off x="1577340" y="6613525"/>
            <a:ext cx="7071588"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Constraint-based allocation — same inputs always produce same output</a:t>
            </a:r>
            <a:endParaRPr lang="en-US" sz="1800" dirty="0"/>
          </a:p>
        </p:txBody>
      </p:sp>
      <p:sp>
        <p:nvSpPr>
          <p:cNvPr id="11" name="Shape 9"/>
          <p:cNvSpPr/>
          <p:nvPr/>
        </p:nvSpPr>
        <p:spPr>
          <a:xfrm>
            <a:off x="1379220" y="7821295"/>
            <a:ext cx="7261860" cy="1739265"/>
          </a:xfrm>
          <a:prstGeom prst="roundRect">
            <a:avLst>
              <a:gd name="adj" fmla="val 3286"/>
            </a:avLst>
          </a:prstGeom>
          <a:solidFill>
            <a:srgbClr val="FFFFFF"/>
          </a:solidFill>
          <a:ln w="7620">
            <a:solidFill>
              <a:srgbClr val="E0E0E0"/>
            </a:solidFill>
            <a:prstDash val="solid"/>
          </a:ln>
        </p:spPr>
      </p:sp>
      <p:sp>
        <p:nvSpPr>
          <p:cNvPr id="12" name="Text 10"/>
          <p:cNvSpPr/>
          <p:nvPr/>
        </p:nvSpPr>
        <p:spPr>
          <a:xfrm>
            <a:off x="1577340" y="8228965"/>
            <a:ext cx="755218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Health Checks</a:t>
            </a:r>
            <a:endParaRPr lang="en-US" sz="1950" dirty="0"/>
          </a:p>
        </p:txBody>
      </p:sp>
      <p:sp>
        <p:nvSpPr>
          <p:cNvPr id="13" name="Text 11"/>
          <p:cNvSpPr/>
          <p:nvPr/>
        </p:nvSpPr>
        <p:spPr>
          <a:xfrm>
            <a:off x="1577340" y="8829040"/>
            <a:ext cx="75521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Rule-triggered flags — fully auditable, no LLM involved</a:t>
            </a:r>
            <a:endParaRPr lang="en-US" sz="1800" dirty="0"/>
          </a:p>
        </p:txBody>
      </p:sp>
      <p:sp>
        <p:nvSpPr>
          <p:cNvPr id="14" name="Shape 12"/>
          <p:cNvSpPr/>
          <p:nvPr/>
        </p:nvSpPr>
        <p:spPr>
          <a:xfrm>
            <a:off x="1379220" y="9693910"/>
            <a:ext cx="7261860" cy="1739265"/>
          </a:xfrm>
          <a:prstGeom prst="roundRect">
            <a:avLst>
              <a:gd name="adj" fmla="val 3286"/>
            </a:avLst>
          </a:prstGeom>
          <a:solidFill>
            <a:srgbClr val="FFFFFF"/>
          </a:solidFill>
          <a:ln w="7620">
            <a:solidFill>
              <a:srgbClr val="E0E0E0"/>
            </a:solidFill>
            <a:prstDash val="solid"/>
          </a:ln>
        </p:spPr>
      </p:sp>
      <p:sp>
        <p:nvSpPr>
          <p:cNvPr id="15" name="Text 13"/>
          <p:cNvSpPr/>
          <p:nvPr/>
        </p:nvSpPr>
        <p:spPr>
          <a:xfrm>
            <a:off x="1577340" y="10101580"/>
            <a:ext cx="755218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Scenario Analysis</a:t>
            </a:r>
            <a:endParaRPr lang="en-US" sz="1950" dirty="0"/>
          </a:p>
        </p:txBody>
      </p:sp>
      <p:sp>
        <p:nvSpPr>
          <p:cNvPr id="16" name="Text 14"/>
          <p:cNvSpPr/>
          <p:nvPr/>
        </p:nvSpPr>
        <p:spPr>
          <a:xfrm>
            <a:off x="1577340" y="10701655"/>
            <a:ext cx="75521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Parametric modelling — reproducible under any audit standard</a:t>
            </a:r>
            <a:endParaRPr lang="en-US" sz="1800" dirty="0"/>
          </a:p>
        </p:txBody>
      </p:sp>
      <p:sp>
        <p:nvSpPr>
          <p:cNvPr id="17" name="Shape 15"/>
          <p:cNvSpPr/>
          <p:nvPr/>
        </p:nvSpPr>
        <p:spPr>
          <a:xfrm>
            <a:off x="1379220" y="11604625"/>
            <a:ext cx="7261860" cy="1028700"/>
          </a:xfrm>
          <a:prstGeom prst="roundRect">
            <a:avLst>
              <a:gd name="adj" fmla="val 5556"/>
            </a:avLst>
          </a:prstGeom>
          <a:solidFill>
            <a:srgbClr val="3D505D"/>
          </a:solidFill>
          <a:ln/>
        </p:spPr>
      </p:sp>
      <p:sp>
        <p:nvSpPr>
          <p:cNvPr id="18" name="Text 16"/>
          <p:cNvSpPr/>
          <p:nvPr/>
        </p:nvSpPr>
        <p:spPr>
          <a:xfrm>
            <a:off x="1550670" y="11947525"/>
            <a:ext cx="761085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Governance: Standard model validation + audit logging</a:t>
            </a:r>
            <a:endParaRPr lang="en-US" sz="1800" dirty="0"/>
          </a:p>
        </p:txBody>
      </p:sp>
      <p:sp>
        <p:nvSpPr>
          <p:cNvPr id="19" name="Shape 17"/>
          <p:cNvSpPr/>
          <p:nvPr/>
        </p:nvSpPr>
        <p:spPr>
          <a:xfrm>
            <a:off x="9315450" y="3540760"/>
            <a:ext cx="7924800" cy="6022340"/>
          </a:xfrm>
          <a:prstGeom prst="roundRect">
            <a:avLst>
              <a:gd name="adj" fmla="val 1265"/>
            </a:avLst>
          </a:prstGeom>
          <a:solidFill>
            <a:srgbClr val="EAF5F0"/>
          </a:solidFill>
          <a:ln w="7620">
            <a:solidFill>
              <a:srgbClr val="60C094"/>
            </a:solidFill>
            <a:prstDash val="solid"/>
          </a:ln>
        </p:spPr>
      </p:sp>
      <p:sp>
        <p:nvSpPr>
          <p:cNvPr id="20" name="Text 18"/>
          <p:cNvSpPr/>
          <p:nvPr/>
        </p:nvSpPr>
        <p:spPr>
          <a:xfrm>
            <a:off x="9646920" y="4100830"/>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GENERATIVE AI</a:t>
            </a:r>
            <a:endParaRPr lang="en-US" sz="1800" dirty="0"/>
          </a:p>
        </p:txBody>
      </p:sp>
      <p:sp>
        <p:nvSpPr>
          <p:cNvPr id="21" name="Text 19"/>
          <p:cNvSpPr/>
          <p:nvPr/>
        </p:nvSpPr>
        <p:spPr>
          <a:xfrm>
            <a:off x="9646920" y="4672330"/>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spc="72" kern="0" dirty="0">
                <a:solidFill>
                  <a:srgbClr val="00557E"/>
                </a:solidFill>
                <a:latin typeface="Arial" pitchFamily="34" charset="0"/>
                <a:ea typeface="Arial" pitchFamily="34" charset="-122"/>
                <a:cs typeface="Arial" pitchFamily="34" charset="-120"/>
              </a:rPr>
              <a:t>LLM-powered · Inferential</a:t>
            </a:r>
            <a:endParaRPr lang="en-US" sz="1800" dirty="0"/>
          </a:p>
        </p:txBody>
      </p:sp>
      <p:sp>
        <p:nvSpPr>
          <p:cNvPr id="22" name="Shape 20"/>
          <p:cNvSpPr/>
          <p:nvPr/>
        </p:nvSpPr>
        <p:spPr>
          <a:xfrm>
            <a:off x="9646920" y="5415280"/>
            <a:ext cx="381000" cy="19050"/>
          </a:xfrm>
          <a:prstGeom prst="rect">
            <a:avLst/>
          </a:prstGeom>
          <a:solidFill>
            <a:srgbClr val="60C094"/>
          </a:solidFill>
          <a:ln/>
        </p:spPr>
      </p:sp>
      <p:sp>
        <p:nvSpPr>
          <p:cNvPr id="23" name="Shape 21"/>
          <p:cNvSpPr/>
          <p:nvPr/>
        </p:nvSpPr>
        <p:spPr>
          <a:xfrm>
            <a:off x="9646920" y="5605780"/>
            <a:ext cx="7261860" cy="2082165"/>
          </a:xfrm>
          <a:prstGeom prst="roundRect">
            <a:avLst>
              <a:gd name="adj" fmla="val 2745"/>
            </a:avLst>
          </a:prstGeom>
          <a:solidFill>
            <a:srgbClr val="FFFFFF"/>
          </a:solidFill>
          <a:ln w="7620">
            <a:solidFill>
              <a:srgbClr val="60C094"/>
            </a:solidFill>
            <a:prstDash val="solid"/>
          </a:ln>
        </p:spPr>
      </p:sp>
      <p:sp>
        <p:nvSpPr>
          <p:cNvPr id="24" name="Text 22"/>
          <p:cNvSpPr/>
          <p:nvPr/>
        </p:nvSpPr>
        <p:spPr>
          <a:xfrm>
            <a:off x="9845040" y="6013450"/>
            <a:ext cx="755218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Portfolio IQ</a:t>
            </a:r>
            <a:endParaRPr lang="en-US" sz="1950" dirty="0"/>
          </a:p>
        </p:txBody>
      </p:sp>
      <p:sp>
        <p:nvSpPr>
          <p:cNvPr id="25" name="Text 23"/>
          <p:cNvSpPr/>
          <p:nvPr/>
        </p:nvSpPr>
        <p:spPr>
          <a:xfrm>
            <a:off x="9845040" y="6613525"/>
            <a:ext cx="7071588"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LLM-generated commentary — outputs vary by model and prompt context</a:t>
            </a:r>
            <a:endParaRPr lang="en-US" sz="1800" dirty="0"/>
          </a:p>
        </p:txBody>
      </p:sp>
      <p:sp>
        <p:nvSpPr>
          <p:cNvPr id="26" name="Shape 24"/>
          <p:cNvSpPr/>
          <p:nvPr/>
        </p:nvSpPr>
        <p:spPr>
          <a:xfrm>
            <a:off x="9646920" y="7821295"/>
            <a:ext cx="7261860" cy="1739265"/>
          </a:xfrm>
          <a:prstGeom prst="roundRect">
            <a:avLst>
              <a:gd name="adj" fmla="val 3286"/>
            </a:avLst>
          </a:prstGeom>
          <a:solidFill>
            <a:srgbClr val="FFFFFF"/>
          </a:solidFill>
          <a:ln w="7620">
            <a:solidFill>
              <a:srgbClr val="60C094"/>
            </a:solidFill>
            <a:prstDash val="solid"/>
          </a:ln>
        </p:spPr>
      </p:sp>
      <p:sp>
        <p:nvSpPr>
          <p:cNvPr id="27" name="Text 25"/>
          <p:cNvSpPr/>
          <p:nvPr/>
        </p:nvSpPr>
        <p:spPr>
          <a:xfrm>
            <a:off x="9845040" y="8228965"/>
            <a:ext cx="755218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Client Lifecycle Agent</a:t>
            </a:r>
            <a:endParaRPr lang="en-US" sz="1950" dirty="0"/>
          </a:p>
        </p:txBody>
      </p:sp>
      <p:sp>
        <p:nvSpPr>
          <p:cNvPr id="28" name="Text 26"/>
          <p:cNvSpPr/>
          <p:nvPr/>
        </p:nvSpPr>
        <p:spPr>
          <a:xfrm>
            <a:off x="9845040" y="8829040"/>
            <a:ext cx="75521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AI-driven engagement — outputs require oversight and audit trail</a:t>
            </a:r>
            <a:endParaRPr lang="en-US" sz="1800" dirty="0"/>
          </a:p>
        </p:txBody>
      </p:sp>
      <p:sp>
        <p:nvSpPr>
          <p:cNvPr id="29" name="Shape 27"/>
          <p:cNvSpPr/>
          <p:nvPr/>
        </p:nvSpPr>
        <p:spPr>
          <a:xfrm>
            <a:off x="9646920" y="9693910"/>
            <a:ext cx="7261860" cy="1739265"/>
          </a:xfrm>
          <a:prstGeom prst="roundRect">
            <a:avLst>
              <a:gd name="adj" fmla="val 3286"/>
            </a:avLst>
          </a:prstGeom>
          <a:solidFill>
            <a:srgbClr val="FFFFFF"/>
          </a:solidFill>
          <a:ln w="7620">
            <a:solidFill>
              <a:srgbClr val="60C094"/>
            </a:solidFill>
            <a:prstDash val="solid"/>
          </a:ln>
        </p:spPr>
      </p:sp>
      <p:sp>
        <p:nvSpPr>
          <p:cNvPr id="30" name="Text 28"/>
          <p:cNvSpPr/>
          <p:nvPr/>
        </p:nvSpPr>
        <p:spPr>
          <a:xfrm>
            <a:off x="9845040" y="10101580"/>
            <a:ext cx="755218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Privé Agent</a:t>
            </a:r>
            <a:endParaRPr lang="en-US" sz="1950" dirty="0"/>
          </a:p>
        </p:txBody>
      </p:sp>
      <p:sp>
        <p:nvSpPr>
          <p:cNvPr id="31" name="Text 29"/>
          <p:cNvSpPr/>
          <p:nvPr/>
        </p:nvSpPr>
        <p:spPr>
          <a:xfrm>
            <a:off x="9845040" y="10701655"/>
            <a:ext cx="75521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Natural language interface — generative interpretation layer</a:t>
            </a:r>
            <a:endParaRPr lang="en-US" sz="1800" dirty="0"/>
          </a:p>
        </p:txBody>
      </p:sp>
      <p:sp>
        <p:nvSpPr>
          <p:cNvPr id="32" name="Shape 30"/>
          <p:cNvSpPr/>
          <p:nvPr/>
        </p:nvSpPr>
        <p:spPr>
          <a:xfrm>
            <a:off x="9646920" y="11604625"/>
            <a:ext cx="7261860" cy="1371600"/>
          </a:xfrm>
          <a:prstGeom prst="roundRect">
            <a:avLst>
              <a:gd name="adj" fmla="val 4167"/>
            </a:avLst>
          </a:prstGeom>
          <a:solidFill>
            <a:srgbClr val="00557E"/>
          </a:solidFill>
          <a:ln/>
        </p:spPr>
      </p:sp>
      <p:sp>
        <p:nvSpPr>
          <p:cNvPr id="33" name="Text 31"/>
          <p:cNvSpPr/>
          <p:nvPr/>
        </p:nvSpPr>
        <p:spPr>
          <a:xfrm>
            <a:off x="9818370" y="11947525"/>
            <a:ext cx="712652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Governance: LLM oversight — logging, confidence scoring, human override</a:t>
            </a:r>
            <a:endParaRPr lang="en-US" sz="1800" dirty="0"/>
          </a:p>
        </p:txBody>
      </p:sp>
      <p:pic>
        <p:nvPicPr>
          <p:cNvPr id="34"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535"/>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03 · STRATEGIC RESPONSE</a:t>
            </a:r>
            <a:endParaRPr lang="en-US" sz="1800" dirty="0"/>
          </a:p>
        </p:txBody>
      </p:sp>
      <p:sp>
        <p:nvSpPr>
          <p:cNvPr id="3" name="Text 1"/>
          <p:cNvSpPr/>
          <p:nvPr/>
        </p:nvSpPr>
        <p:spPr>
          <a:xfrm>
            <a:off x="1047750" y="194437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FFFFFF"/>
                </a:solidFill>
                <a:latin typeface="Arial" pitchFamily="34" charset="0"/>
                <a:ea typeface="Arial" pitchFamily="34" charset="-122"/>
                <a:cs typeface="Arial" pitchFamily="34" charset="-120"/>
              </a:rPr>
              <a:t>Two Tracks. One Deliberate Architecture.</a:t>
            </a:r>
            <a:endParaRPr lang="en-US" sz="4350" dirty="0"/>
          </a:p>
        </p:txBody>
      </p:sp>
      <p:sp>
        <p:nvSpPr>
          <p:cNvPr id="4" name="Shape 2"/>
          <p:cNvSpPr/>
          <p:nvPr/>
        </p:nvSpPr>
        <p:spPr>
          <a:xfrm>
            <a:off x="1047750" y="2952115"/>
            <a:ext cx="7924800" cy="5252720"/>
          </a:xfrm>
          <a:prstGeom prst="roundRect">
            <a:avLst>
              <a:gd name="adj" fmla="val 1451"/>
            </a:avLst>
          </a:prstGeom>
          <a:solidFill>
            <a:srgbClr val="FFFFFF">
              <a:alpha val="6000"/>
            </a:srgbClr>
          </a:solidFill>
          <a:ln w="7620">
            <a:solidFill>
              <a:srgbClr val="FFFFFF">
                <a:alpha val="14000"/>
              </a:srgbClr>
            </a:solidFill>
            <a:prstDash val="solid"/>
          </a:ln>
        </p:spPr>
      </p:sp>
      <p:sp>
        <p:nvSpPr>
          <p:cNvPr id="5" name="Text 3"/>
          <p:cNvSpPr/>
          <p:nvPr/>
        </p:nvSpPr>
        <p:spPr>
          <a:xfrm>
            <a:off x="1398270" y="3531235"/>
            <a:ext cx="794613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FFFFFF">
                    <a:alpha val="55000"/>
                  </a:srgbClr>
                </a:solidFill>
                <a:latin typeface="Arial" pitchFamily="34" charset="0"/>
                <a:ea typeface="Arial" pitchFamily="34" charset="-122"/>
                <a:cs typeface="Arial" pitchFamily="34" charset="-120"/>
              </a:rPr>
              <a:t>TRACK A</a:t>
            </a:r>
            <a:endParaRPr lang="en-US" sz="1800" dirty="0"/>
          </a:p>
        </p:txBody>
      </p:sp>
      <p:sp>
        <p:nvSpPr>
          <p:cNvPr id="6" name="Text 4"/>
          <p:cNvSpPr/>
          <p:nvPr/>
        </p:nvSpPr>
        <p:spPr>
          <a:xfrm>
            <a:off x="1398270" y="4693285"/>
            <a:ext cx="7440473" cy="952500"/>
          </a:xfrm>
          <a:prstGeom prst="rect">
            <a:avLst/>
          </a:prstGeom>
          <a:noFill/>
          <a:ln/>
        </p:spPr>
        <p:txBody>
          <a:bodyPr wrap="square" lIns="25400" tIns="25400" rIns="25400" bIns="25400" rtlCol="0" anchor="t">
            <a:normAutofit/>
          </a:bodyPr>
          <a:lstStyle/>
          <a:p>
            <a:pPr algn="l" indent="0" marL="0">
              <a:lnSpc>
                <a:spcPct val="120000"/>
              </a:lnSpc>
              <a:buNone/>
            </a:pPr>
            <a:r>
              <a:rPr lang="en-US" sz="3000" b="1" dirty="0">
                <a:solidFill>
                  <a:srgbClr val="FFFFFF"/>
                </a:solidFill>
                <a:latin typeface="Arial" pitchFamily="34" charset="0"/>
                <a:ea typeface="Arial" pitchFamily="34" charset="-122"/>
                <a:cs typeface="Arial" pitchFamily="34" charset="-120"/>
              </a:rPr>
              <a:t>Preview Managers — Upgraded</a:t>
            </a:r>
            <a:endParaRPr lang="en-US" sz="3000" dirty="0"/>
          </a:p>
        </p:txBody>
      </p:sp>
      <p:sp>
        <p:nvSpPr>
          <p:cNvPr id="7" name="Shape 5"/>
          <p:cNvSpPr/>
          <p:nvPr/>
        </p:nvSpPr>
        <p:spPr>
          <a:xfrm>
            <a:off x="1398270" y="6407785"/>
            <a:ext cx="22860" cy="1485900"/>
          </a:xfrm>
          <a:prstGeom prst="rect">
            <a:avLst/>
          </a:prstGeom>
          <a:solidFill>
            <a:srgbClr val="FFFFFF">
              <a:alpha val="25000"/>
            </a:srgbClr>
          </a:solidFill>
          <a:ln/>
        </p:spPr>
      </p:sp>
      <p:sp>
        <p:nvSpPr>
          <p:cNvPr id="8" name="Text 6"/>
          <p:cNvSpPr/>
          <p:nvPr/>
        </p:nvSpPr>
        <p:spPr>
          <a:xfrm>
            <a:off x="1573530" y="6655435"/>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spc="117" kern="0" dirty="0">
                <a:solidFill>
                  <a:srgbClr val="FFFFFF">
                    <a:alpha val="50000"/>
                  </a:srgbClr>
                </a:solidFill>
                <a:latin typeface="Arial" pitchFamily="34" charset="0"/>
                <a:ea typeface="Arial" pitchFamily="34" charset="-122"/>
                <a:cs typeface="Arial" pitchFamily="34" charset="-120"/>
              </a:rPr>
              <a:t>QUANTITATIVE ANALYTICS</a:t>
            </a:r>
            <a:endParaRPr lang="en-US" sz="1950" dirty="0"/>
          </a:p>
        </p:txBody>
      </p:sp>
      <p:sp>
        <p:nvSpPr>
          <p:cNvPr id="9" name="Text 7"/>
          <p:cNvSpPr/>
          <p:nvPr/>
        </p:nvSpPr>
        <p:spPr>
          <a:xfrm>
            <a:off x="1573530" y="7274560"/>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75000"/>
                  </a:srgbClr>
                </a:solidFill>
                <a:latin typeface="Arial" pitchFamily="34" charset="0"/>
                <a:ea typeface="Arial" pitchFamily="34" charset="-122"/>
                <a:cs typeface="Arial" pitchFamily="34" charset="-120"/>
              </a:rPr>
              <a:t>Portfolio Optimiser · Health Checks · Scenario Analysis</a:t>
            </a:r>
            <a:endParaRPr lang="en-US" sz="1950" dirty="0"/>
          </a:p>
        </p:txBody>
      </p:sp>
      <p:sp>
        <p:nvSpPr>
          <p:cNvPr id="10" name="Shape 8"/>
          <p:cNvSpPr/>
          <p:nvPr/>
        </p:nvSpPr>
        <p:spPr>
          <a:xfrm>
            <a:off x="1398270" y="8027035"/>
            <a:ext cx="22860" cy="1485900"/>
          </a:xfrm>
          <a:prstGeom prst="rect">
            <a:avLst/>
          </a:prstGeom>
          <a:solidFill>
            <a:srgbClr val="FFFFFF">
              <a:alpha val="25000"/>
            </a:srgbClr>
          </a:solidFill>
          <a:ln/>
        </p:spPr>
      </p:sp>
      <p:sp>
        <p:nvSpPr>
          <p:cNvPr id="11" name="Text 9"/>
          <p:cNvSpPr/>
          <p:nvPr/>
        </p:nvSpPr>
        <p:spPr>
          <a:xfrm>
            <a:off x="1573530" y="8274685"/>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spc="117" kern="0" dirty="0">
                <a:solidFill>
                  <a:srgbClr val="FFFFFF">
                    <a:alpha val="50000"/>
                  </a:srgbClr>
                </a:solidFill>
                <a:latin typeface="Arial" pitchFamily="34" charset="0"/>
                <a:ea typeface="Arial" pitchFamily="34" charset="-122"/>
                <a:cs typeface="Arial" pitchFamily="34" charset="-120"/>
              </a:rPr>
              <a:t>AI-NATIVE FEATURES</a:t>
            </a:r>
            <a:endParaRPr lang="en-US" sz="1950" dirty="0"/>
          </a:p>
        </p:txBody>
      </p:sp>
      <p:sp>
        <p:nvSpPr>
          <p:cNvPr id="12" name="Text 10"/>
          <p:cNvSpPr/>
          <p:nvPr/>
        </p:nvSpPr>
        <p:spPr>
          <a:xfrm>
            <a:off x="1573530" y="8893810"/>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75000"/>
                  </a:srgbClr>
                </a:solidFill>
                <a:latin typeface="Arial" pitchFamily="34" charset="0"/>
                <a:ea typeface="Arial" pitchFamily="34" charset="-122"/>
                <a:cs typeface="Arial" pitchFamily="34" charset="-120"/>
              </a:rPr>
              <a:t>Portfolio IQ · Client Lifecycle Agent · Privé Agent</a:t>
            </a:r>
            <a:endParaRPr lang="en-US" sz="1950" dirty="0"/>
          </a:p>
        </p:txBody>
      </p:sp>
      <p:sp>
        <p:nvSpPr>
          <p:cNvPr id="13" name="Shape 11"/>
          <p:cNvSpPr/>
          <p:nvPr/>
        </p:nvSpPr>
        <p:spPr>
          <a:xfrm>
            <a:off x="1398270" y="9646285"/>
            <a:ext cx="22860" cy="1485900"/>
          </a:xfrm>
          <a:prstGeom prst="rect">
            <a:avLst/>
          </a:prstGeom>
          <a:solidFill>
            <a:srgbClr val="FFFFFF">
              <a:alpha val="25000"/>
            </a:srgbClr>
          </a:solidFill>
          <a:ln/>
        </p:spPr>
      </p:sp>
      <p:sp>
        <p:nvSpPr>
          <p:cNvPr id="14" name="Text 12"/>
          <p:cNvSpPr/>
          <p:nvPr/>
        </p:nvSpPr>
        <p:spPr>
          <a:xfrm>
            <a:off x="1573530" y="9893936"/>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spc="117" kern="0" dirty="0">
                <a:solidFill>
                  <a:srgbClr val="FFFFFF">
                    <a:alpha val="50000"/>
                  </a:srgbClr>
                </a:solidFill>
                <a:latin typeface="Arial" pitchFamily="34" charset="0"/>
                <a:ea typeface="Arial" pitchFamily="34" charset="-122"/>
                <a:cs typeface="Arial" pitchFamily="34" charset="-120"/>
              </a:rPr>
              <a:t>COMPLIANCE HARDENING</a:t>
            </a:r>
            <a:endParaRPr lang="en-US" sz="1950" dirty="0"/>
          </a:p>
        </p:txBody>
      </p:sp>
      <p:sp>
        <p:nvSpPr>
          <p:cNvPr id="15" name="Text 13"/>
          <p:cNvSpPr/>
          <p:nvPr/>
        </p:nvSpPr>
        <p:spPr>
          <a:xfrm>
            <a:off x="1573530" y="10513061"/>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75000"/>
                  </a:srgbClr>
                </a:solidFill>
                <a:latin typeface="Arial" pitchFamily="34" charset="0"/>
                <a:ea typeface="Arial" pitchFamily="34" charset="-122"/>
                <a:cs typeface="Arial" pitchFamily="34" charset="-120"/>
              </a:rPr>
              <a:t>Governance layer · Audit trail · Platform automation</a:t>
            </a:r>
            <a:endParaRPr lang="en-US" sz="1950" dirty="0"/>
          </a:p>
        </p:txBody>
      </p:sp>
      <p:sp>
        <p:nvSpPr>
          <p:cNvPr id="16" name="Shape 14"/>
          <p:cNvSpPr/>
          <p:nvPr/>
        </p:nvSpPr>
        <p:spPr>
          <a:xfrm>
            <a:off x="9315450" y="2952115"/>
            <a:ext cx="7924800" cy="5252720"/>
          </a:xfrm>
          <a:prstGeom prst="roundRect">
            <a:avLst>
              <a:gd name="adj" fmla="val 1451"/>
            </a:avLst>
          </a:prstGeom>
          <a:solidFill>
            <a:srgbClr val="60C094">
              <a:alpha val="12000"/>
            </a:srgbClr>
          </a:solidFill>
          <a:ln w="7620">
            <a:solidFill>
              <a:srgbClr val="60C094">
                <a:alpha val="40000"/>
              </a:srgbClr>
            </a:solidFill>
            <a:prstDash val="solid"/>
          </a:ln>
        </p:spPr>
      </p:sp>
      <p:sp>
        <p:nvSpPr>
          <p:cNvPr id="17" name="Text 15"/>
          <p:cNvSpPr/>
          <p:nvPr/>
        </p:nvSpPr>
        <p:spPr>
          <a:xfrm>
            <a:off x="9665970" y="3531235"/>
            <a:ext cx="794613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60C094"/>
                </a:solidFill>
                <a:latin typeface="Arial" pitchFamily="34" charset="0"/>
                <a:ea typeface="Arial" pitchFamily="34" charset="-122"/>
                <a:cs typeface="Arial" pitchFamily="34" charset="-120"/>
              </a:rPr>
              <a:t>TRACK B</a:t>
            </a:r>
            <a:endParaRPr lang="en-US" sz="1800" dirty="0"/>
          </a:p>
        </p:txBody>
      </p:sp>
      <p:sp>
        <p:nvSpPr>
          <p:cNvPr id="18" name="Text 16"/>
          <p:cNvSpPr/>
          <p:nvPr/>
        </p:nvSpPr>
        <p:spPr>
          <a:xfrm>
            <a:off x="9665970" y="4693285"/>
            <a:ext cx="7440473" cy="952500"/>
          </a:xfrm>
          <a:prstGeom prst="rect">
            <a:avLst/>
          </a:prstGeom>
          <a:noFill/>
          <a:ln/>
        </p:spPr>
        <p:txBody>
          <a:bodyPr wrap="square" lIns="25400" tIns="25400" rIns="25400" bIns="25400" rtlCol="0" anchor="t">
            <a:normAutofit/>
          </a:bodyPr>
          <a:lstStyle/>
          <a:p>
            <a:pPr algn="l" indent="0" marL="0">
              <a:lnSpc>
                <a:spcPct val="120000"/>
              </a:lnSpc>
              <a:buNone/>
            </a:pPr>
            <a:r>
              <a:rPr lang="en-US" sz="3000" b="1" dirty="0">
                <a:solidFill>
                  <a:srgbClr val="FFFFFF"/>
                </a:solidFill>
                <a:latin typeface="Arial" pitchFamily="34" charset="0"/>
                <a:ea typeface="Arial" pitchFamily="34" charset="-122"/>
                <a:cs typeface="Arial" pitchFamily="34" charset="-120"/>
              </a:rPr>
              <a:t>Independent AI Platform — Purpose-Built</a:t>
            </a:r>
            <a:endParaRPr lang="en-US" sz="3000" dirty="0"/>
          </a:p>
        </p:txBody>
      </p:sp>
      <p:sp>
        <p:nvSpPr>
          <p:cNvPr id="19" name="Shape 17"/>
          <p:cNvSpPr/>
          <p:nvPr/>
        </p:nvSpPr>
        <p:spPr>
          <a:xfrm>
            <a:off x="9665970" y="6407785"/>
            <a:ext cx="22860" cy="866775"/>
          </a:xfrm>
          <a:prstGeom prst="rect">
            <a:avLst/>
          </a:prstGeom>
          <a:solidFill>
            <a:srgbClr val="60C094"/>
          </a:solidFill>
          <a:ln/>
        </p:spPr>
      </p:sp>
      <p:sp>
        <p:nvSpPr>
          <p:cNvPr id="20" name="Text 18"/>
          <p:cNvSpPr/>
          <p:nvPr/>
        </p:nvSpPr>
        <p:spPr>
          <a:xfrm>
            <a:off x="9841230" y="6655435"/>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75000"/>
                  </a:srgbClr>
                </a:solidFill>
                <a:latin typeface="Arial" pitchFamily="34" charset="0"/>
                <a:ea typeface="Arial" pitchFamily="34" charset="-122"/>
                <a:cs typeface="Arial" pitchFamily="34" charset="-120"/>
              </a:rPr>
              <a:t>Wealth manager-driven construction environment</a:t>
            </a:r>
            <a:endParaRPr lang="en-US" sz="1950" dirty="0"/>
          </a:p>
        </p:txBody>
      </p:sp>
      <p:sp>
        <p:nvSpPr>
          <p:cNvPr id="21" name="Shape 19"/>
          <p:cNvSpPr/>
          <p:nvPr/>
        </p:nvSpPr>
        <p:spPr>
          <a:xfrm>
            <a:off x="9665970" y="7407910"/>
            <a:ext cx="22860" cy="1238250"/>
          </a:xfrm>
          <a:prstGeom prst="rect">
            <a:avLst/>
          </a:prstGeom>
          <a:solidFill>
            <a:srgbClr val="60C094"/>
          </a:solidFill>
          <a:ln/>
        </p:spPr>
      </p:sp>
      <p:sp>
        <p:nvSpPr>
          <p:cNvPr id="22" name="Text 20"/>
          <p:cNvSpPr/>
          <p:nvPr/>
        </p:nvSpPr>
        <p:spPr>
          <a:xfrm>
            <a:off x="9841230" y="7655560"/>
            <a:ext cx="7259955"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75000"/>
                  </a:srgbClr>
                </a:solidFill>
                <a:latin typeface="Arial" pitchFamily="34" charset="0"/>
                <a:ea typeface="Arial" pitchFamily="34" charset="-122"/>
                <a:cs typeface="Arial" pitchFamily="34" charset="-120"/>
              </a:rPr>
              <a:t>Build → Test → Deploy custom AI tools without a product request</a:t>
            </a:r>
            <a:endParaRPr lang="en-US" sz="1950" dirty="0"/>
          </a:p>
        </p:txBody>
      </p:sp>
      <p:sp>
        <p:nvSpPr>
          <p:cNvPr id="23" name="Shape 21"/>
          <p:cNvSpPr/>
          <p:nvPr/>
        </p:nvSpPr>
        <p:spPr>
          <a:xfrm>
            <a:off x="9665970" y="8779510"/>
            <a:ext cx="22860" cy="866775"/>
          </a:xfrm>
          <a:prstGeom prst="rect">
            <a:avLst/>
          </a:prstGeom>
          <a:solidFill>
            <a:srgbClr val="60C094"/>
          </a:solidFill>
          <a:ln/>
        </p:spPr>
      </p:sp>
      <p:sp>
        <p:nvSpPr>
          <p:cNvPr id="24" name="Text 22"/>
          <p:cNvSpPr/>
          <p:nvPr/>
        </p:nvSpPr>
        <p:spPr>
          <a:xfrm>
            <a:off x="9841230" y="9027160"/>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75000"/>
                  </a:srgbClr>
                </a:solidFill>
                <a:latin typeface="Arial" pitchFamily="34" charset="0"/>
                <a:ea typeface="Arial" pitchFamily="34" charset="-122"/>
                <a:cs typeface="Arial" pitchFamily="34" charset="-120"/>
              </a:rPr>
              <a:t>Own API keys for AI-intensive products</a:t>
            </a:r>
            <a:endParaRPr lang="en-US" sz="1950" dirty="0"/>
          </a:p>
        </p:txBody>
      </p:sp>
      <p:sp>
        <p:nvSpPr>
          <p:cNvPr id="25" name="Shape 23"/>
          <p:cNvSpPr/>
          <p:nvPr/>
        </p:nvSpPr>
        <p:spPr>
          <a:xfrm>
            <a:off x="9665970" y="9779636"/>
            <a:ext cx="22860" cy="866775"/>
          </a:xfrm>
          <a:prstGeom prst="rect">
            <a:avLst/>
          </a:prstGeom>
          <a:solidFill>
            <a:srgbClr val="60C094"/>
          </a:solidFill>
          <a:ln/>
        </p:spPr>
      </p:sp>
      <p:sp>
        <p:nvSpPr>
          <p:cNvPr id="26" name="Text 24"/>
          <p:cNvSpPr/>
          <p:nvPr/>
        </p:nvSpPr>
        <p:spPr>
          <a:xfrm>
            <a:off x="9841230" y="10027286"/>
            <a:ext cx="77533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75000"/>
                  </a:srgbClr>
                </a:solidFill>
                <a:latin typeface="Arial" pitchFamily="34" charset="0"/>
                <a:ea typeface="Arial" pitchFamily="34" charset="-122"/>
                <a:cs typeface="Arial" pitchFamily="34" charset="-120"/>
              </a:rPr>
              <a:t>Clients shift from consumers → co-creators</a:t>
            </a:r>
            <a:endParaRPr lang="en-US" sz="1950" dirty="0"/>
          </a:p>
        </p:txBody>
      </p:sp>
      <p:sp>
        <p:nvSpPr>
          <p:cNvPr id="27" name="Shape 25"/>
          <p:cNvSpPr/>
          <p:nvPr/>
        </p:nvSpPr>
        <p:spPr>
          <a:xfrm>
            <a:off x="1047750" y="8414385"/>
            <a:ext cx="7924800" cy="15240"/>
          </a:xfrm>
          <a:prstGeom prst="rect">
            <a:avLst/>
          </a:prstGeom>
          <a:solidFill>
            <a:srgbClr val="FFFFFF">
              <a:alpha val="20000"/>
            </a:srgbClr>
          </a:solidFill>
          <a:ln/>
        </p:spPr>
      </p:sp>
      <p:sp>
        <p:nvSpPr>
          <p:cNvPr id="28" name="Text 26"/>
          <p:cNvSpPr/>
          <p:nvPr/>
        </p:nvSpPr>
        <p:spPr>
          <a:xfrm>
            <a:off x="861060" y="8810625"/>
            <a:ext cx="8298180" cy="409575"/>
          </a:xfrm>
          <a:prstGeom prst="rect">
            <a:avLst/>
          </a:prstGeom>
          <a:noFill/>
          <a:ln/>
        </p:spPr>
        <p:txBody>
          <a:bodyPr wrap="square" lIns="25400" tIns="25400" rIns="25400" bIns="25400" rtlCol="0" anchor="t">
            <a:normAutofit/>
          </a:bodyPr>
          <a:lstStyle/>
          <a:p>
            <a:pPr algn="ctr" indent="0" marL="0">
              <a:lnSpc>
                <a:spcPct val="150000"/>
              </a:lnSpc>
              <a:buNone/>
            </a:pPr>
            <a:r>
              <a:rPr lang="en-US" sz="1950" dirty="0">
                <a:solidFill>
                  <a:srgbClr val="FFFFFF">
                    <a:alpha val="60000"/>
                  </a:srgbClr>
                </a:solidFill>
                <a:latin typeface="Arial" pitchFamily="34" charset="0"/>
                <a:ea typeface="Arial" pitchFamily="34" charset="-122"/>
                <a:cs typeface="Arial" pitchFamily="34" charset="-120"/>
              </a:rPr>
              <a:t>Track A stabilises and governs.</a:t>
            </a:r>
            <a:endParaRPr lang="en-US" sz="1950" dirty="0"/>
          </a:p>
        </p:txBody>
      </p:sp>
      <p:sp>
        <p:nvSpPr>
          <p:cNvPr id="29" name="Shape 27"/>
          <p:cNvSpPr/>
          <p:nvPr/>
        </p:nvSpPr>
        <p:spPr>
          <a:xfrm>
            <a:off x="9315450" y="8414385"/>
            <a:ext cx="7924800" cy="15240"/>
          </a:xfrm>
          <a:prstGeom prst="rect">
            <a:avLst/>
          </a:prstGeom>
          <a:solidFill>
            <a:srgbClr val="60C094"/>
          </a:solidFill>
          <a:ln/>
        </p:spPr>
      </p:sp>
      <p:sp>
        <p:nvSpPr>
          <p:cNvPr id="30" name="Text 28"/>
          <p:cNvSpPr/>
          <p:nvPr/>
        </p:nvSpPr>
        <p:spPr>
          <a:xfrm>
            <a:off x="9128760" y="8810625"/>
            <a:ext cx="8298180" cy="409575"/>
          </a:xfrm>
          <a:prstGeom prst="rect">
            <a:avLst/>
          </a:prstGeom>
          <a:noFill/>
          <a:ln/>
        </p:spPr>
        <p:txBody>
          <a:bodyPr wrap="square" lIns="25400" tIns="25400" rIns="25400" bIns="25400" rtlCol="0" anchor="t">
            <a:normAutofit/>
          </a:bodyPr>
          <a:lstStyle/>
          <a:p>
            <a:pPr algn="ctr" indent="0" marL="0">
              <a:lnSpc>
                <a:spcPct val="150000"/>
              </a:lnSpc>
              <a:buNone/>
            </a:pPr>
            <a:r>
              <a:rPr lang="en-US" sz="1950" dirty="0">
                <a:solidFill>
                  <a:srgbClr val="60C094"/>
                </a:solidFill>
                <a:latin typeface="Arial" pitchFamily="34" charset="0"/>
                <a:ea typeface="Arial" pitchFamily="34" charset="-122"/>
                <a:cs typeface="Arial" pitchFamily="34" charset="-120"/>
              </a:rPr>
              <a:t>Track B differentiates and scales.</a:t>
            </a:r>
            <a:endParaRPr lang="en-US" sz="1950" dirty="0"/>
          </a:p>
        </p:txBody>
      </p:sp>
      <p:sp>
        <p:nvSpPr>
          <p:cNvPr id="31" name="Shape 29"/>
          <p:cNvSpPr/>
          <p:nvPr/>
        </p:nvSpPr>
        <p:spPr>
          <a:xfrm>
            <a:off x="16436340" y="9376410"/>
            <a:ext cx="803910" cy="453390"/>
          </a:xfrm>
          <a:prstGeom prst="roundRect">
            <a:avLst>
              <a:gd name="adj" fmla="val 12605"/>
            </a:avLst>
          </a:prstGeom>
          <a:solidFill>
            <a:srgbClr val="FFFFFF">
              <a:alpha val="8000"/>
            </a:srgbClr>
          </a:solidFill>
          <a:ln w="7620">
            <a:solidFill>
              <a:srgbClr val="FFFFFF">
                <a:alpha val="16000"/>
              </a:srgbClr>
            </a:solidFill>
            <a:prstDash val="solid"/>
          </a:ln>
        </p:spPr>
      </p:sp>
      <p:pic>
        <p:nvPicPr>
          <p:cNvPr id="32" name="Image 0" descr="preencoded.png">    </p:cNvPr>
          <p:cNvPicPr>
            <a:picLocks noChangeAspect="1"/>
          </p:cNvPicPr>
          <p:nvPr/>
        </p:nvPicPr>
        <p:blipFill>
          <a:blip r:embed="rId1"/>
          <a:stretch>
            <a:fillRect/>
          </a:stretch>
        </p:blipFill>
        <p:spPr>
          <a:xfrm>
            <a:off x="16615410" y="9479280"/>
            <a:ext cx="445770" cy="2476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03 · STRATEGIC RESPONSE</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The Market Is Sorting. Which Column Do You Want to Be In?</a:t>
            </a:r>
            <a:endParaRPr lang="en-US" sz="4350" dirty="0"/>
          </a:p>
        </p:txBody>
      </p:sp>
      <p:sp>
        <p:nvSpPr>
          <p:cNvPr id="4" name="Shape 2"/>
          <p:cNvSpPr/>
          <p:nvPr/>
        </p:nvSpPr>
        <p:spPr>
          <a:xfrm>
            <a:off x="1047750" y="2933065"/>
            <a:ext cx="16192500" cy="6630035"/>
          </a:xfrm>
          <a:prstGeom prst="roundRect">
            <a:avLst>
              <a:gd name="adj" fmla="val 1149"/>
            </a:avLst>
          </a:prstGeom>
          <a:ln w="7620">
            <a:solidFill>
              <a:srgbClr val="E0E0E0"/>
            </a:solidFill>
            <a:prstDash val="solid"/>
          </a:ln>
        </p:spPr>
      </p:sp>
      <p:sp>
        <p:nvSpPr>
          <p:cNvPr id="5" name="Shape 3"/>
          <p:cNvSpPr/>
          <p:nvPr/>
        </p:nvSpPr>
        <p:spPr>
          <a:xfrm>
            <a:off x="1055370" y="2940685"/>
            <a:ext cx="8083868" cy="1760220"/>
          </a:xfrm>
          <a:prstGeom prst="rect">
            <a:avLst/>
          </a:prstGeom>
          <a:solidFill>
            <a:srgbClr val="F4F5F7"/>
          </a:solidFill>
          <a:ln/>
        </p:spPr>
      </p:sp>
      <p:sp>
        <p:nvSpPr>
          <p:cNvPr id="6" name="Shape 4"/>
          <p:cNvSpPr/>
          <p:nvPr/>
        </p:nvSpPr>
        <p:spPr>
          <a:xfrm>
            <a:off x="1055370" y="4693285"/>
            <a:ext cx="8083868" cy="9525"/>
          </a:xfrm>
          <a:prstGeom prst="rect">
            <a:avLst/>
          </a:prstGeom>
          <a:solidFill>
            <a:srgbClr val="E0E0E0"/>
          </a:solidFill>
          <a:ln/>
        </p:spPr>
      </p:sp>
      <p:sp>
        <p:nvSpPr>
          <p:cNvPr id="7" name="Text 5"/>
          <p:cNvSpPr/>
          <p:nvPr/>
        </p:nvSpPr>
        <p:spPr>
          <a:xfrm>
            <a:off x="1398270" y="3359785"/>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TABLE STAKES</a:t>
            </a:r>
            <a:endParaRPr lang="en-US" sz="1800" dirty="0"/>
          </a:p>
        </p:txBody>
      </p:sp>
      <p:sp>
        <p:nvSpPr>
          <p:cNvPr id="8" name="Text 6"/>
          <p:cNvSpPr/>
          <p:nvPr/>
        </p:nvSpPr>
        <p:spPr>
          <a:xfrm>
            <a:off x="1398270" y="3931285"/>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Expected within 12–18 months · Competitors offer this</a:t>
            </a:r>
            <a:endParaRPr lang="en-US" sz="1800" dirty="0"/>
          </a:p>
        </p:txBody>
      </p:sp>
      <p:sp>
        <p:nvSpPr>
          <p:cNvPr id="9" name="Text 7"/>
          <p:cNvSpPr/>
          <p:nvPr/>
        </p:nvSpPr>
        <p:spPr>
          <a:xfrm>
            <a:off x="1398270" y="5215255"/>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Dashboarding with alerts</a:t>
            </a:r>
            <a:endParaRPr lang="en-US" sz="1950" dirty="0"/>
          </a:p>
        </p:txBody>
      </p:sp>
      <p:sp>
        <p:nvSpPr>
          <p:cNvPr id="10" name="Text 8"/>
          <p:cNvSpPr/>
          <p:nvPr/>
        </p:nvSpPr>
        <p:spPr>
          <a:xfrm>
            <a:off x="1398270" y="6215380"/>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Portfolio summaries</a:t>
            </a:r>
            <a:endParaRPr lang="en-US" sz="1950" dirty="0"/>
          </a:p>
        </p:txBody>
      </p:sp>
      <p:sp>
        <p:nvSpPr>
          <p:cNvPr id="11" name="Text 9"/>
          <p:cNvSpPr/>
          <p:nvPr/>
        </p:nvSpPr>
        <p:spPr>
          <a:xfrm>
            <a:off x="1398270" y="7215505"/>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CIO view</a:t>
            </a:r>
            <a:endParaRPr lang="en-US" sz="1950" dirty="0"/>
          </a:p>
        </p:txBody>
      </p:sp>
      <p:sp>
        <p:nvSpPr>
          <p:cNvPr id="12" name="Text 10"/>
          <p:cNvSpPr/>
          <p:nvPr/>
        </p:nvSpPr>
        <p:spPr>
          <a:xfrm>
            <a:off x="1398270" y="8215630"/>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Automated client reporting</a:t>
            </a:r>
            <a:endParaRPr lang="en-US" sz="1950" dirty="0"/>
          </a:p>
        </p:txBody>
      </p:sp>
      <p:sp>
        <p:nvSpPr>
          <p:cNvPr id="13" name="Text 11"/>
          <p:cNvSpPr/>
          <p:nvPr/>
        </p:nvSpPr>
        <p:spPr>
          <a:xfrm>
            <a:off x="1398270" y="9215755"/>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Document intelligence</a:t>
            </a:r>
            <a:endParaRPr lang="en-US" sz="1950" dirty="0"/>
          </a:p>
        </p:txBody>
      </p:sp>
      <p:sp>
        <p:nvSpPr>
          <p:cNvPr id="14" name="Text 12"/>
          <p:cNvSpPr/>
          <p:nvPr/>
        </p:nvSpPr>
        <p:spPr>
          <a:xfrm>
            <a:off x="1398270" y="10215880"/>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AI-assisted RM tools</a:t>
            </a:r>
            <a:endParaRPr lang="en-US" sz="1950" dirty="0"/>
          </a:p>
        </p:txBody>
      </p:sp>
      <p:sp>
        <p:nvSpPr>
          <p:cNvPr id="15" name="Text 13"/>
          <p:cNvSpPr/>
          <p:nvPr/>
        </p:nvSpPr>
        <p:spPr>
          <a:xfrm>
            <a:off x="1398270" y="11216005"/>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Natural language query interface</a:t>
            </a:r>
            <a:endParaRPr lang="en-US" sz="1950" dirty="0"/>
          </a:p>
        </p:txBody>
      </p:sp>
      <p:sp>
        <p:nvSpPr>
          <p:cNvPr id="16" name="Shape 14"/>
          <p:cNvSpPr/>
          <p:nvPr/>
        </p:nvSpPr>
        <p:spPr>
          <a:xfrm>
            <a:off x="1055370" y="12101830"/>
            <a:ext cx="8083868" cy="1112520"/>
          </a:xfrm>
          <a:prstGeom prst="rect">
            <a:avLst/>
          </a:prstGeom>
          <a:solidFill>
            <a:srgbClr val="F4F5F7"/>
          </a:solidFill>
          <a:ln/>
        </p:spPr>
      </p:sp>
      <p:sp>
        <p:nvSpPr>
          <p:cNvPr id="17" name="Shape 15"/>
          <p:cNvSpPr/>
          <p:nvPr/>
        </p:nvSpPr>
        <p:spPr>
          <a:xfrm>
            <a:off x="1055370" y="12101830"/>
            <a:ext cx="8083868" cy="9525"/>
          </a:xfrm>
          <a:prstGeom prst="rect">
            <a:avLst/>
          </a:prstGeom>
          <a:solidFill>
            <a:srgbClr val="E0E0E0"/>
          </a:solidFill>
          <a:ln/>
        </p:spPr>
      </p:sp>
      <p:sp>
        <p:nvSpPr>
          <p:cNvPr id="18" name="Text 16"/>
          <p:cNvSpPr/>
          <p:nvPr/>
        </p:nvSpPr>
        <p:spPr>
          <a:xfrm>
            <a:off x="1398270" y="12490450"/>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i="1" dirty="0">
                <a:solidFill>
                  <a:srgbClr val="3D505D"/>
                </a:solidFill>
                <a:latin typeface="Arial" pitchFamily="34" charset="0"/>
                <a:ea typeface="Arial" pitchFamily="34" charset="-122"/>
                <a:cs typeface="Arial" pitchFamily="34" charset="-120"/>
              </a:rPr>
              <a:t>Match these or fall behind. No margin here.</a:t>
            </a:r>
            <a:endParaRPr lang="en-US" sz="1800" dirty="0"/>
          </a:p>
        </p:txBody>
      </p:sp>
      <p:sp>
        <p:nvSpPr>
          <p:cNvPr id="19" name="Shape 17"/>
          <p:cNvSpPr/>
          <p:nvPr/>
        </p:nvSpPr>
        <p:spPr>
          <a:xfrm>
            <a:off x="9139238" y="2940685"/>
            <a:ext cx="9525" cy="6614795"/>
          </a:xfrm>
          <a:prstGeom prst="rect">
            <a:avLst/>
          </a:prstGeom>
          <a:solidFill>
            <a:srgbClr val="E0E0E0"/>
          </a:solidFill>
          <a:ln/>
        </p:spPr>
      </p:sp>
      <p:sp>
        <p:nvSpPr>
          <p:cNvPr id="20" name="Shape 18"/>
          <p:cNvSpPr/>
          <p:nvPr/>
        </p:nvSpPr>
        <p:spPr>
          <a:xfrm>
            <a:off x="9148763" y="2940685"/>
            <a:ext cx="8083868" cy="1760220"/>
          </a:xfrm>
          <a:prstGeom prst="rect">
            <a:avLst/>
          </a:prstGeom>
          <a:solidFill>
            <a:srgbClr val="EAF5F0"/>
          </a:solidFill>
          <a:ln/>
        </p:spPr>
      </p:sp>
      <p:sp>
        <p:nvSpPr>
          <p:cNvPr id="21" name="Shape 19"/>
          <p:cNvSpPr/>
          <p:nvPr/>
        </p:nvSpPr>
        <p:spPr>
          <a:xfrm>
            <a:off x="9148763" y="4693285"/>
            <a:ext cx="8083868" cy="9525"/>
          </a:xfrm>
          <a:prstGeom prst="rect">
            <a:avLst/>
          </a:prstGeom>
          <a:solidFill>
            <a:srgbClr val="B8E8D0"/>
          </a:solidFill>
          <a:ln/>
        </p:spPr>
      </p:sp>
      <p:sp>
        <p:nvSpPr>
          <p:cNvPr id="22" name="Text 20"/>
          <p:cNvSpPr/>
          <p:nvPr/>
        </p:nvSpPr>
        <p:spPr>
          <a:xfrm>
            <a:off x="9491663" y="3359785"/>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DIFFERENTIATORS</a:t>
            </a:r>
            <a:endParaRPr lang="en-US" sz="1800" dirty="0"/>
          </a:p>
        </p:txBody>
      </p:sp>
      <p:sp>
        <p:nvSpPr>
          <p:cNvPr id="23" name="Text 21"/>
          <p:cNvSpPr/>
          <p:nvPr/>
        </p:nvSpPr>
        <p:spPr>
          <a:xfrm>
            <a:off x="9491663" y="3931285"/>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00557E"/>
                </a:solidFill>
                <a:latin typeface="Arial" pitchFamily="34" charset="0"/>
                <a:ea typeface="Arial" pitchFamily="34" charset="-122"/>
                <a:cs typeface="Arial" pitchFamily="34" charset="-120"/>
              </a:rPr>
              <a:t>Build switching cost now · Early movers own this</a:t>
            </a:r>
            <a:endParaRPr lang="en-US" sz="1800" dirty="0"/>
          </a:p>
        </p:txBody>
      </p:sp>
      <p:sp>
        <p:nvSpPr>
          <p:cNvPr id="24" name="Text 22"/>
          <p:cNvSpPr/>
          <p:nvPr/>
        </p:nvSpPr>
        <p:spPr>
          <a:xfrm>
            <a:off x="9491663" y="5215255"/>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 Wealth manager development workspace</a:t>
            </a:r>
            <a:endParaRPr lang="en-US" sz="1950" dirty="0"/>
          </a:p>
        </p:txBody>
      </p:sp>
      <p:sp>
        <p:nvSpPr>
          <p:cNvPr id="25" name="Text 23"/>
          <p:cNvSpPr/>
          <p:nvPr/>
        </p:nvSpPr>
        <p:spPr>
          <a:xfrm>
            <a:off x="9491663" y="5815330"/>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Build custom tools without a vendor product cycle</a:t>
            </a:r>
            <a:endParaRPr lang="en-US" sz="1800" dirty="0"/>
          </a:p>
        </p:txBody>
      </p:sp>
      <p:sp>
        <p:nvSpPr>
          <p:cNvPr id="26" name="Text 24"/>
          <p:cNvSpPr/>
          <p:nvPr/>
        </p:nvSpPr>
        <p:spPr>
          <a:xfrm>
            <a:off x="9491663" y="6824980"/>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 Conversational onboarding</a:t>
            </a:r>
            <a:endParaRPr lang="en-US" sz="1950" dirty="0"/>
          </a:p>
        </p:txBody>
      </p:sp>
      <p:sp>
        <p:nvSpPr>
          <p:cNvPr id="27" name="Text 25"/>
          <p:cNvSpPr/>
          <p:nvPr/>
        </p:nvSpPr>
        <p:spPr>
          <a:xfrm>
            <a:off x="9491663" y="7425055"/>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AI-guided client intake compressing a multi-week process</a:t>
            </a:r>
            <a:endParaRPr lang="en-US" sz="1800" dirty="0"/>
          </a:p>
        </p:txBody>
      </p:sp>
      <p:sp>
        <p:nvSpPr>
          <p:cNvPr id="28" name="Text 26"/>
          <p:cNvSpPr/>
          <p:nvPr/>
        </p:nvSpPr>
        <p:spPr>
          <a:xfrm>
            <a:off x="9491663" y="8434705"/>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 RM Pathfinder</a:t>
            </a:r>
            <a:endParaRPr lang="en-US" sz="1950" dirty="0"/>
          </a:p>
        </p:txBody>
      </p:sp>
      <p:sp>
        <p:nvSpPr>
          <p:cNvPr id="29" name="Text 27"/>
          <p:cNvSpPr/>
          <p:nvPr/>
        </p:nvSpPr>
        <p:spPr>
          <a:xfrm>
            <a:off x="9491663" y="9034780"/>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Next-best-action intelligence for relationship managers</a:t>
            </a:r>
            <a:endParaRPr lang="en-US" sz="1800" dirty="0"/>
          </a:p>
        </p:txBody>
      </p:sp>
      <p:sp>
        <p:nvSpPr>
          <p:cNvPr id="30" name="Text 28"/>
          <p:cNvSpPr/>
          <p:nvPr/>
        </p:nvSpPr>
        <p:spPr>
          <a:xfrm>
            <a:off x="9491663" y="10044430"/>
            <a:ext cx="813787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 Predictive client risk alerts</a:t>
            </a:r>
            <a:endParaRPr lang="en-US" sz="1950" dirty="0"/>
          </a:p>
        </p:txBody>
      </p:sp>
      <p:sp>
        <p:nvSpPr>
          <p:cNvPr id="31" name="Text 29"/>
          <p:cNvSpPr/>
          <p:nvPr/>
        </p:nvSpPr>
        <p:spPr>
          <a:xfrm>
            <a:off x="9491663" y="10644505"/>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Forward-looking, signal-based alerts before risk crystallises</a:t>
            </a:r>
            <a:endParaRPr lang="en-US" sz="1800" dirty="0"/>
          </a:p>
        </p:txBody>
      </p:sp>
      <p:sp>
        <p:nvSpPr>
          <p:cNvPr id="32" name="Shape 30"/>
          <p:cNvSpPr/>
          <p:nvPr/>
        </p:nvSpPr>
        <p:spPr>
          <a:xfrm>
            <a:off x="9148763" y="11482705"/>
            <a:ext cx="8083868" cy="1112520"/>
          </a:xfrm>
          <a:prstGeom prst="rect">
            <a:avLst/>
          </a:prstGeom>
          <a:solidFill>
            <a:srgbClr val="EAF5F0"/>
          </a:solidFill>
          <a:ln/>
        </p:spPr>
      </p:sp>
      <p:sp>
        <p:nvSpPr>
          <p:cNvPr id="33" name="Shape 31"/>
          <p:cNvSpPr/>
          <p:nvPr/>
        </p:nvSpPr>
        <p:spPr>
          <a:xfrm>
            <a:off x="9148763" y="11482705"/>
            <a:ext cx="8083868" cy="9525"/>
          </a:xfrm>
          <a:prstGeom prst="rect">
            <a:avLst/>
          </a:prstGeom>
          <a:solidFill>
            <a:srgbClr val="B8E8D0"/>
          </a:solidFill>
          <a:ln/>
        </p:spPr>
      </p:sp>
      <p:sp>
        <p:nvSpPr>
          <p:cNvPr id="34" name="Text 32"/>
          <p:cNvSpPr/>
          <p:nvPr/>
        </p:nvSpPr>
        <p:spPr>
          <a:xfrm>
            <a:off x="9491663" y="11871325"/>
            <a:ext cx="813787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 Privé is building here. This is where the bet is.</a:t>
            </a:r>
            <a:endParaRPr lang="en-US" sz="1800" dirty="0"/>
          </a:p>
        </p:txBody>
      </p:sp>
      <p:pic>
        <p:nvPicPr>
          <p:cNvPr id="35"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04 · TRACK A</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Track A: What the Upgraded Platform Delivers</a:t>
            </a:r>
            <a:endParaRPr lang="en-US" sz="4350" dirty="0"/>
          </a:p>
        </p:txBody>
      </p:sp>
      <p:sp>
        <p:nvSpPr>
          <p:cNvPr id="4" name="Shape 2"/>
          <p:cNvSpPr/>
          <p:nvPr/>
        </p:nvSpPr>
        <p:spPr>
          <a:xfrm>
            <a:off x="1047750" y="2933065"/>
            <a:ext cx="7943850" cy="4353560"/>
          </a:xfrm>
          <a:prstGeom prst="roundRect">
            <a:avLst>
              <a:gd name="adj" fmla="val 1750"/>
            </a:avLst>
          </a:prstGeom>
          <a:solidFill>
            <a:srgbClr val="F4F5F7"/>
          </a:solidFill>
          <a:ln w="7620">
            <a:solidFill>
              <a:srgbClr val="E0E0E0"/>
            </a:solidFill>
            <a:prstDash val="solid"/>
          </a:ln>
        </p:spPr>
      </p:sp>
      <p:sp>
        <p:nvSpPr>
          <p:cNvPr id="5" name="Text 3"/>
          <p:cNvSpPr/>
          <p:nvPr/>
        </p:nvSpPr>
        <p:spPr>
          <a:xfrm>
            <a:off x="1360170" y="3474085"/>
            <a:ext cx="805091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QUANTITATIVE ANALYTICS</a:t>
            </a:r>
            <a:endParaRPr lang="en-US" sz="1800" dirty="0"/>
          </a:p>
        </p:txBody>
      </p:sp>
      <p:sp>
        <p:nvSpPr>
          <p:cNvPr id="6" name="Shape 4"/>
          <p:cNvSpPr/>
          <p:nvPr/>
        </p:nvSpPr>
        <p:spPr>
          <a:xfrm>
            <a:off x="1360170" y="4197985"/>
            <a:ext cx="342900" cy="19050"/>
          </a:xfrm>
          <a:prstGeom prst="rect">
            <a:avLst/>
          </a:prstGeom>
          <a:solidFill>
            <a:srgbClr val="3D505D"/>
          </a:solidFill>
          <a:ln/>
        </p:spPr>
      </p:sp>
      <p:sp>
        <p:nvSpPr>
          <p:cNvPr id="7" name="Text 5"/>
          <p:cNvSpPr/>
          <p:nvPr/>
        </p:nvSpPr>
        <p:spPr>
          <a:xfrm>
            <a:off x="1360170" y="4617085"/>
            <a:ext cx="805091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00557E"/>
                </a:solidFill>
                <a:latin typeface="Arial" pitchFamily="34" charset="0"/>
                <a:ea typeface="Arial" pitchFamily="34" charset="-122"/>
                <a:cs typeface="Arial" pitchFamily="34" charset="-120"/>
              </a:rPr>
              <a:t>Portfolio Optimiser · Health Checks · Scenario Analysis</a:t>
            </a:r>
            <a:endParaRPr lang="en-US" sz="1950" dirty="0"/>
          </a:p>
        </p:txBody>
      </p:sp>
      <p:sp>
        <p:nvSpPr>
          <p:cNvPr id="8" name="Text 6"/>
          <p:cNvSpPr/>
          <p:nvPr/>
        </p:nvSpPr>
        <p:spPr>
          <a:xfrm>
            <a:off x="1360170" y="5636260"/>
            <a:ext cx="805091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i="1" dirty="0">
                <a:solidFill>
                  <a:srgbClr val="3D505D"/>
                </a:solidFill>
                <a:latin typeface="Arial" pitchFamily="34" charset="0"/>
                <a:ea typeface="Arial" pitchFamily="34" charset="-122"/>
                <a:cs typeface="Arial" pitchFamily="34" charset="-120"/>
              </a:rPr>
              <a:t>Deterministic. Auditable. Live.</a:t>
            </a:r>
            <a:endParaRPr lang="en-US" sz="1950" dirty="0"/>
          </a:p>
        </p:txBody>
      </p:sp>
      <p:sp>
        <p:nvSpPr>
          <p:cNvPr id="9" name="Shape 7"/>
          <p:cNvSpPr/>
          <p:nvPr/>
        </p:nvSpPr>
        <p:spPr>
          <a:xfrm>
            <a:off x="9296400" y="2933065"/>
            <a:ext cx="7943850" cy="4353560"/>
          </a:xfrm>
          <a:prstGeom prst="roundRect">
            <a:avLst>
              <a:gd name="adj" fmla="val 1750"/>
            </a:avLst>
          </a:prstGeom>
          <a:solidFill>
            <a:srgbClr val="EAF5F0"/>
          </a:solidFill>
          <a:ln w="7620">
            <a:solidFill>
              <a:srgbClr val="60C094"/>
            </a:solidFill>
            <a:prstDash val="solid"/>
          </a:ln>
        </p:spPr>
      </p:sp>
      <p:sp>
        <p:nvSpPr>
          <p:cNvPr id="10" name="Text 8"/>
          <p:cNvSpPr/>
          <p:nvPr/>
        </p:nvSpPr>
        <p:spPr>
          <a:xfrm>
            <a:off x="9608820" y="3474085"/>
            <a:ext cx="805091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AI-NATIVE FEATURES</a:t>
            </a:r>
            <a:endParaRPr lang="en-US" sz="1800" dirty="0"/>
          </a:p>
        </p:txBody>
      </p:sp>
      <p:sp>
        <p:nvSpPr>
          <p:cNvPr id="11" name="Shape 9"/>
          <p:cNvSpPr/>
          <p:nvPr/>
        </p:nvSpPr>
        <p:spPr>
          <a:xfrm>
            <a:off x="9608820" y="4197985"/>
            <a:ext cx="342900" cy="19050"/>
          </a:xfrm>
          <a:prstGeom prst="rect">
            <a:avLst/>
          </a:prstGeom>
          <a:solidFill>
            <a:srgbClr val="60C094"/>
          </a:solidFill>
          <a:ln/>
        </p:spPr>
      </p:sp>
      <p:sp>
        <p:nvSpPr>
          <p:cNvPr id="12" name="Text 10"/>
          <p:cNvSpPr/>
          <p:nvPr/>
        </p:nvSpPr>
        <p:spPr>
          <a:xfrm>
            <a:off x="9608820" y="4617085"/>
            <a:ext cx="805091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00557E"/>
                </a:solidFill>
                <a:latin typeface="Arial" pitchFamily="34" charset="0"/>
                <a:ea typeface="Arial" pitchFamily="34" charset="-122"/>
                <a:cs typeface="Arial" pitchFamily="34" charset="-120"/>
              </a:rPr>
              <a:t>Portfolio IQ · Client Lifecycle Agent · Privé Agent</a:t>
            </a:r>
            <a:endParaRPr lang="en-US" sz="1950" dirty="0"/>
          </a:p>
        </p:txBody>
      </p:sp>
      <p:sp>
        <p:nvSpPr>
          <p:cNvPr id="13" name="Text 11"/>
          <p:cNvSpPr/>
          <p:nvPr/>
        </p:nvSpPr>
        <p:spPr>
          <a:xfrm>
            <a:off x="9608820" y="5636260"/>
            <a:ext cx="805091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Human oversight built in · Governance layer active</a:t>
            </a:r>
            <a:endParaRPr lang="en-US" sz="1950" dirty="0"/>
          </a:p>
        </p:txBody>
      </p:sp>
      <p:sp>
        <p:nvSpPr>
          <p:cNvPr id="14" name="Shape 12"/>
          <p:cNvSpPr/>
          <p:nvPr/>
        </p:nvSpPr>
        <p:spPr>
          <a:xfrm>
            <a:off x="1047750" y="7591425"/>
            <a:ext cx="16192500" cy="1971675"/>
          </a:xfrm>
          <a:prstGeom prst="roundRect">
            <a:avLst>
              <a:gd name="adj" fmla="val 3865"/>
            </a:avLst>
          </a:prstGeom>
          <a:solidFill>
            <a:srgbClr val="1A2535"/>
          </a:solidFill>
          <a:ln/>
        </p:spPr>
      </p:sp>
      <p:sp>
        <p:nvSpPr>
          <p:cNvPr id="15" name="Text 13"/>
          <p:cNvSpPr/>
          <p:nvPr/>
        </p:nvSpPr>
        <p:spPr>
          <a:xfrm>
            <a:off x="1390650" y="8086725"/>
            <a:ext cx="1705737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60C094"/>
                </a:solidFill>
                <a:latin typeface="Arial" pitchFamily="34" charset="0"/>
                <a:ea typeface="Arial" pitchFamily="34" charset="-122"/>
                <a:cs typeface="Arial" pitchFamily="34" charset="-120"/>
              </a:rPr>
              <a:t>PLATFORM AUTOMATION</a:t>
            </a:r>
            <a:endParaRPr lang="en-US" sz="1800" dirty="0"/>
          </a:p>
        </p:txBody>
      </p:sp>
      <p:sp>
        <p:nvSpPr>
          <p:cNvPr id="16" name="Text 14"/>
          <p:cNvSpPr/>
          <p:nvPr/>
        </p:nvSpPr>
        <p:spPr>
          <a:xfrm>
            <a:off x="1390650" y="8677275"/>
            <a:ext cx="1705737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0000"/>
                  </a:srgbClr>
                </a:solidFill>
                <a:latin typeface="Arial" pitchFamily="34" charset="0"/>
                <a:ea typeface="Arial" pitchFamily="34" charset="-122"/>
                <a:cs typeface="Arial" pitchFamily="34" charset="-120"/>
              </a:rPr>
              <a:t>Asset onboarding · Fund document updates · Data freshness — Manual workflows replaced with auditable, automated flows</a:t>
            </a:r>
            <a:endParaRPr lang="en-US" sz="1950" dirty="0"/>
          </a:p>
        </p:txBody>
      </p:sp>
      <p:pic>
        <p:nvPicPr>
          <p:cNvPr id="17"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04 · TRACK A</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Deterministic Quantitative Analytics: Three Live Features</a:t>
            </a:r>
            <a:endParaRPr lang="en-US" sz="4350" dirty="0"/>
          </a:p>
        </p:txBody>
      </p:sp>
      <p:sp>
        <p:nvSpPr>
          <p:cNvPr id="4" name="Shape 2"/>
          <p:cNvSpPr/>
          <p:nvPr/>
        </p:nvSpPr>
        <p:spPr>
          <a:xfrm>
            <a:off x="1047750" y="2933065"/>
            <a:ext cx="5194300" cy="5248910"/>
          </a:xfrm>
          <a:prstGeom prst="roundRect">
            <a:avLst>
              <a:gd name="adj" fmla="val 1467"/>
            </a:avLst>
          </a:prstGeom>
          <a:solidFill>
            <a:srgbClr val="F4F5F7"/>
          </a:solidFill>
          <a:ln w="7620">
            <a:solidFill>
              <a:srgbClr val="E0E0E0"/>
            </a:solidFill>
            <a:prstDash val="solid"/>
          </a:ln>
        </p:spPr>
      </p:sp>
      <p:sp>
        <p:nvSpPr>
          <p:cNvPr id="5" name="Text 3"/>
          <p:cNvSpPr/>
          <p:nvPr/>
        </p:nvSpPr>
        <p:spPr>
          <a:xfrm>
            <a:off x="1379220" y="3645535"/>
            <a:ext cx="4667301" cy="952500"/>
          </a:xfrm>
          <a:prstGeom prst="rect">
            <a:avLst/>
          </a:prstGeom>
          <a:noFill/>
          <a:ln/>
        </p:spPr>
        <p:txBody>
          <a:bodyPr wrap="square" lIns="25400" tIns="25400" rIns="25400" bIns="25400" rtlCol="0" anchor="t">
            <a:normAutofit/>
          </a:bodyPr>
          <a:lstStyle/>
          <a:p>
            <a:pPr algn="l" indent="0" marL="0">
              <a:lnSpc>
                <a:spcPct val="120000"/>
              </a:lnSpc>
              <a:buNone/>
            </a:pPr>
            <a:r>
              <a:rPr lang="en-US" sz="3000" b="1" dirty="0">
                <a:solidFill>
                  <a:srgbClr val="00557E"/>
                </a:solidFill>
                <a:latin typeface="Arial" pitchFamily="34" charset="0"/>
                <a:ea typeface="Arial" pitchFamily="34" charset="-122"/>
                <a:cs typeface="Arial" pitchFamily="34" charset="-120"/>
              </a:rPr>
              <a:t>Portfolio Optimiser</a:t>
            </a:r>
            <a:endParaRPr lang="en-US" sz="3000" dirty="0"/>
          </a:p>
        </p:txBody>
      </p:sp>
      <p:sp>
        <p:nvSpPr>
          <p:cNvPr id="6" name="Text 4"/>
          <p:cNvSpPr/>
          <p:nvPr/>
        </p:nvSpPr>
        <p:spPr>
          <a:xfrm>
            <a:off x="1379220" y="5493385"/>
            <a:ext cx="4667301" cy="1623060"/>
          </a:xfrm>
          <a:prstGeom prst="rect">
            <a:avLst/>
          </a:prstGeom>
          <a:noFill/>
          <a:ln/>
        </p:spPr>
        <p:txBody>
          <a:bodyPr wrap="square" lIns="25400" tIns="25400" rIns="25400" bIns="25400" rtlCol="0" anchor="t">
            <a:normAutofit/>
          </a:bodyPr>
          <a:lstStyle/>
          <a:p>
            <a:pPr algn="l" indent="0" marL="0">
              <a:lnSpc>
                <a:spcPct val="160000"/>
              </a:lnSpc>
              <a:buNone/>
            </a:pPr>
            <a:r>
              <a:rPr lang="en-US" sz="1950" dirty="0">
                <a:solidFill>
                  <a:srgbClr val="333333"/>
                </a:solidFill>
                <a:latin typeface="Arial" pitchFamily="34" charset="0"/>
                <a:ea typeface="Arial" pitchFamily="34" charset="-122"/>
                <a:cs typeface="Arial" pitchFamily="34" charset="-120"/>
              </a:rPr>
              <a:t>Constrained optimisation against client risk profile and mandate. Same inputs always produce the same output — always.</a:t>
            </a:r>
            <a:endParaRPr lang="en-US" sz="1950" dirty="0"/>
          </a:p>
        </p:txBody>
      </p:sp>
      <p:sp>
        <p:nvSpPr>
          <p:cNvPr id="7" name="Text 5"/>
          <p:cNvSpPr/>
          <p:nvPr/>
        </p:nvSpPr>
        <p:spPr>
          <a:xfrm>
            <a:off x="1379220" y="7726045"/>
            <a:ext cx="4667301" cy="830580"/>
          </a:xfrm>
          <a:prstGeom prst="rect">
            <a:avLst/>
          </a:prstGeom>
          <a:noFill/>
          <a:ln/>
        </p:spPr>
        <p:txBody>
          <a:bodyPr wrap="square" lIns="25400" tIns="25400" rIns="25400" bIns="25400" rtlCol="0" anchor="t">
            <a:normAutofit/>
          </a:bodyPr>
          <a:lstStyle/>
          <a:p>
            <a:pPr algn="l" indent="0" marL="0">
              <a:lnSpc>
                <a:spcPct val="160000"/>
              </a:lnSpc>
              <a:buNone/>
            </a:pPr>
            <a:r>
              <a:rPr lang="en-US" sz="1950" dirty="0">
                <a:solidFill>
                  <a:srgbClr val="333333"/>
                </a:solidFill>
                <a:latin typeface="Arial" pitchFamily="34" charset="0"/>
                <a:ea typeface="Arial" pitchFamily="34" charset="-122"/>
                <a:cs typeface="Arial" pitchFamily="34" charset="-120"/>
              </a:rPr>
              <a:t>Rebalancing recommendations are fully traceable to algorithm logic.</a:t>
            </a:r>
            <a:endParaRPr lang="en-US" sz="1950" dirty="0"/>
          </a:p>
        </p:txBody>
      </p:sp>
      <p:sp>
        <p:nvSpPr>
          <p:cNvPr id="8" name="Shape 6"/>
          <p:cNvSpPr/>
          <p:nvPr/>
        </p:nvSpPr>
        <p:spPr>
          <a:xfrm>
            <a:off x="1379220" y="8918575"/>
            <a:ext cx="4531360" cy="990600"/>
          </a:xfrm>
          <a:prstGeom prst="roundRect">
            <a:avLst>
              <a:gd name="adj" fmla="val 5769"/>
            </a:avLst>
          </a:prstGeom>
          <a:solidFill>
            <a:srgbClr val="00557E"/>
          </a:solidFill>
          <a:ln/>
        </p:spPr>
      </p:sp>
      <p:sp>
        <p:nvSpPr>
          <p:cNvPr id="9" name="Text 7"/>
          <p:cNvSpPr/>
          <p:nvPr/>
        </p:nvSpPr>
        <p:spPr>
          <a:xfrm>
            <a:off x="1531620" y="9242425"/>
            <a:ext cx="464921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No LLM. No inference.</a:t>
            </a:r>
            <a:endParaRPr lang="en-US" sz="1800" dirty="0"/>
          </a:p>
        </p:txBody>
      </p:sp>
      <p:sp>
        <p:nvSpPr>
          <p:cNvPr id="10" name="Shape 8"/>
          <p:cNvSpPr/>
          <p:nvPr/>
        </p:nvSpPr>
        <p:spPr>
          <a:xfrm>
            <a:off x="6546850" y="2933065"/>
            <a:ext cx="5194300" cy="5248910"/>
          </a:xfrm>
          <a:prstGeom prst="roundRect">
            <a:avLst>
              <a:gd name="adj" fmla="val 1467"/>
            </a:avLst>
          </a:prstGeom>
          <a:solidFill>
            <a:srgbClr val="F4F5F7"/>
          </a:solidFill>
          <a:ln w="7620">
            <a:solidFill>
              <a:srgbClr val="E0E0E0"/>
            </a:solidFill>
            <a:prstDash val="solid"/>
          </a:ln>
        </p:spPr>
      </p:sp>
      <p:sp>
        <p:nvSpPr>
          <p:cNvPr id="11" name="Text 9"/>
          <p:cNvSpPr/>
          <p:nvPr/>
        </p:nvSpPr>
        <p:spPr>
          <a:xfrm>
            <a:off x="6878320" y="3645535"/>
            <a:ext cx="4667301" cy="952500"/>
          </a:xfrm>
          <a:prstGeom prst="rect">
            <a:avLst/>
          </a:prstGeom>
          <a:noFill/>
          <a:ln/>
        </p:spPr>
        <p:txBody>
          <a:bodyPr wrap="square" lIns="25400" tIns="25400" rIns="25400" bIns="25400" rtlCol="0" anchor="t">
            <a:normAutofit/>
          </a:bodyPr>
          <a:lstStyle/>
          <a:p>
            <a:pPr algn="l" indent="0" marL="0">
              <a:lnSpc>
                <a:spcPct val="120000"/>
              </a:lnSpc>
              <a:buNone/>
            </a:pPr>
            <a:r>
              <a:rPr lang="en-US" sz="3000" b="1" dirty="0">
                <a:solidFill>
                  <a:srgbClr val="00557E"/>
                </a:solidFill>
                <a:latin typeface="Arial" pitchFamily="34" charset="0"/>
                <a:ea typeface="Arial" pitchFamily="34" charset="-122"/>
                <a:cs typeface="Arial" pitchFamily="34" charset="-120"/>
              </a:rPr>
              <a:t>Health Checks</a:t>
            </a:r>
            <a:endParaRPr lang="en-US" sz="3000" dirty="0"/>
          </a:p>
        </p:txBody>
      </p:sp>
      <p:sp>
        <p:nvSpPr>
          <p:cNvPr id="12" name="Text 10"/>
          <p:cNvSpPr/>
          <p:nvPr/>
        </p:nvSpPr>
        <p:spPr>
          <a:xfrm>
            <a:off x="6878320" y="5493385"/>
            <a:ext cx="4667301" cy="1226820"/>
          </a:xfrm>
          <a:prstGeom prst="rect">
            <a:avLst/>
          </a:prstGeom>
          <a:noFill/>
          <a:ln/>
        </p:spPr>
        <p:txBody>
          <a:bodyPr wrap="square" lIns="25400" tIns="25400" rIns="25400" bIns="25400" rtlCol="0" anchor="t">
            <a:normAutofit/>
          </a:bodyPr>
          <a:lstStyle/>
          <a:p>
            <a:pPr algn="l" indent="0" marL="0">
              <a:lnSpc>
                <a:spcPct val="160000"/>
              </a:lnSpc>
              <a:buNone/>
            </a:pPr>
            <a:r>
              <a:rPr lang="en-US" sz="1950" dirty="0">
                <a:solidFill>
                  <a:srgbClr val="333333"/>
                </a:solidFill>
                <a:latin typeface="Arial" pitchFamily="34" charset="0"/>
                <a:ea typeface="Arial" pitchFamily="34" charset="-122"/>
                <a:cs typeface="Arial" pitchFamily="34" charset="-120"/>
              </a:rPr>
              <a:t>Rules-based signal detection against live portfolio data. Flags drift, threshold breaches, and mandate violations.</a:t>
            </a:r>
            <a:endParaRPr lang="en-US" sz="1950" dirty="0"/>
          </a:p>
        </p:txBody>
      </p:sp>
      <p:sp>
        <p:nvSpPr>
          <p:cNvPr id="13" name="Text 11"/>
          <p:cNvSpPr/>
          <p:nvPr/>
        </p:nvSpPr>
        <p:spPr>
          <a:xfrm>
            <a:off x="6878320" y="7329805"/>
            <a:ext cx="4667301" cy="830580"/>
          </a:xfrm>
          <a:prstGeom prst="rect">
            <a:avLst/>
          </a:prstGeom>
          <a:noFill/>
          <a:ln/>
        </p:spPr>
        <p:txBody>
          <a:bodyPr wrap="square" lIns="25400" tIns="25400" rIns="25400" bIns="25400" rtlCol="0" anchor="t">
            <a:normAutofit/>
          </a:bodyPr>
          <a:lstStyle/>
          <a:p>
            <a:pPr algn="l" indent="0" marL="0">
              <a:lnSpc>
                <a:spcPct val="160000"/>
              </a:lnSpc>
              <a:buNone/>
            </a:pPr>
            <a:r>
              <a:rPr lang="en-US" sz="1950" dirty="0">
                <a:solidFill>
                  <a:srgbClr val="333333"/>
                </a:solidFill>
                <a:latin typeface="Arial" pitchFamily="34" charset="0"/>
                <a:ea typeface="Arial" pitchFamily="34" charset="-122"/>
                <a:cs typeface="Arial" pitchFamily="34" charset="-120"/>
              </a:rPr>
              <a:t>Every flag traces to a specific rule and the data point that triggered it.</a:t>
            </a:r>
            <a:endParaRPr lang="en-US" sz="1950" dirty="0"/>
          </a:p>
        </p:txBody>
      </p:sp>
      <p:sp>
        <p:nvSpPr>
          <p:cNvPr id="14" name="Shape 12"/>
          <p:cNvSpPr/>
          <p:nvPr/>
        </p:nvSpPr>
        <p:spPr>
          <a:xfrm>
            <a:off x="6878320" y="8522335"/>
            <a:ext cx="4531360" cy="990600"/>
          </a:xfrm>
          <a:prstGeom prst="roundRect">
            <a:avLst>
              <a:gd name="adj" fmla="val 5769"/>
            </a:avLst>
          </a:prstGeom>
          <a:solidFill>
            <a:srgbClr val="00557E"/>
          </a:solidFill>
          <a:ln/>
        </p:spPr>
      </p:sp>
      <p:sp>
        <p:nvSpPr>
          <p:cNvPr id="15" name="Text 13"/>
          <p:cNvSpPr/>
          <p:nvPr/>
        </p:nvSpPr>
        <p:spPr>
          <a:xfrm>
            <a:off x="7030720" y="8846185"/>
            <a:ext cx="464921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No LLM. No inference.</a:t>
            </a:r>
            <a:endParaRPr lang="en-US" sz="1800" dirty="0"/>
          </a:p>
        </p:txBody>
      </p:sp>
      <p:sp>
        <p:nvSpPr>
          <p:cNvPr id="16" name="Shape 14"/>
          <p:cNvSpPr/>
          <p:nvPr/>
        </p:nvSpPr>
        <p:spPr>
          <a:xfrm>
            <a:off x="12045950" y="2933065"/>
            <a:ext cx="5194300" cy="5248910"/>
          </a:xfrm>
          <a:prstGeom prst="roundRect">
            <a:avLst>
              <a:gd name="adj" fmla="val 1467"/>
            </a:avLst>
          </a:prstGeom>
          <a:solidFill>
            <a:srgbClr val="F4F5F7"/>
          </a:solidFill>
          <a:ln w="7620">
            <a:solidFill>
              <a:srgbClr val="E0E0E0"/>
            </a:solidFill>
            <a:prstDash val="solid"/>
          </a:ln>
        </p:spPr>
      </p:sp>
      <p:sp>
        <p:nvSpPr>
          <p:cNvPr id="17" name="Text 15"/>
          <p:cNvSpPr/>
          <p:nvPr/>
        </p:nvSpPr>
        <p:spPr>
          <a:xfrm>
            <a:off x="12377420" y="3645535"/>
            <a:ext cx="4667301" cy="952500"/>
          </a:xfrm>
          <a:prstGeom prst="rect">
            <a:avLst/>
          </a:prstGeom>
          <a:noFill/>
          <a:ln/>
        </p:spPr>
        <p:txBody>
          <a:bodyPr wrap="square" lIns="25400" tIns="25400" rIns="25400" bIns="25400" rtlCol="0" anchor="t">
            <a:normAutofit/>
          </a:bodyPr>
          <a:lstStyle/>
          <a:p>
            <a:pPr algn="l" indent="0" marL="0">
              <a:lnSpc>
                <a:spcPct val="120000"/>
              </a:lnSpc>
              <a:buNone/>
            </a:pPr>
            <a:r>
              <a:rPr lang="en-US" sz="3000" b="1" dirty="0">
                <a:solidFill>
                  <a:srgbClr val="00557E"/>
                </a:solidFill>
                <a:latin typeface="Arial" pitchFamily="34" charset="0"/>
                <a:ea typeface="Arial" pitchFamily="34" charset="-122"/>
                <a:cs typeface="Arial" pitchFamily="34" charset="-120"/>
              </a:rPr>
              <a:t>Scenario Analysis</a:t>
            </a:r>
            <a:endParaRPr lang="en-US" sz="3000" dirty="0"/>
          </a:p>
        </p:txBody>
      </p:sp>
      <p:sp>
        <p:nvSpPr>
          <p:cNvPr id="18" name="Text 16"/>
          <p:cNvSpPr/>
          <p:nvPr/>
        </p:nvSpPr>
        <p:spPr>
          <a:xfrm>
            <a:off x="12377420" y="5493385"/>
            <a:ext cx="4667301" cy="1226820"/>
          </a:xfrm>
          <a:prstGeom prst="rect">
            <a:avLst/>
          </a:prstGeom>
          <a:noFill/>
          <a:ln/>
        </p:spPr>
        <p:txBody>
          <a:bodyPr wrap="square" lIns="25400" tIns="25400" rIns="25400" bIns="25400" rtlCol="0" anchor="t">
            <a:normAutofit/>
          </a:bodyPr>
          <a:lstStyle/>
          <a:p>
            <a:pPr algn="l" indent="0" marL="0">
              <a:lnSpc>
                <a:spcPct val="160000"/>
              </a:lnSpc>
              <a:buNone/>
            </a:pPr>
            <a:r>
              <a:rPr lang="en-US" sz="1950" dirty="0">
                <a:solidFill>
                  <a:srgbClr val="333333"/>
                </a:solidFill>
                <a:latin typeface="Arial" pitchFamily="34" charset="0"/>
                <a:ea typeface="Arial" pitchFamily="34" charset="-122"/>
                <a:cs typeface="Arial" pitchFamily="34" charset="-120"/>
              </a:rPr>
              <a:t>Parametric modelling across defined stress scenarios. Same inputs produce the same projected outcomes.</a:t>
            </a:r>
            <a:endParaRPr lang="en-US" sz="1950" dirty="0"/>
          </a:p>
        </p:txBody>
      </p:sp>
      <p:sp>
        <p:nvSpPr>
          <p:cNvPr id="19" name="Text 17"/>
          <p:cNvSpPr/>
          <p:nvPr/>
        </p:nvSpPr>
        <p:spPr>
          <a:xfrm>
            <a:off x="12377420" y="7329805"/>
            <a:ext cx="4667301" cy="830580"/>
          </a:xfrm>
          <a:prstGeom prst="rect">
            <a:avLst/>
          </a:prstGeom>
          <a:noFill/>
          <a:ln/>
        </p:spPr>
        <p:txBody>
          <a:bodyPr wrap="square" lIns="25400" tIns="25400" rIns="25400" bIns="25400" rtlCol="0" anchor="t">
            <a:normAutofit/>
          </a:bodyPr>
          <a:lstStyle/>
          <a:p>
            <a:pPr algn="l" indent="0" marL="0">
              <a:lnSpc>
                <a:spcPct val="160000"/>
              </a:lnSpc>
              <a:buNone/>
            </a:pPr>
            <a:r>
              <a:rPr lang="en-US" sz="1950" dirty="0">
                <a:solidFill>
                  <a:srgbClr val="333333"/>
                </a:solidFill>
                <a:latin typeface="Arial" pitchFamily="34" charset="0"/>
                <a:ea typeface="Arial" pitchFamily="34" charset="-122"/>
                <a:cs typeface="Arial" pitchFamily="34" charset="-120"/>
              </a:rPr>
              <a:t>Reproducible under any audit standard. No stochastic output.</a:t>
            </a:r>
            <a:endParaRPr lang="en-US" sz="1950" dirty="0"/>
          </a:p>
        </p:txBody>
      </p:sp>
      <p:sp>
        <p:nvSpPr>
          <p:cNvPr id="20" name="Shape 18"/>
          <p:cNvSpPr/>
          <p:nvPr/>
        </p:nvSpPr>
        <p:spPr>
          <a:xfrm>
            <a:off x="12377420" y="8522335"/>
            <a:ext cx="4531360" cy="990600"/>
          </a:xfrm>
          <a:prstGeom prst="roundRect">
            <a:avLst>
              <a:gd name="adj" fmla="val 5769"/>
            </a:avLst>
          </a:prstGeom>
          <a:solidFill>
            <a:srgbClr val="00557E"/>
          </a:solidFill>
          <a:ln/>
        </p:spPr>
      </p:sp>
      <p:sp>
        <p:nvSpPr>
          <p:cNvPr id="21" name="Text 19"/>
          <p:cNvSpPr/>
          <p:nvPr/>
        </p:nvSpPr>
        <p:spPr>
          <a:xfrm>
            <a:off x="12529820" y="8846185"/>
            <a:ext cx="464921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No LLM. No inference.</a:t>
            </a:r>
            <a:endParaRPr lang="en-US" sz="1800" dirty="0"/>
          </a:p>
        </p:txBody>
      </p:sp>
      <p:sp>
        <p:nvSpPr>
          <p:cNvPr id="22" name="Shape 20"/>
          <p:cNvSpPr/>
          <p:nvPr/>
        </p:nvSpPr>
        <p:spPr>
          <a:xfrm>
            <a:off x="1047750" y="8391525"/>
            <a:ext cx="16192500" cy="1171575"/>
          </a:xfrm>
          <a:prstGeom prst="rect">
            <a:avLst/>
          </a:prstGeom>
          <a:solidFill>
            <a:srgbClr val="F4F5F7"/>
          </a:solidFill>
          <a:ln/>
        </p:spPr>
      </p:sp>
      <p:sp>
        <p:nvSpPr>
          <p:cNvPr id="23" name="Shape 21"/>
          <p:cNvSpPr/>
          <p:nvPr/>
        </p:nvSpPr>
        <p:spPr>
          <a:xfrm>
            <a:off x="1047750" y="8391525"/>
            <a:ext cx="38100" cy="1171575"/>
          </a:xfrm>
          <a:prstGeom prst="rect">
            <a:avLst/>
          </a:prstGeom>
          <a:solidFill>
            <a:srgbClr val="60C094"/>
          </a:solidFill>
          <a:ln/>
        </p:spPr>
      </p:sp>
      <p:sp>
        <p:nvSpPr>
          <p:cNvPr id="24" name="Text 22"/>
          <p:cNvSpPr/>
          <p:nvPr/>
        </p:nvSpPr>
        <p:spPr>
          <a:xfrm>
            <a:off x="1352550" y="8791575"/>
            <a:ext cx="1718310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A2535"/>
                </a:solidFill>
                <a:latin typeface="Arial" pitchFamily="34" charset="0"/>
                <a:ea typeface="Arial" pitchFamily="34" charset="-122"/>
                <a:cs typeface="Arial" pitchFamily="34" charset="-120"/>
              </a:rPr>
              <a:t>No generative output. No AI governance layer required. Outputs are auditable, reproducible, and regulator-explainable.</a:t>
            </a:r>
            <a:endParaRPr lang="en-US" sz="1950" dirty="0"/>
          </a:p>
        </p:txBody>
      </p:sp>
      <p:pic>
        <p:nvPicPr>
          <p:cNvPr id="25"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04 · TRACK A</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AI-Native Features: Portfolio IQ and the Client Lifecycle Agent</a:t>
            </a:r>
            <a:endParaRPr lang="en-US" sz="4350" dirty="0"/>
          </a:p>
        </p:txBody>
      </p:sp>
      <p:sp>
        <p:nvSpPr>
          <p:cNvPr id="4" name="Shape 2"/>
          <p:cNvSpPr/>
          <p:nvPr/>
        </p:nvSpPr>
        <p:spPr>
          <a:xfrm>
            <a:off x="1047750" y="2933065"/>
            <a:ext cx="9377204" cy="6630035"/>
          </a:xfrm>
          <a:prstGeom prst="roundRect">
            <a:avLst>
              <a:gd name="adj" fmla="val 1149"/>
            </a:avLst>
          </a:prstGeom>
          <a:solidFill>
            <a:srgbClr val="EAF5F0"/>
          </a:solidFill>
          <a:ln w="7620">
            <a:solidFill>
              <a:srgbClr val="60C094"/>
            </a:solidFill>
            <a:prstDash val="solid"/>
          </a:ln>
        </p:spPr>
      </p:sp>
      <p:sp>
        <p:nvSpPr>
          <p:cNvPr id="5" name="Text 3"/>
          <p:cNvSpPr/>
          <p:nvPr/>
        </p:nvSpPr>
        <p:spPr>
          <a:xfrm>
            <a:off x="1379220" y="3493135"/>
            <a:ext cx="958569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PORTFOLIO IQ</a:t>
            </a:r>
            <a:endParaRPr lang="en-US" sz="1800" dirty="0"/>
          </a:p>
        </p:txBody>
      </p:sp>
      <p:sp>
        <p:nvSpPr>
          <p:cNvPr id="6" name="Text 4"/>
          <p:cNvSpPr/>
          <p:nvPr/>
        </p:nvSpPr>
        <p:spPr>
          <a:xfrm>
            <a:off x="1379220" y="4064635"/>
            <a:ext cx="958569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LLM-generated portfolio intelligence</a:t>
            </a:r>
            <a:endParaRPr lang="en-US" sz="1800" dirty="0"/>
          </a:p>
        </p:txBody>
      </p:sp>
      <p:sp>
        <p:nvSpPr>
          <p:cNvPr id="7" name="Shape 5"/>
          <p:cNvSpPr/>
          <p:nvPr/>
        </p:nvSpPr>
        <p:spPr>
          <a:xfrm>
            <a:off x="1379220" y="4979035"/>
            <a:ext cx="4309586" cy="1996440"/>
          </a:xfrm>
          <a:prstGeom prst="roundRect">
            <a:avLst>
              <a:gd name="adj" fmla="val 2863"/>
            </a:avLst>
          </a:prstGeom>
          <a:solidFill>
            <a:srgbClr val="FFFFFF"/>
          </a:solidFill>
          <a:ln w="7620">
            <a:solidFill>
              <a:srgbClr val="D0ECE0"/>
            </a:solidFill>
            <a:prstDash val="solid"/>
          </a:ln>
        </p:spPr>
      </p:sp>
      <p:sp>
        <p:nvSpPr>
          <p:cNvPr id="8" name="Text 6"/>
          <p:cNvSpPr/>
          <p:nvPr/>
        </p:nvSpPr>
        <p:spPr>
          <a:xfrm>
            <a:off x="1558290" y="5348605"/>
            <a:ext cx="434659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UC-1 Portfolio Summary</a:t>
            </a:r>
            <a:endParaRPr lang="en-US" sz="1800" dirty="0"/>
          </a:p>
        </p:txBody>
      </p:sp>
      <p:sp>
        <p:nvSpPr>
          <p:cNvPr id="9" name="Text 7"/>
          <p:cNvSpPr/>
          <p:nvPr/>
        </p:nvSpPr>
        <p:spPr>
          <a:xfrm>
            <a:off x="1558290" y="5920105"/>
            <a:ext cx="406998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Plain-language composition + performance</a:t>
            </a:r>
            <a:endParaRPr lang="en-US" sz="1800" dirty="0"/>
          </a:p>
        </p:txBody>
      </p:sp>
      <p:sp>
        <p:nvSpPr>
          <p:cNvPr id="10" name="Shape 8"/>
          <p:cNvSpPr/>
          <p:nvPr/>
        </p:nvSpPr>
        <p:spPr>
          <a:xfrm>
            <a:off x="5784056" y="4979035"/>
            <a:ext cx="4309586" cy="1996440"/>
          </a:xfrm>
          <a:prstGeom prst="roundRect">
            <a:avLst>
              <a:gd name="adj" fmla="val 2863"/>
            </a:avLst>
          </a:prstGeom>
          <a:solidFill>
            <a:srgbClr val="FFFFFF"/>
          </a:solidFill>
          <a:ln w="7620">
            <a:solidFill>
              <a:srgbClr val="D0ECE0"/>
            </a:solidFill>
            <a:prstDash val="solid"/>
          </a:ln>
        </p:spPr>
      </p:sp>
      <p:sp>
        <p:nvSpPr>
          <p:cNvPr id="11" name="Text 9"/>
          <p:cNvSpPr/>
          <p:nvPr/>
        </p:nvSpPr>
        <p:spPr>
          <a:xfrm>
            <a:off x="5963126" y="5348605"/>
            <a:ext cx="434659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UC-2 CIO View</a:t>
            </a:r>
            <a:endParaRPr lang="en-US" sz="1800" dirty="0"/>
          </a:p>
        </p:txBody>
      </p:sp>
      <p:sp>
        <p:nvSpPr>
          <p:cNvPr id="12" name="Text 10"/>
          <p:cNvSpPr/>
          <p:nvPr/>
        </p:nvSpPr>
        <p:spPr>
          <a:xfrm>
            <a:off x="5963126" y="5920105"/>
            <a:ext cx="406998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Strategic framing against market conditions</a:t>
            </a:r>
            <a:endParaRPr lang="en-US" sz="1800" dirty="0"/>
          </a:p>
        </p:txBody>
      </p:sp>
      <p:sp>
        <p:nvSpPr>
          <p:cNvPr id="13" name="Shape 11"/>
          <p:cNvSpPr/>
          <p:nvPr/>
        </p:nvSpPr>
        <p:spPr>
          <a:xfrm>
            <a:off x="1379220" y="7070725"/>
            <a:ext cx="4309586" cy="1996440"/>
          </a:xfrm>
          <a:prstGeom prst="roundRect">
            <a:avLst>
              <a:gd name="adj" fmla="val 2863"/>
            </a:avLst>
          </a:prstGeom>
          <a:solidFill>
            <a:srgbClr val="FFFFFF"/>
          </a:solidFill>
          <a:ln w="7620">
            <a:solidFill>
              <a:srgbClr val="D0ECE0"/>
            </a:solidFill>
            <a:prstDash val="solid"/>
          </a:ln>
        </p:spPr>
      </p:sp>
      <p:sp>
        <p:nvSpPr>
          <p:cNvPr id="14" name="Text 12"/>
          <p:cNvSpPr/>
          <p:nvPr/>
        </p:nvSpPr>
        <p:spPr>
          <a:xfrm>
            <a:off x="1558290" y="7440295"/>
            <a:ext cx="434659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UC-3 AI Insights</a:t>
            </a:r>
            <a:endParaRPr lang="en-US" sz="1800" dirty="0"/>
          </a:p>
        </p:txBody>
      </p:sp>
      <p:sp>
        <p:nvSpPr>
          <p:cNvPr id="15" name="Text 13"/>
          <p:cNvSpPr/>
          <p:nvPr/>
        </p:nvSpPr>
        <p:spPr>
          <a:xfrm>
            <a:off x="1558290" y="8011795"/>
            <a:ext cx="434659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Cross-holding patterns and anomalies</a:t>
            </a:r>
            <a:endParaRPr lang="en-US" sz="1800" dirty="0"/>
          </a:p>
        </p:txBody>
      </p:sp>
      <p:sp>
        <p:nvSpPr>
          <p:cNvPr id="16" name="Shape 14"/>
          <p:cNvSpPr/>
          <p:nvPr/>
        </p:nvSpPr>
        <p:spPr>
          <a:xfrm>
            <a:off x="5784056" y="7070725"/>
            <a:ext cx="4309586" cy="1996440"/>
          </a:xfrm>
          <a:prstGeom prst="roundRect">
            <a:avLst>
              <a:gd name="adj" fmla="val 2863"/>
            </a:avLst>
          </a:prstGeom>
          <a:solidFill>
            <a:srgbClr val="FFFFFF"/>
          </a:solidFill>
          <a:ln w="7620">
            <a:solidFill>
              <a:srgbClr val="D0ECE0"/>
            </a:solidFill>
            <a:prstDash val="solid"/>
          </a:ln>
        </p:spPr>
      </p:sp>
      <p:sp>
        <p:nvSpPr>
          <p:cNvPr id="17" name="Text 15"/>
          <p:cNvSpPr/>
          <p:nvPr/>
        </p:nvSpPr>
        <p:spPr>
          <a:xfrm>
            <a:off x="5963126" y="7440295"/>
            <a:ext cx="434659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UC-4 Risk Insights</a:t>
            </a:r>
            <a:endParaRPr lang="en-US" sz="1800" dirty="0"/>
          </a:p>
        </p:txBody>
      </p:sp>
      <p:sp>
        <p:nvSpPr>
          <p:cNvPr id="18" name="Text 16"/>
          <p:cNvSpPr/>
          <p:nvPr/>
        </p:nvSpPr>
        <p:spPr>
          <a:xfrm>
            <a:off x="5963126" y="8011795"/>
            <a:ext cx="406998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Narrative risk exposure and mandate positioning</a:t>
            </a:r>
            <a:endParaRPr lang="en-US" sz="1800" dirty="0"/>
          </a:p>
        </p:txBody>
      </p:sp>
      <p:sp>
        <p:nvSpPr>
          <p:cNvPr id="19" name="Shape 17"/>
          <p:cNvSpPr/>
          <p:nvPr/>
        </p:nvSpPr>
        <p:spPr>
          <a:xfrm>
            <a:off x="1379220" y="9162415"/>
            <a:ext cx="8714423" cy="1653540"/>
          </a:xfrm>
          <a:prstGeom prst="roundRect">
            <a:avLst>
              <a:gd name="adj" fmla="val 3456"/>
            </a:avLst>
          </a:prstGeom>
          <a:solidFill>
            <a:srgbClr val="FFFFFF"/>
          </a:solidFill>
          <a:ln w="7620">
            <a:solidFill>
              <a:srgbClr val="D0ECE0"/>
            </a:solidFill>
            <a:prstDash val="solid"/>
          </a:ln>
        </p:spPr>
      </p:sp>
      <p:sp>
        <p:nvSpPr>
          <p:cNvPr id="20" name="Text 18"/>
          <p:cNvSpPr/>
          <p:nvPr/>
        </p:nvSpPr>
        <p:spPr>
          <a:xfrm>
            <a:off x="1558290" y="9531985"/>
            <a:ext cx="919191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UC-5 Composition Insights</a:t>
            </a:r>
            <a:endParaRPr lang="en-US" sz="1800" dirty="0"/>
          </a:p>
        </p:txBody>
      </p:sp>
      <p:sp>
        <p:nvSpPr>
          <p:cNvPr id="21" name="Text 19"/>
          <p:cNvSpPr/>
          <p:nvPr/>
        </p:nvSpPr>
        <p:spPr>
          <a:xfrm>
            <a:off x="1558290" y="10103486"/>
            <a:ext cx="919191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Asset class and sector-level analysis in client-accessible language</a:t>
            </a:r>
            <a:endParaRPr lang="en-US" sz="1800" dirty="0"/>
          </a:p>
        </p:txBody>
      </p:sp>
      <p:sp>
        <p:nvSpPr>
          <p:cNvPr id="22" name="Shape 20"/>
          <p:cNvSpPr/>
          <p:nvPr/>
        </p:nvSpPr>
        <p:spPr>
          <a:xfrm>
            <a:off x="1379220" y="10987405"/>
            <a:ext cx="8714263" cy="1028700"/>
          </a:xfrm>
          <a:prstGeom prst="roundRect">
            <a:avLst>
              <a:gd name="adj" fmla="val 5556"/>
            </a:avLst>
          </a:prstGeom>
          <a:solidFill>
            <a:srgbClr val="00557E"/>
          </a:solidFill>
          <a:ln/>
        </p:spPr>
      </p:sp>
      <p:sp>
        <p:nvSpPr>
          <p:cNvPr id="23" name="Text 21"/>
          <p:cNvSpPr/>
          <p:nvPr/>
        </p:nvSpPr>
        <p:spPr>
          <a:xfrm>
            <a:off x="1569720" y="11330305"/>
            <a:ext cx="7812199"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Status: </a:t>
            </a:r>
            <a:pPr algn="l" indent="0" marL="0">
              <a:lnSpc>
                <a:spcPct val="150000"/>
              </a:lnSpc>
              <a:buNone/>
            </a:pPr>
            <a:r>
              <a:rPr lang="en-US" sz="1800" b="1" dirty="0">
                <a:solidFill>
                  <a:srgbClr val="FFFFFF"/>
                </a:solidFill>
                <a:latin typeface="Arial" pitchFamily="34" charset="0"/>
                <a:ea typeface="Arial" pitchFamily="34" charset="-122"/>
                <a:cs typeface="Arial" pitchFamily="34" charset="-120"/>
              </a:rPr>
              <a:t>In SIT </a:t>
            </a:r>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 Audit trail active · Override UI: Accept / Modify / Reject</a:t>
            </a:r>
            <a:endParaRPr lang="en-US" sz="1800" dirty="0"/>
          </a:p>
        </p:txBody>
      </p:sp>
      <p:sp>
        <p:nvSpPr>
          <p:cNvPr id="24" name="Shape 22"/>
          <p:cNvSpPr/>
          <p:nvPr/>
        </p:nvSpPr>
        <p:spPr>
          <a:xfrm>
            <a:off x="10767854" y="2933065"/>
            <a:ext cx="6472396" cy="6630035"/>
          </a:xfrm>
          <a:prstGeom prst="roundRect">
            <a:avLst>
              <a:gd name="adj" fmla="val 1177"/>
            </a:avLst>
          </a:prstGeom>
          <a:solidFill>
            <a:srgbClr val="F4F5F7"/>
          </a:solidFill>
          <a:ln w="7620">
            <a:solidFill>
              <a:srgbClr val="E0E0E0"/>
            </a:solidFill>
            <a:prstDash val="solid"/>
          </a:ln>
        </p:spPr>
      </p:sp>
      <p:sp>
        <p:nvSpPr>
          <p:cNvPr id="25" name="Text 23"/>
          <p:cNvSpPr/>
          <p:nvPr/>
        </p:nvSpPr>
        <p:spPr>
          <a:xfrm>
            <a:off x="11099324" y="3493135"/>
            <a:ext cx="639040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CLIENT LIFECYCLE AGENT</a:t>
            </a:r>
            <a:endParaRPr lang="en-US" sz="1800" dirty="0"/>
          </a:p>
        </p:txBody>
      </p:sp>
      <p:sp>
        <p:nvSpPr>
          <p:cNvPr id="26" name="Text 24"/>
          <p:cNvSpPr/>
          <p:nvPr/>
        </p:nvSpPr>
        <p:spPr>
          <a:xfrm>
            <a:off x="11099324" y="4064635"/>
            <a:ext cx="639040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AI-driven client engagement</a:t>
            </a:r>
            <a:endParaRPr lang="en-US" sz="1800" dirty="0"/>
          </a:p>
        </p:txBody>
      </p:sp>
      <p:sp>
        <p:nvSpPr>
          <p:cNvPr id="27" name="Text 25"/>
          <p:cNvSpPr/>
          <p:nvPr/>
        </p:nvSpPr>
        <p:spPr>
          <a:xfrm>
            <a:off x="11099324" y="5226685"/>
            <a:ext cx="639040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CRM-integrated engagement automation</a:t>
            </a:r>
            <a:endParaRPr lang="en-US" sz="1950" dirty="0"/>
          </a:p>
        </p:txBody>
      </p:sp>
      <p:sp>
        <p:nvSpPr>
          <p:cNvPr id="28" name="Text 26"/>
          <p:cNvSpPr/>
          <p:nvPr/>
        </p:nvSpPr>
        <p:spPr>
          <a:xfrm>
            <a:off x="11099324" y="6226810"/>
            <a:ext cx="639040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Proactive opportunity identification</a:t>
            </a:r>
            <a:endParaRPr lang="en-US" sz="1950" dirty="0"/>
          </a:p>
        </p:txBody>
      </p:sp>
      <p:sp>
        <p:nvSpPr>
          <p:cNvPr id="29" name="Text 27"/>
          <p:cNvSpPr/>
          <p:nvPr/>
        </p:nvSpPr>
        <p:spPr>
          <a:xfrm>
            <a:off x="11099324" y="7226935"/>
            <a:ext cx="639040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Product proposal drafting surfaced to RM for review</a:t>
            </a:r>
            <a:endParaRPr lang="en-US" sz="1950" dirty="0"/>
          </a:p>
        </p:txBody>
      </p:sp>
      <p:sp>
        <p:nvSpPr>
          <p:cNvPr id="30" name="Shape 28"/>
          <p:cNvSpPr/>
          <p:nvPr/>
        </p:nvSpPr>
        <p:spPr>
          <a:xfrm>
            <a:off x="11099324" y="8017510"/>
            <a:ext cx="5809456" cy="1028700"/>
          </a:xfrm>
          <a:prstGeom prst="roundRect">
            <a:avLst>
              <a:gd name="adj" fmla="val 5556"/>
            </a:avLst>
          </a:prstGeom>
          <a:solidFill>
            <a:srgbClr val="3D505D"/>
          </a:solidFill>
          <a:ln/>
        </p:spPr>
      </p:sp>
      <p:sp>
        <p:nvSpPr>
          <p:cNvPr id="31" name="Text 29"/>
          <p:cNvSpPr/>
          <p:nvPr/>
        </p:nvSpPr>
        <p:spPr>
          <a:xfrm>
            <a:off x="11270774" y="8360410"/>
            <a:ext cx="601321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Differentiator capability · Forward-looking roadmap</a:t>
            </a:r>
            <a:endParaRPr lang="en-US" sz="1800" dirty="0"/>
          </a:p>
        </p:txBody>
      </p:sp>
      <p:sp>
        <p:nvSpPr>
          <p:cNvPr id="32" name="Shape 30"/>
          <p:cNvSpPr/>
          <p:nvPr/>
        </p:nvSpPr>
        <p:spPr>
          <a:xfrm>
            <a:off x="11099324" y="9217660"/>
            <a:ext cx="5809456" cy="1386840"/>
          </a:xfrm>
          <a:prstGeom prst="roundRect">
            <a:avLst>
              <a:gd name="adj" fmla="val 4121"/>
            </a:avLst>
          </a:prstGeom>
          <a:solidFill>
            <a:srgbClr val="FFFFFF"/>
          </a:solidFill>
          <a:ln w="7620">
            <a:solidFill>
              <a:srgbClr val="E0E0E0"/>
            </a:solidFill>
            <a:prstDash val="solid"/>
          </a:ln>
        </p:spPr>
      </p:sp>
      <p:sp>
        <p:nvSpPr>
          <p:cNvPr id="33" name="Text 31"/>
          <p:cNvSpPr/>
          <p:nvPr/>
        </p:nvSpPr>
        <p:spPr>
          <a:xfrm>
            <a:off x="11278394" y="9568180"/>
            <a:ext cx="5614856"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These features call LLMs. A different governance tier applies — detailed in the compliance section.</a:t>
            </a:r>
            <a:endParaRPr lang="en-US" sz="1800" dirty="0"/>
          </a:p>
        </p:txBody>
      </p:sp>
      <p:pic>
        <p:nvPicPr>
          <p:cNvPr id="34"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04 · TRACK A</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Privé Agent: Natural Language Intelligence Across the Platform</a:t>
            </a:r>
            <a:endParaRPr lang="en-US" sz="4350" dirty="0"/>
          </a:p>
        </p:txBody>
      </p:sp>
      <p:sp>
        <p:nvSpPr>
          <p:cNvPr id="4" name="Shape 2"/>
          <p:cNvSpPr/>
          <p:nvPr/>
        </p:nvSpPr>
        <p:spPr>
          <a:xfrm>
            <a:off x="1047750" y="2933065"/>
            <a:ext cx="16192500" cy="1990725"/>
          </a:xfrm>
          <a:prstGeom prst="roundRect">
            <a:avLst>
              <a:gd name="adj" fmla="val 3828"/>
            </a:avLst>
          </a:prstGeom>
          <a:solidFill>
            <a:srgbClr val="1A2535"/>
          </a:solidFill>
          <a:ln/>
        </p:spPr>
      </p:sp>
      <p:sp>
        <p:nvSpPr>
          <p:cNvPr id="5" name="Text 3"/>
          <p:cNvSpPr/>
          <p:nvPr/>
        </p:nvSpPr>
        <p:spPr>
          <a:xfrm>
            <a:off x="1390650" y="3371215"/>
            <a:ext cx="1705737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60C094"/>
                </a:solidFill>
                <a:latin typeface="Arial" pitchFamily="34" charset="0"/>
                <a:ea typeface="Arial" pitchFamily="34" charset="-122"/>
                <a:cs typeface="Arial" pitchFamily="34" charset="-120"/>
              </a:rPr>
              <a:t>RM ASKS IN PLAIN LANGUAGE:</a:t>
            </a:r>
            <a:endParaRPr lang="en-US" sz="1800" dirty="0"/>
          </a:p>
        </p:txBody>
      </p:sp>
      <p:sp>
        <p:nvSpPr>
          <p:cNvPr id="6" name="Text 4"/>
          <p:cNvSpPr/>
          <p:nvPr/>
        </p:nvSpPr>
        <p:spPr>
          <a:xfrm>
            <a:off x="1390650" y="3999865"/>
            <a:ext cx="17057370"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i="1" dirty="0">
                <a:solidFill>
                  <a:srgbClr val="FFFFFF"/>
                </a:solidFill>
                <a:latin typeface="Arial" pitchFamily="34" charset="0"/>
                <a:ea typeface="Arial" pitchFamily="34" charset="-122"/>
                <a:cs typeface="Arial" pitchFamily="34" charset="-120"/>
              </a:rPr>
              <a:t>"Show me clients with equity concentration above mandate and flag any with a review due this quarter."</a:t>
            </a:r>
            <a:endParaRPr lang="en-US" sz="2250" dirty="0"/>
          </a:p>
        </p:txBody>
      </p:sp>
      <p:sp>
        <p:nvSpPr>
          <p:cNvPr id="7" name="Shape 5"/>
          <p:cNvSpPr/>
          <p:nvPr/>
        </p:nvSpPr>
        <p:spPr>
          <a:xfrm>
            <a:off x="1047750" y="4839970"/>
            <a:ext cx="6531927" cy="3673475"/>
          </a:xfrm>
          <a:prstGeom prst="roundRect">
            <a:avLst>
              <a:gd name="adj" fmla="val 2074"/>
            </a:avLst>
          </a:prstGeom>
          <a:solidFill>
            <a:srgbClr val="EAF5F0"/>
          </a:solidFill>
          <a:ln w="7620">
            <a:solidFill>
              <a:srgbClr val="60C094"/>
            </a:solidFill>
            <a:prstDash val="solid"/>
          </a:ln>
        </p:spPr>
      </p:sp>
      <p:sp>
        <p:nvSpPr>
          <p:cNvPr id="8" name="Text 6"/>
          <p:cNvSpPr/>
          <p:nvPr/>
        </p:nvSpPr>
        <p:spPr>
          <a:xfrm>
            <a:off x="1360170" y="5533390"/>
            <a:ext cx="6497796" cy="609600"/>
          </a:xfrm>
          <a:prstGeom prst="rect">
            <a:avLst/>
          </a:prstGeom>
          <a:noFill/>
          <a:ln/>
        </p:spPr>
        <p:txBody>
          <a:bodyPr wrap="square" lIns="25400" tIns="25400" rIns="25400" bIns="25400" rtlCol="0" anchor="t">
            <a:normAutofit/>
          </a:bodyPr>
          <a:lstStyle/>
          <a:p>
            <a:pPr algn="l" indent="0" marL="0">
              <a:lnSpc>
                <a:spcPct val="150000"/>
              </a:lnSpc>
              <a:buNone/>
            </a:pPr>
            <a:r>
              <a:rPr lang="en-US" sz="3000" b="1" dirty="0">
                <a:solidFill>
                  <a:srgbClr val="00557E"/>
                </a:solidFill>
                <a:latin typeface="Arial" pitchFamily="34" charset="0"/>
                <a:ea typeface="Arial" pitchFamily="34" charset="-122"/>
                <a:cs typeface="Arial" pitchFamily="34" charset="-120"/>
              </a:rPr>
              <a:t>Privé Agent</a:t>
            </a:r>
            <a:endParaRPr lang="en-US" sz="3000" dirty="0"/>
          </a:p>
        </p:txBody>
      </p:sp>
      <p:sp>
        <p:nvSpPr>
          <p:cNvPr id="9" name="Text 7"/>
          <p:cNvSpPr/>
          <p:nvPr/>
        </p:nvSpPr>
        <p:spPr>
          <a:xfrm>
            <a:off x="1360170" y="6790690"/>
            <a:ext cx="75057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60C094"/>
                </a:solidFill>
                <a:latin typeface="Arial" pitchFamily="34" charset="0"/>
                <a:ea typeface="Arial" pitchFamily="34" charset="-122"/>
                <a:cs typeface="Arial" pitchFamily="34" charset="-120"/>
              </a:rPr>
              <a:t>Query</a:t>
            </a:r>
            <a:endParaRPr lang="en-US" sz="1950" dirty="0"/>
          </a:p>
        </p:txBody>
      </p:sp>
      <p:sp>
        <p:nvSpPr>
          <p:cNvPr id="10" name="Text 8"/>
          <p:cNvSpPr/>
          <p:nvPr/>
        </p:nvSpPr>
        <p:spPr>
          <a:xfrm>
            <a:off x="2167890" y="7038340"/>
            <a:ext cx="525234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Interprets intent → queries platform data → returns structured result</a:t>
            </a:r>
            <a:endParaRPr lang="en-US" sz="1950" dirty="0"/>
          </a:p>
        </p:txBody>
      </p:sp>
      <p:sp>
        <p:nvSpPr>
          <p:cNvPr id="11" name="Text 9"/>
          <p:cNvSpPr/>
          <p:nvPr/>
        </p:nvSpPr>
        <p:spPr>
          <a:xfrm>
            <a:off x="1360170" y="8162290"/>
            <a:ext cx="43402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60C094"/>
                </a:solidFill>
                <a:latin typeface="Arial" pitchFamily="34" charset="0"/>
                <a:ea typeface="Arial" pitchFamily="34" charset="-122"/>
                <a:cs typeface="Arial" pitchFamily="34" charset="-120"/>
              </a:rPr>
              <a:t>Act</a:t>
            </a:r>
            <a:endParaRPr lang="en-US" sz="1950" dirty="0"/>
          </a:p>
        </p:txBody>
      </p:sp>
      <p:sp>
        <p:nvSpPr>
          <p:cNvPr id="12" name="Text 10"/>
          <p:cNvSpPr/>
          <p:nvPr/>
        </p:nvSpPr>
        <p:spPr>
          <a:xfrm>
            <a:off x="1851343" y="8409940"/>
            <a:ext cx="5578392"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Schedule a review, flag a client, draft a portfolio summary for RM review</a:t>
            </a:r>
            <a:endParaRPr lang="en-US" sz="1950" dirty="0"/>
          </a:p>
        </p:txBody>
      </p:sp>
      <p:sp>
        <p:nvSpPr>
          <p:cNvPr id="13" name="Text 11"/>
          <p:cNvSpPr/>
          <p:nvPr/>
        </p:nvSpPr>
        <p:spPr>
          <a:xfrm>
            <a:off x="1360170" y="9533890"/>
            <a:ext cx="1026319"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60C094"/>
                </a:solidFill>
                <a:latin typeface="Arial" pitchFamily="34" charset="0"/>
                <a:ea typeface="Arial" pitchFamily="34" charset="-122"/>
                <a:cs typeface="Arial" pitchFamily="34" charset="-120"/>
              </a:rPr>
              <a:t>Escalate</a:t>
            </a:r>
            <a:endParaRPr lang="en-US" sz="1950" dirty="0"/>
          </a:p>
        </p:txBody>
      </p:sp>
      <p:sp>
        <p:nvSpPr>
          <p:cNvPr id="14" name="Text 12"/>
          <p:cNvSpPr/>
          <p:nvPr/>
        </p:nvSpPr>
        <p:spPr>
          <a:xfrm>
            <a:off x="2443639" y="9781540"/>
            <a:ext cx="4968327"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Where RM judgment is required, presents result with a clear escalation path</a:t>
            </a:r>
            <a:endParaRPr lang="en-US" sz="1950" dirty="0"/>
          </a:p>
        </p:txBody>
      </p:sp>
      <p:sp>
        <p:nvSpPr>
          <p:cNvPr id="15" name="Text 13"/>
          <p:cNvSpPr/>
          <p:nvPr/>
        </p:nvSpPr>
        <p:spPr>
          <a:xfrm>
            <a:off x="7808277" y="6419533"/>
            <a:ext cx="419100" cy="552450"/>
          </a:xfrm>
          <a:prstGeom prst="rect">
            <a:avLst/>
          </a:prstGeom>
          <a:noFill/>
          <a:ln/>
        </p:spPr>
        <p:txBody>
          <a:bodyPr wrap="square" lIns="25400" tIns="25400" rIns="25400" bIns="25400" rtlCol="0" anchor="t">
            <a:normAutofit/>
          </a:bodyPr>
          <a:lstStyle/>
          <a:p>
            <a:pPr algn="l" indent="0" marL="0">
              <a:lnSpc>
                <a:spcPct val="150000"/>
              </a:lnSpc>
              <a:buNone/>
            </a:pPr>
            <a:r>
              <a:rPr lang="en-US" sz="2700" dirty="0">
                <a:solidFill>
                  <a:srgbClr val="60C094"/>
                </a:solidFill>
                <a:latin typeface="Arial" pitchFamily="34" charset="0"/>
                <a:ea typeface="Arial" pitchFamily="34" charset="-122"/>
                <a:cs typeface="Arial" pitchFamily="34" charset="-120"/>
              </a:rPr>
              <a:t>→</a:t>
            </a:r>
            <a:endParaRPr lang="en-US" sz="2700" dirty="0"/>
          </a:p>
        </p:txBody>
      </p:sp>
      <p:sp>
        <p:nvSpPr>
          <p:cNvPr id="16" name="Shape 14"/>
          <p:cNvSpPr/>
          <p:nvPr/>
        </p:nvSpPr>
        <p:spPr>
          <a:xfrm>
            <a:off x="8379777" y="5152390"/>
            <a:ext cx="8860473" cy="2177415"/>
          </a:xfrm>
          <a:prstGeom prst="roundRect">
            <a:avLst>
              <a:gd name="adj" fmla="val 3500"/>
            </a:avLst>
          </a:prstGeom>
          <a:solidFill>
            <a:srgbClr val="F4F5F7"/>
          </a:solidFill>
          <a:ln w="7620">
            <a:solidFill>
              <a:srgbClr val="E0E0E0"/>
            </a:solidFill>
            <a:prstDash val="solid"/>
          </a:ln>
        </p:spPr>
      </p:sp>
      <p:sp>
        <p:nvSpPr>
          <p:cNvPr id="17" name="Text 15"/>
          <p:cNvSpPr/>
          <p:nvPr/>
        </p:nvSpPr>
        <p:spPr>
          <a:xfrm>
            <a:off x="8654097" y="5598160"/>
            <a:ext cx="914301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00557E"/>
                </a:solidFill>
                <a:latin typeface="Arial" pitchFamily="34" charset="0"/>
                <a:ea typeface="Arial" pitchFamily="34" charset="-122"/>
                <a:cs typeface="Arial" pitchFamily="34" charset="-120"/>
              </a:rPr>
              <a:t>PORTFOLIO DATA</a:t>
            </a:r>
            <a:endParaRPr lang="en-US" sz="1800" dirty="0"/>
          </a:p>
        </p:txBody>
      </p:sp>
      <p:sp>
        <p:nvSpPr>
          <p:cNvPr id="18" name="Text 16"/>
          <p:cNvSpPr/>
          <p:nvPr/>
        </p:nvSpPr>
        <p:spPr>
          <a:xfrm>
            <a:off x="8654097" y="6493510"/>
            <a:ext cx="9143015"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Live holdings, concentration, performance</a:t>
            </a:r>
            <a:endParaRPr lang="en-US" sz="1950" dirty="0"/>
          </a:p>
        </p:txBody>
      </p:sp>
      <p:sp>
        <p:nvSpPr>
          <p:cNvPr id="19" name="Shape 17"/>
          <p:cNvSpPr/>
          <p:nvPr/>
        </p:nvSpPr>
        <p:spPr>
          <a:xfrm>
            <a:off x="8379777" y="7463155"/>
            <a:ext cx="8860473" cy="2177415"/>
          </a:xfrm>
          <a:prstGeom prst="roundRect">
            <a:avLst>
              <a:gd name="adj" fmla="val 3500"/>
            </a:avLst>
          </a:prstGeom>
          <a:solidFill>
            <a:srgbClr val="F4F5F7"/>
          </a:solidFill>
          <a:ln w="7620">
            <a:solidFill>
              <a:srgbClr val="E0E0E0"/>
            </a:solidFill>
            <a:prstDash val="solid"/>
          </a:ln>
        </p:spPr>
      </p:sp>
      <p:sp>
        <p:nvSpPr>
          <p:cNvPr id="20" name="Text 18"/>
          <p:cNvSpPr/>
          <p:nvPr/>
        </p:nvSpPr>
        <p:spPr>
          <a:xfrm>
            <a:off x="8654097" y="7908925"/>
            <a:ext cx="914301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00557E"/>
                </a:solidFill>
                <a:latin typeface="Arial" pitchFamily="34" charset="0"/>
                <a:ea typeface="Arial" pitchFamily="34" charset="-122"/>
                <a:cs typeface="Arial" pitchFamily="34" charset="-120"/>
              </a:rPr>
              <a:t>HEALTH CHECK FLAGS</a:t>
            </a:r>
            <a:endParaRPr lang="en-US" sz="1800" dirty="0"/>
          </a:p>
        </p:txBody>
      </p:sp>
      <p:sp>
        <p:nvSpPr>
          <p:cNvPr id="21" name="Text 19"/>
          <p:cNvSpPr/>
          <p:nvPr/>
        </p:nvSpPr>
        <p:spPr>
          <a:xfrm>
            <a:off x="8654097" y="8804275"/>
            <a:ext cx="9143015"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Mandate breaches, drift alerts, threshold triggers</a:t>
            </a:r>
            <a:endParaRPr lang="en-US" sz="1950" dirty="0"/>
          </a:p>
        </p:txBody>
      </p:sp>
      <p:sp>
        <p:nvSpPr>
          <p:cNvPr id="22" name="Shape 20"/>
          <p:cNvSpPr/>
          <p:nvPr/>
        </p:nvSpPr>
        <p:spPr>
          <a:xfrm>
            <a:off x="8379777" y="9773920"/>
            <a:ext cx="8860473" cy="2177415"/>
          </a:xfrm>
          <a:prstGeom prst="roundRect">
            <a:avLst>
              <a:gd name="adj" fmla="val 3500"/>
            </a:avLst>
          </a:prstGeom>
          <a:solidFill>
            <a:srgbClr val="F4F5F7"/>
          </a:solidFill>
          <a:ln w="7620">
            <a:solidFill>
              <a:srgbClr val="E0E0E0"/>
            </a:solidFill>
            <a:prstDash val="solid"/>
          </a:ln>
        </p:spPr>
      </p:sp>
      <p:sp>
        <p:nvSpPr>
          <p:cNvPr id="23" name="Text 21"/>
          <p:cNvSpPr/>
          <p:nvPr/>
        </p:nvSpPr>
        <p:spPr>
          <a:xfrm>
            <a:off x="8654097" y="10219690"/>
            <a:ext cx="914301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00557E"/>
                </a:solidFill>
                <a:latin typeface="Arial" pitchFamily="34" charset="0"/>
                <a:ea typeface="Arial" pitchFamily="34" charset="-122"/>
                <a:cs typeface="Arial" pitchFamily="34" charset="-120"/>
              </a:rPr>
              <a:t>TASK EXECUTION</a:t>
            </a:r>
            <a:endParaRPr lang="en-US" sz="1800" dirty="0"/>
          </a:p>
        </p:txBody>
      </p:sp>
      <p:sp>
        <p:nvSpPr>
          <p:cNvPr id="24" name="Text 22"/>
          <p:cNvSpPr/>
          <p:nvPr/>
        </p:nvSpPr>
        <p:spPr>
          <a:xfrm>
            <a:off x="8654097" y="11115040"/>
            <a:ext cx="9143015"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Schedule, flag, draft — all logged and attributed</a:t>
            </a:r>
            <a:endParaRPr lang="en-US" sz="1950" dirty="0"/>
          </a:p>
        </p:txBody>
      </p:sp>
      <p:sp>
        <p:nvSpPr>
          <p:cNvPr id="25" name="Shape 23"/>
          <p:cNvSpPr/>
          <p:nvPr/>
        </p:nvSpPr>
        <p:spPr>
          <a:xfrm>
            <a:off x="1047750" y="8429625"/>
            <a:ext cx="16192500" cy="1133475"/>
          </a:xfrm>
          <a:prstGeom prst="rect">
            <a:avLst/>
          </a:prstGeom>
          <a:solidFill>
            <a:srgbClr val="F4F5F7"/>
          </a:solidFill>
          <a:ln/>
        </p:spPr>
      </p:sp>
      <p:sp>
        <p:nvSpPr>
          <p:cNvPr id="26" name="Shape 24"/>
          <p:cNvSpPr/>
          <p:nvPr/>
        </p:nvSpPr>
        <p:spPr>
          <a:xfrm>
            <a:off x="1047750" y="8429625"/>
            <a:ext cx="38100" cy="1133475"/>
          </a:xfrm>
          <a:prstGeom prst="rect">
            <a:avLst/>
          </a:prstGeom>
          <a:solidFill>
            <a:srgbClr val="00557E"/>
          </a:solidFill>
          <a:ln/>
        </p:spPr>
      </p:sp>
      <p:sp>
        <p:nvSpPr>
          <p:cNvPr id="27" name="Text 25"/>
          <p:cNvSpPr/>
          <p:nvPr/>
        </p:nvSpPr>
        <p:spPr>
          <a:xfrm>
            <a:off x="1352550" y="8810625"/>
            <a:ext cx="1718310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A2535"/>
                </a:solidFill>
                <a:latin typeface="Arial" pitchFamily="34" charset="0"/>
                <a:ea typeface="Arial" pitchFamily="34" charset="-122"/>
                <a:cs typeface="Arial" pitchFamily="34" charset="-120"/>
              </a:rPr>
              <a:t>RM stays in working context. No system switching required. Every action logged.</a:t>
            </a:r>
            <a:endParaRPr lang="en-US" sz="1950" dirty="0"/>
          </a:p>
        </p:txBody>
      </p:sp>
      <p:pic>
        <p:nvPicPr>
          <p:cNvPr id="28"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04 · TRACK A</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Platform Automation: Three Manual Processes, Automated</a:t>
            </a:r>
            <a:endParaRPr lang="en-US" sz="4350" dirty="0"/>
          </a:p>
        </p:txBody>
      </p:sp>
      <p:sp>
        <p:nvSpPr>
          <p:cNvPr id="4" name="Shape 2"/>
          <p:cNvSpPr/>
          <p:nvPr/>
        </p:nvSpPr>
        <p:spPr>
          <a:xfrm>
            <a:off x="1047750" y="2933065"/>
            <a:ext cx="16192500" cy="5267960"/>
          </a:xfrm>
          <a:prstGeom prst="roundRect">
            <a:avLst>
              <a:gd name="adj" fmla="val 1446"/>
            </a:avLst>
          </a:prstGeom>
          <a:ln w="7620">
            <a:solidFill>
              <a:srgbClr val="E0E0E0"/>
            </a:solidFill>
            <a:prstDash val="solid"/>
          </a:ln>
        </p:spPr>
      </p:sp>
      <p:sp>
        <p:nvSpPr>
          <p:cNvPr id="5" name="Shape 3"/>
          <p:cNvSpPr/>
          <p:nvPr/>
        </p:nvSpPr>
        <p:spPr>
          <a:xfrm>
            <a:off x="1055370" y="2940685"/>
            <a:ext cx="16177260" cy="1104900"/>
          </a:xfrm>
          <a:prstGeom prst="rect">
            <a:avLst/>
          </a:prstGeom>
          <a:solidFill>
            <a:srgbClr val="1A2535"/>
          </a:solidFill>
          <a:ln/>
        </p:spPr>
      </p:sp>
      <p:sp>
        <p:nvSpPr>
          <p:cNvPr id="6" name="Text 4"/>
          <p:cNvSpPr/>
          <p:nvPr/>
        </p:nvSpPr>
        <p:spPr>
          <a:xfrm>
            <a:off x="1360170" y="3321685"/>
            <a:ext cx="822693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FFFFFF">
                    <a:alpha val="50000"/>
                  </a:srgbClr>
                </a:solidFill>
                <a:latin typeface="Arial" pitchFamily="34" charset="0"/>
                <a:ea typeface="Arial" pitchFamily="34" charset="-122"/>
                <a:cs typeface="Arial" pitchFamily="34" charset="-120"/>
              </a:rPr>
              <a:t>BEFORE</a:t>
            </a:r>
            <a:endParaRPr lang="en-US" sz="1800" dirty="0"/>
          </a:p>
        </p:txBody>
      </p:sp>
      <p:sp>
        <p:nvSpPr>
          <p:cNvPr id="7" name="Shape 5"/>
          <p:cNvSpPr/>
          <p:nvPr/>
        </p:nvSpPr>
        <p:spPr>
          <a:xfrm>
            <a:off x="9144000" y="2940685"/>
            <a:ext cx="9525" cy="1104900"/>
          </a:xfrm>
          <a:prstGeom prst="rect">
            <a:avLst/>
          </a:prstGeom>
          <a:solidFill>
            <a:srgbClr val="FFFFFF">
              <a:alpha val="12000"/>
            </a:srgbClr>
          </a:solidFill>
          <a:ln/>
        </p:spPr>
      </p:sp>
      <p:sp>
        <p:nvSpPr>
          <p:cNvPr id="8" name="Text 6"/>
          <p:cNvSpPr/>
          <p:nvPr/>
        </p:nvSpPr>
        <p:spPr>
          <a:xfrm>
            <a:off x="9456420" y="3321685"/>
            <a:ext cx="821855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60C094"/>
                </a:solidFill>
                <a:latin typeface="Arial" pitchFamily="34" charset="0"/>
                <a:ea typeface="Arial" pitchFamily="34" charset="-122"/>
                <a:cs typeface="Arial" pitchFamily="34" charset="-120"/>
              </a:rPr>
              <a:t>AFTER</a:t>
            </a:r>
            <a:endParaRPr lang="en-US" sz="1800" dirty="0"/>
          </a:p>
        </p:txBody>
      </p:sp>
      <p:sp>
        <p:nvSpPr>
          <p:cNvPr id="9" name="Shape 7"/>
          <p:cNvSpPr/>
          <p:nvPr/>
        </p:nvSpPr>
        <p:spPr>
          <a:xfrm>
            <a:off x="1055370" y="6760210"/>
            <a:ext cx="8088630" cy="9525"/>
          </a:xfrm>
          <a:prstGeom prst="rect">
            <a:avLst/>
          </a:prstGeom>
          <a:solidFill>
            <a:srgbClr val="E0E0E0"/>
          </a:solidFill>
          <a:ln/>
        </p:spPr>
      </p:sp>
      <p:sp>
        <p:nvSpPr>
          <p:cNvPr id="10" name="Text 8"/>
          <p:cNvSpPr/>
          <p:nvPr/>
        </p:nvSpPr>
        <p:spPr>
          <a:xfrm>
            <a:off x="1360170" y="4559935"/>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Asset Onboarding</a:t>
            </a:r>
            <a:endParaRPr lang="en-US" sz="1950" dirty="0"/>
          </a:p>
        </p:txBody>
      </p:sp>
      <p:sp>
        <p:nvSpPr>
          <p:cNvPr id="11" name="Text 9"/>
          <p:cNvSpPr/>
          <p:nvPr/>
        </p:nvSpPr>
        <p:spPr>
          <a:xfrm>
            <a:off x="1360170" y="5502910"/>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Manual field entry, error-prone, untracked</a:t>
            </a:r>
            <a:endParaRPr lang="en-US" sz="1950" dirty="0"/>
          </a:p>
        </p:txBody>
      </p:sp>
      <p:sp>
        <p:nvSpPr>
          <p:cNvPr id="12" name="Shape 10"/>
          <p:cNvSpPr/>
          <p:nvPr/>
        </p:nvSpPr>
        <p:spPr>
          <a:xfrm>
            <a:off x="9144000" y="4045585"/>
            <a:ext cx="8088630" cy="2722245"/>
          </a:xfrm>
          <a:prstGeom prst="rect">
            <a:avLst/>
          </a:prstGeom>
          <a:solidFill>
            <a:srgbClr val="F9FFFE"/>
          </a:solidFill>
          <a:ln/>
        </p:spPr>
      </p:sp>
      <p:sp>
        <p:nvSpPr>
          <p:cNvPr id="13" name="Shape 11"/>
          <p:cNvSpPr/>
          <p:nvPr/>
        </p:nvSpPr>
        <p:spPr>
          <a:xfrm>
            <a:off x="9144000" y="6760210"/>
            <a:ext cx="8088630" cy="9525"/>
          </a:xfrm>
          <a:prstGeom prst="rect">
            <a:avLst/>
          </a:prstGeom>
          <a:solidFill>
            <a:srgbClr val="E0E0E0"/>
          </a:solidFill>
          <a:ln/>
        </p:spPr>
      </p:sp>
      <p:sp>
        <p:nvSpPr>
          <p:cNvPr id="14" name="Shape 12"/>
          <p:cNvSpPr/>
          <p:nvPr/>
        </p:nvSpPr>
        <p:spPr>
          <a:xfrm>
            <a:off x="9144000" y="4045585"/>
            <a:ext cx="9525" cy="2722245"/>
          </a:xfrm>
          <a:prstGeom prst="rect">
            <a:avLst/>
          </a:prstGeom>
          <a:solidFill>
            <a:srgbClr val="E0E0E0"/>
          </a:solidFill>
          <a:ln/>
        </p:spPr>
      </p:sp>
      <p:sp>
        <p:nvSpPr>
          <p:cNvPr id="15" name="Text 13"/>
          <p:cNvSpPr/>
          <p:nvPr/>
        </p:nvSpPr>
        <p:spPr>
          <a:xfrm>
            <a:off x="9456420" y="4559935"/>
            <a:ext cx="821855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Asset Onboarding</a:t>
            </a:r>
            <a:endParaRPr lang="en-US" sz="1950" dirty="0"/>
          </a:p>
        </p:txBody>
      </p:sp>
      <p:sp>
        <p:nvSpPr>
          <p:cNvPr id="16" name="Text 14"/>
          <p:cNvSpPr/>
          <p:nvPr/>
        </p:nvSpPr>
        <p:spPr>
          <a:xfrm>
            <a:off x="9456420" y="5502910"/>
            <a:ext cx="7695553"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Validated automated intake with structured validation and full audit trail</a:t>
            </a:r>
            <a:endParaRPr lang="en-US" sz="1950" dirty="0"/>
          </a:p>
        </p:txBody>
      </p:sp>
      <p:sp>
        <p:nvSpPr>
          <p:cNvPr id="17" name="Shape 15"/>
          <p:cNvSpPr/>
          <p:nvPr/>
        </p:nvSpPr>
        <p:spPr>
          <a:xfrm>
            <a:off x="1055370" y="9482455"/>
            <a:ext cx="8088630" cy="9525"/>
          </a:xfrm>
          <a:prstGeom prst="rect">
            <a:avLst/>
          </a:prstGeom>
          <a:solidFill>
            <a:srgbClr val="E0E0E0"/>
          </a:solidFill>
          <a:ln/>
        </p:spPr>
      </p:sp>
      <p:sp>
        <p:nvSpPr>
          <p:cNvPr id="18" name="Text 16"/>
          <p:cNvSpPr/>
          <p:nvPr/>
        </p:nvSpPr>
        <p:spPr>
          <a:xfrm>
            <a:off x="1360170" y="7282180"/>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Fund Document Updates</a:t>
            </a:r>
            <a:endParaRPr lang="en-US" sz="1950" dirty="0"/>
          </a:p>
        </p:txBody>
      </p:sp>
      <p:sp>
        <p:nvSpPr>
          <p:cNvPr id="19" name="Text 17"/>
          <p:cNvSpPr/>
          <p:nvPr/>
        </p:nvSpPr>
        <p:spPr>
          <a:xfrm>
            <a:off x="1360170" y="8225155"/>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Manual monitoring of external sources, inconsistent cadence</a:t>
            </a:r>
            <a:endParaRPr lang="en-US" sz="1950" dirty="0"/>
          </a:p>
        </p:txBody>
      </p:sp>
      <p:sp>
        <p:nvSpPr>
          <p:cNvPr id="20" name="Shape 18"/>
          <p:cNvSpPr/>
          <p:nvPr/>
        </p:nvSpPr>
        <p:spPr>
          <a:xfrm>
            <a:off x="9144000" y="6767830"/>
            <a:ext cx="8088630" cy="2722245"/>
          </a:xfrm>
          <a:prstGeom prst="rect">
            <a:avLst/>
          </a:prstGeom>
          <a:solidFill>
            <a:srgbClr val="F9FFFE"/>
          </a:solidFill>
          <a:ln/>
        </p:spPr>
      </p:sp>
      <p:sp>
        <p:nvSpPr>
          <p:cNvPr id="21" name="Shape 19"/>
          <p:cNvSpPr/>
          <p:nvPr/>
        </p:nvSpPr>
        <p:spPr>
          <a:xfrm>
            <a:off x="9144000" y="9482455"/>
            <a:ext cx="8088630" cy="9525"/>
          </a:xfrm>
          <a:prstGeom prst="rect">
            <a:avLst/>
          </a:prstGeom>
          <a:solidFill>
            <a:srgbClr val="E0E0E0"/>
          </a:solidFill>
          <a:ln/>
        </p:spPr>
      </p:sp>
      <p:sp>
        <p:nvSpPr>
          <p:cNvPr id="22" name="Shape 20"/>
          <p:cNvSpPr/>
          <p:nvPr/>
        </p:nvSpPr>
        <p:spPr>
          <a:xfrm>
            <a:off x="9144000" y="6767830"/>
            <a:ext cx="9525" cy="2722245"/>
          </a:xfrm>
          <a:prstGeom prst="rect">
            <a:avLst/>
          </a:prstGeom>
          <a:solidFill>
            <a:srgbClr val="E0E0E0"/>
          </a:solidFill>
          <a:ln/>
        </p:spPr>
      </p:sp>
      <p:sp>
        <p:nvSpPr>
          <p:cNvPr id="23" name="Text 21"/>
          <p:cNvSpPr/>
          <p:nvPr/>
        </p:nvSpPr>
        <p:spPr>
          <a:xfrm>
            <a:off x="9456420" y="7282180"/>
            <a:ext cx="821855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Fund Document Updates</a:t>
            </a:r>
            <a:endParaRPr lang="en-US" sz="1950" dirty="0"/>
          </a:p>
        </p:txBody>
      </p:sp>
      <p:sp>
        <p:nvSpPr>
          <p:cNvPr id="24" name="Text 22"/>
          <p:cNvSpPr/>
          <p:nvPr/>
        </p:nvSpPr>
        <p:spPr>
          <a:xfrm>
            <a:off x="9456420" y="8225155"/>
            <a:ext cx="7695553"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Automated freshness detection; platform flags when document version changes</a:t>
            </a:r>
            <a:endParaRPr lang="en-US" sz="1950" dirty="0"/>
          </a:p>
        </p:txBody>
      </p:sp>
      <p:sp>
        <p:nvSpPr>
          <p:cNvPr id="25" name="Text 23"/>
          <p:cNvSpPr/>
          <p:nvPr/>
        </p:nvSpPr>
        <p:spPr>
          <a:xfrm>
            <a:off x="1360170" y="10004425"/>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Data Freshness Checks</a:t>
            </a:r>
            <a:endParaRPr lang="en-US" sz="1950" dirty="0"/>
          </a:p>
        </p:txBody>
      </p:sp>
      <p:sp>
        <p:nvSpPr>
          <p:cNvPr id="26" name="Text 24"/>
          <p:cNvSpPr/>
          <p:nvPr/>
        </p:nvSpPr>
        <p:spPr>
          <a:xfrm>
            <a:off x="1360170" y="10947400"/>
            <a:ext cx="8226933"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Manual lookup to confirm when data was last refreshed</a:t>
            </a:r>
            <a:endParaRPr lang="en-US" sz="1950" dirty="0"/>
          </a:p>
        </p:txBody>
      </p:sp>
      <p:sp>
        <p:nvSpPr>
          <p:cNvPr id="27" name="Shape 25"/>
          <p:cNvSpPr/>
          <p:nvPr/>
        </p:nvSpPr>
        <p:spPr>
          <a:xfrm>
            <a:off x="9144000" y="9490075"/>
            <a:ext cx="8088630" cy="2343150"/>
          </a:xfrm>
          <a:prstGeom prst="rect">
            <a:avLst/>
          </a:prstGeom>
          <a:solidFill>
            <a:srgbClr val="F9FFFE"/>
          </a:solidFill>
          <a:ln/>
        </p:spPr>
      </p:sp>
      <p:sp>
        <p:nvSpPr>
          <p:cNvPr id="28" name="Shape 26"/>
          <p:cNvSpPr/>
          <p:nvPr/>
        </p:nvSpPr>
        <p:spPr>
          <a:xfrm>
            <a:off x="9144000" y="9490075"/>
            <a:ext cx="9525" cy="2343150"/>
          </a:xfrm>
          <a:prstGeom prst="rect">
            <a:avLst/>
          </a:prstGeom>
          <a:solidFill>
            <a:srgbClr val="E0E0E0"/>
          </a:solidFill>
          <a:ln/>
        </p:spPr>
      </p:sp>
      <p:sp>
        <p:nvSpPr>
          <p:cNvPr id="29" name="Text 27"/>
          <p:cNvSpPr/>
          <p:nvPr/>
        </p:nvSpPr>
        <p:spPr>
          <a:xfrm>
            <a:off x="9456420" y="10004425"/>
            <a:ext cx="821855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Data Freshness Checks</a:t>
            </a:r>
            <a:endParaRPr lang="en-US" sz="1950" dirty="0"/>
          </a:p>
        </p:txBody>
      </p:sp>
      <p:sp>
        <p:nvSpPr>
          <p:cNvPr id="30" name="Text 28"/>
          <p:cNvSpPr/>
          <p:nvPr/>
        </p:nvSpPr>
        <p:spPr>
          <a:xfrm>
            <a:off x="9456420" y="10947400"/>
            <a:ext cx="821855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Platform-level metadata flag surfaced inline — no lookup required</a:t>
            </a:r>
            <a:endParaRPr lang="en-US" sz="1950" dirty="0"/>
          </a:p>
        </p:txBody>
      </p:sp>
      <p:sp>
        <p:nvSpPr>
          <p:cNvPr id="31" name="Shape 29"/>
          <p:cNvSpPr/>
          <p:nvPr/>
        </p:nvSpPr>
        <p:spPr>
          <a:xfrm>
            <a:off x="1047750" y="8391525"/>
            <a:ext cx="16192500" cy="1171575"/>
          </a:xfrm>
          <a:prstGeom prst="roundRect">
            <a:avLst>
              <a:gd name="adj" fmla="val 6504"/>
            </a:avLst>
          </a:prstGeom>
          <a:solidFill>
            <a:srgbClr val="1A2535"/>
          </a:solidFill>
          <a:ln/>
        </p:spPr>
      </p:sp>
      <p:sp>
        <p:nvSpPr>
          <p:cNvPr id="32" name="Text 30"/>
          <p:cNvSpPr/>
          <p:nvPr/>
        </p:nvSpPr>
        <p:spPr>
          <a:xfrm>
            <a:off x="1352550" y="8791575"/>
            <a:ext cx="1714119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5000"/>
                  </a:srgbClr>
                </a:solidFill>
                <a:latin typeface="Arial" pitchFamily="34" charset="0"/>
                <a:ea typeface="Arial" pitchFamily="34" charset="-122"/>
                <a:cs typeface="Arial" pitchFamily="34" charset="-120"/>
              </a:rPr>
              <a:t>Rules-based automation. No AI. Client experience unchanged. Operations team load reduced. Audit trail created automatically.</a:t>
            </a:r>
            <a:endParaRPr lang="en-US" sz="1950" dirty="0"/>
          </a:p>
        </p:txBody>
      </p:sp>
      <p:pic>
        <p:nvPicPr>
          <p:cNvPr id="33"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535"/>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05 · TRACK B</a:t>
            </a:r>
            <a:endParaRPr lang="en-US" sz="1800" dirty="0"/>
          </a:p>
        </p:txBody>
      </p:sp>
      <p:sp>
        <p:nvSpPr>
          <p:cNvPr id="3" name="Text 1"/>
          <p:cNvSpPr/>
          <p:nvPr/>
        </p:nvSpPr>
        <p:spPr>
          <a:xfrm>
            <a:off x="1047750" y="194437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FFFFFF"/>
                </a:solidFill>
                <a:latin typeface="Arial" pitchFamily="34" charset="0"/>
                <a:ea typeface="Arial" pitchFamily="34" charset="-122"/>
                <a:cs typeface="Arial" pitchFamily="34" charset="-120"/>
              </a:rPr>
              <a:t>Track B: The Independent AI Platform</a:t>
            </a:r>
            <a:endParaRPr lang="en-US" sz="4350" dirty="0"/>
          </a:p>
        </p:txBody>
      </p:sp>
      <p:sp>
        <p:nvSpPr>
          <p:cNvPr id="4" name="Shape 2"/>
          <p:cNvSpPr/>
          <p:nvPr/>
        </p:nvSpPr>
        <p:spPr>
          <a:xfrm>
            <a:off x="1047750" y="2952115"/>
            <a:ext cx="7924800" cy="5176520"/>
          </a:xfrm>
          <a:prstGeom prst="roundRect">
            <a:avLst>
              <a:gd name="adj" fmla="val 1472"/>
            </a:avLst>
          </a:prstGeom>
          <a:solidFill>
            <a:srgbClr val="FFFFFF">
              <a:alpha val="5000"/>
            </a:srgbClr>
          </a:solidFill>
          <a:ln w="7620">
            <a:solidFill>
              <a:srgbClr val="FFFFFF">
                <a:alpha val="12000"/>
              </a:srgbClr>
            </a:solidFill>
            <a:prstDash val="solid"/>
          </a:ln>
        </p:spPr>
      </p:sp>
      <p:sp>
        <p:nvSpPr>
          <p:cNvPr id="5" name="Text 3"/>
          <p:cNvSpPr/>
          <p:nvPr/>
        </p:nvSpPr>
        <p:spPr>
          <a:xfrm>
            <a:off x="1379220" y="3512185"/>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FFFFFF">
                    <a:alpha val="45000"/>
                  </a:srgbClr>
                </a:solidFill>
                <a:latin typeface="Arial" pitchFamily="34" charset="0"/>
                <a:ea typeface="Arial" pitchFamily="34" charset="-122"/>
                <a:cs typeface="Arial" pitchFamily="34" charset="-120"/>
              </a:rPr>
              <a:t>TRACK A — STANDARD</a:t>
            </a:r>
            <a:endParaRPr lang="en-US" sz="1800" dirty="0"/>
          </a:p>
        </p:txBody>
      </p:sp>
      <p:sp>
        <p:nvSpPr>
          <p:cNvPr id="6" name="Text 4"/>
          <p:cNvSpPr/>
          <p:nvPr/>
        </p:nvSpPr>
        <p:spPr>
          <a:xfrm>
            <a:off x="1379220" y="4502785"/>
            <a:ext cx="798804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60000"/>
                  </a:srgbClr>
                </a:solidFill>
                <a:latin typeface="Arial" pitchFamily="34" charset="0"/>
                <a:ea typeface="Arial" pitchFamily="34" charset="-122"/>
                <a:cs typeface="Arial" pitchFamily="34" charset="-120"/>
              </a:rPr>
              <a:t>Preview Managers (standard platform)</a:t>
            </a:r>
            <a:endParaRPr lang="en-US" sz="1950" dirty="0"/>
          </a:p>
        </p:txBody>
      </p:sp>
      <p:sp>
        <p:nvSpPr>
          <p:cNvPr id="7" name="Text 5"/>
          <p:cNvSpPr/>
          <p:nvPr/>
        </p:nvSpPr>
        <p:spPr>
          <a:xfrm>
            <a:off x="1379220" y="5712460"/>
            <a:ext cx="798804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55000"/>
                  </a:srgbClr>
                </a:solidFill>
                <a:latin typeface="Arial" pitchFamily="34" charset="0"/>
                <a:ea typeface="Arial" pitchFamily="34" charset="-122"/>
                <a:cs typeface="Arial" pitchFamily="34" charset="-120"/>
              </a:rPr>
              <a:t>Quantitative analytics</a:t>
            </a:r>
            <a:endParaRPr lang="en-US" sz="1950" dirty="0"/>
          </a:p>
        </p:txBody>
      </p:sp>
      <p:sp>
        <p:nvSpPr>
          <p:cNvPr id="8" name="Text 6"/>
          <p:cNvSpPr/>
          <p:nvPr/>
        </p:nvSpPr>
        <p:spPr>
          <a:xfrm>
            <a:off x="1379220" y="6693535"/>
            <a:ext cx="798804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55000"/>
                  </a:srgbClr>
                </a:solidFill>
                <a:latin typeface="Arial" pitchFamily="34" charset="0"/>
                <a:ea typeface="Arial" pitchFamily="34" charset="-122"/>
                <a:cs typeface="Arial" pitchFamily="34" charset="-120"/>
              </a:rPr>
              <a:t>Portfolio IQ · Privé Agent</a:t>
            </a:r>
            <a:endParaRPr lang="en-US" sz="1950" dirty="0"/>
          </a:p>
        </p:txBody>
      </p:sp>
      <p:sp>
        <p:nvSpPr>
          <p:cNvPr id="9" name="Text 7"/>
          <p:cNvSpPr/>
          <p:nvPr/>
        </p:nvSpPr>
        <p:spPr>
          <a:xfrm>
            <a:off x="1379220" y="7674610"/>
            <a:ext cx="798804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55000"/>
                  </a:srgbClr>
                </a:solidFill>
                <a:latin typeface="Arial" pitchFamily="34" charset="0"/>
                <a:ea typeface="Arial" pitchFamily="34" charset="-122"/>
                <a:cs typeface="Arial" pitchFamily="34" charset="-120"/>
              </a:rPr>
              <a:t>Platform automation</a:t>
            </a:r>
            <a:endParaRPr lang="en-US" sz="1950" dirty="0"/>
          </a:p>
        </p:txBody>
      </p:sp>
      <p:sp>
        <p:nvSpPr>
          <p:cNvPr id="10" name="Shape 8"/>
          <p:cNvSpPr/>
          <p:nvPr/>
        </p:nvSpPr>
        <p:spPr>
          <a:xfrm>
            <a:off x="1379220" y="8465185"/>
            <a:ext cx="7261860" cy="9525"/>
          </a:xfrm>
          <a:prstGeom prst="rect">
            <a:avLst/>
          </a:prstGeom>
          <a:solidFill>
            <a:srgbClr val="FFFFFF">
              <a:alpha val="12000"/>
            </a:srgbClr>
          </a:solidFill>
          <a:ln/>
        </p:spPr>
      </p:sp>
      <p:sp>
        <p:nvSpPr>
          <p:cNvPr id="11" name="Text 9"/>
          <p:cNvSpPr/>
          <p:nvPr/>
        </p:nvSpPr>
        <p:spPr>
          <a:xfrm>
            <a:off x="1379220" y="8853805"/>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0000"/>
                  </a:srgbClr>
                </a:solidFill>
                <a:latin typeface="Arial" pitchFamily="34" charset="0"/>
                <a:ea typeface="Arial" pitchFamily="34" charset="-122"/>
                <a:cs typeface="Arial" pitchFamily="34" charset="-120"/>
              </a:rPr>
              <a:t>Product cycle: Privé</a:t>
            </a:r>
            <a:endParaRPr lang="en-US" sz="1800" dirty="0"/>
          </a:p>
        </p:txBody>
      </p:sp>
      <p:sp>
        <p:nvSpPr>
          <p:cNvPr id="12" name="Shape 10"/>
          <p:cNvSpPr/>
          <p:nvPr/>
        </p:nvSpPr>
        <p:spPr>
          <a:xfrm>
            <a:off x="9315450" y="2952115"/>
            <a:ext cx="7924800" cy="5176520"/>
          </a:xfrm>
          <a:prstGeom prst="roundRect">
            <a:avLst>
              <a:gd name="adj" fmla="val 1472"/>
            </a:avLst>
          </a:prstGeom>
          <a:solidFill>
            <a:srgbClr val="60C094">
              <a:alpha val="13000"/>
            </a:srgbClr>
          </a:solidFill>
          <a:ln w="7620">
            <a:solidFill>
              <a:srgbClr val="60C094">
                <a:alpha val="45000"/>
              </a:srgbClr>
            </a:solidFill>
            <a:prstDash val="solid"/>
          </a:ln>
        </p:spPr>
      </p:sp>
      <p:sp>
        <p:nvSpPr>
          <p:cNvPr id="13" name="Text 11"/>
          <p:cNvSpPr/>
          <p:nvPr/>
        </p:nvSpPr>
        <p:spPr>
          <a:xfrm>
            <a:off x="9646920" y="3512185"/>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60C094"/>
                </a:solidFill>
                <a:latin typeface="Arial" pitchFamily="34" charset="0"/>
                <a:ea typeface="Arial" pitchFamily="34" charset="-122"/>
                <a:cs typeface="Arial" pitchFamily="34" charset="-120"/>
              </a:rPr>
              <a:t>TRACK B — INDEPENDENT</a:t>
            </a:r>
            <a:endParaRPr lang="en-US" sz="1800" dirty="0"/>
          </a:p>
        </p:txBody>
      </p:sp>
      <p:sp>
        <p:nvSpPr>
          <p:cNvPr id="14" name="Text 12"/>
          <p:cNvSpPr/>
          <p:nvPr/>
        </p:nvSpPr>
        <p:spPr>
          <a:xfrm>
            <a:off x="9646920" y="4502785"/>
            <a:ext cx="798804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75000"/>
                  </a:srgbClr>
                </a:solidFill>
                <a:latin typeface="Arial" pitchFamily="34" charset="0"/>
                <a:ea typeface="Arial" pitchFamily="34" charset="-122"/>
                <a:cs typeface="Arial" pitchFamily="34" charset="-120"/>
              </a:rPr>
              <a:t>Custom development environment</a:t>
            </a:r>
            <a:endParaRPr lang="en-US" sz="1950" dirty="0"/>
          </a:p>
        </p:txBody>
      </p:sp>
      <p:sp>
        <p:nvSpPr>
          <p:cNvPr id="15" name="Text 13"/>
          <p:cNvSpPr/>
          <p:nvPr/>
        </p:nvSpPr>
        <p:spPr>
          <a:xfrm>
            <a:off x="9646920" y="5464810"/>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16" name="Text 14"/>
          <p:cNvSpPr/>
          <p:nvPr/>
        </p:nvSpPr>
        <p:spPr>
          <a:xfrm>
            <a:off x="10008870" y="5712460"/>
            <a:ext cx="3452511"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5000"/>
                  </a:srgbClr>
                </a:solidFill>
                <a:latin typeface="Arial" pitchFamily="34" charset="0"/>
                <a:ea typeface="Arial" pitchFamily="34" charset="-122"/>
                <a:cs typeface="Arial" pitchFamily="34" charset="-120"/>
              </a:rPr>
              <a:t>Build custom analytics views</a:t>
            </a:r>
            <a:endParaRPr lang="en-US" sz="1950" dirty="0"/>
          </a:p>
        </p:txBody>
      </p:sp>
      <p:sp>
        <p:nvSpPr>
          <p:cNvPr id="17" name="Text 15"/>
          <p:cNvSpPr/>
          <p:nvPr/>
        </p:nvSpPr>
        <p:spPr>
          <a:xfrm>
            <a:off x="9646920" y="6464935"/>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18" name="Text 16"/>
          <p:cNvSpPr/>
          <p:nvPr/>
        </p:nvSpPr>
        <p:spPr>
          <a:xfrm>
            <a:off x="10008870" y="6712585"/>
            <a:ext cx="4331398"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5000"/>
                  </a:srgbClr>
                </a:solidFill>
                <a:latin typeface="Arial" pitchFamily="34" charset="0"/>
                <a:ea typeface="Arial" pitchFamily="34" charset="-122"/>
                <a:cs typeface="Arial" pitchFamily="34" charset="-120"/>
              </a:rPr>
              <a:t>Create bespoke reporting templates</a:t>
            </a:r>
            <a:endParaRPr lang="en-US" sz="1950" dirty="0"/>
          </a:p>
        </p:txBody>
      </p:sp>
      <p:sp>
        <p:nvSpPr>
          <p:cNvPr id="19" name="Text 17"/>
          <p:cNvSpPr/>
          <p:nvPr/>
        </p:nvSpPr>
        <p:spPr>
          <a:xfrm>
            <a:off x="9646920" y="7465060"/>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20" name="Text 18"/>
          <p:cNvSpPr/>
          <p:nvPr/>
        </p:nvSpPr>
        <p:spPr>
          <a:xfrm>
            <a:off x="10008870" y="7712710"/>
            <a:ext cx="4134072"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5000"/>
                  </a:srgbClr>
                </a:solidFill>
                <a:latin typeface="Arial" pitchFamily="34" charset="0"/>
                <a:ea typeface="Arial" pitchFamily="34" charset="-122"/>
                <a:cs typeface="Arial" pitchFamily="34" charset="-120"/>
              </a:rPr>
              <a:t>Deploy proprietary scoring models</a:t>
            </a:r>
            <a:endParaRPr lang="en-US" sz="1950" dirty="0"/>
          </a:p>
        </p:txBody>
      </p:sp>
      <p:sp>
        <p:nvSpPr>
          <p:cNvPr id="21" name="Text 19"/>
          <p:cNvSpPr/>
          <p:nvPr/>
        </p:nvSpPr>
        <p:spPr>
          <a:xfrm>
            <a:off x="9646920" y="8465185"/>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22" name="Text 20"/>
          <p:cNvSpPr/>
          <p:nvPr/>
        </p:nvSpPr>
        <p:spPr>
          <a:xfrm>
            <a:off x="10008870" y="8712835"/>
            <a:ext cx="3966257"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5000"/>
                  </a:srgbClr>
                </a:solidFill>
                <a:latin typeface="Arial" pitchFamily="34" charset="0"/>
                <a:ea typeface="Arial" pitchFamily="34" charset="-122"/>
                <a:cs typeface="Arial" pitchFamily="34" charset="-120"/>
              </a:rPr>
              <a:t>Automate firm-specific workflows</a:t>
            </a:r>
            <a:endParaRPr lang="en-US" sz="1950" dirty="0"/>
          </a:p>
        </p:txBody>
      </p:sp>
      <p:sp>
        <p:nvSpPr>
          <p:cNvPr id="23" name="Shape 21"/>
          <p:cNvSpPr/>
          <p:nvPr/>
        </p:nvSpPr>
        <p:spPr>
          <a:xfrm>
            <a:off x="9646920" y="9503410"/>
            <a:ext cx="7261860" cy="9525"/>
          </a:xfrm>
          <a:prstGeom prst="rect">
            <a:avLst/>
          </a:prstGeom>
          <a:solidFill>
            <a:srgbClr val="60C094">
              <a:alpha val="30000"/>
            </a:srgbClr>
          </a:solidFill>
          <a:ln/>
        </p:spPr>
      </p:sp>
      <p:sp>
        <p:nvSpPr>
          <p:cNvPr id="24" name="Text 22"/>
          <p:cNvSpPr/>
          <p:nvPr/>
        </p:nvSpPr>
        <p:spPr>
          <a:xfrm>
            <a:off x="9646920" y="9892030"/>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0C094"/>
                </a:solidFill>
                <a:latin typeface="Arial" pitchFamily="34" charset="0"/>
                <a:ea typeface="Arial" pitchFamily="34" charset="-122"/>
                <a:cs typeface="Arial" pitchFamily="34" charset="-120"/>
              </a:rPr>
              <a:t>Product cycle: yours</a:t>
            </a:r>
            <a:endParaRPr lang="en-US" sz="1800" dirty="0"/>
          </a:p>
        </p:txBody>
      </p:sp>
      <p:sp>
        <p:nvSpPr>
          <p:cNvPr id="25" name="Shape 23"/>
          <p:cNvSpPr/>
          <p:nvPr/>
        </p:nvSpPr>
        <p:spPr>
          <a:xfrm>
            <a:off x="1047750" y="8338185"/>
            <a:ext cx="16192500" cy="1224915"/>
          </a:xfrm>
          <a:prstGeom prst="roundRect">
            <a:avLst>
              <a:gd name="adj" fmla="val 6221"/>
            </a:avLst>
          </a:prstGeom>
          <a:solidFill>
            <a:srgbClr val="60C094">
              <a:alpha val="10000"/>
            </a:srgbClr>
          </a:solidFill>
          <a:ln w="7620">
            <a:solidFill>
              <a:srgbClr val="60C094">
                <a:alpha val="30000"/>
              </a:srgbClr>
            </a:solidFill>
            <a:prstDash val="solid"/>
          </a:ln>
        </p:spPr>
      </p:sp>
      <p:sp>
        <p:nvSpPr>
          <p:cNvPr id="26" name="Text 24"/>
          <p:cNvSpPr/>
          <p:nvPr/>
        </p:nvSpPr>
        <p:spPr>
          <a:xfrm>
            <a:off x="581787" y="8764905"/>
            <a:ext cx="17124426" cy="409575"/>
          </a:xfrm>
          <a:prstGeom prst="rect">
            <a:avLst/>
          </a:prstGeom>
          <a:noFill/>
          <a:ln/>
        </p:spPr>
        <p:txBody>
          <a:bodyPr wrap="square" lIns="25400" tIns="25400" rIns="25400" bIns="25400" rtlCol="0" anchor="t">
            <a:normAutofit/>
          </a:bodyPr>
          <a:lstStyle/>
          <a:p>
            <a:pPr algn="ctr" indent="0" marL="0">
              <a:lnSpc>
                <a:spcPct val="150000"/>
              </a:lnSpc>
              <a:buNone/>
            </a:pPr>
            <a:r>
              <a:rPr lang="en-US" sz="1950" b="1" dirty="0">
                <a:solidFill>
                  <a:srgbClr val="60C094"/>
                </a:solidFill>
                <a:latin typeface="Arial" pitchFamily="34" charset="0"/>
                <a:ea typeface="Arial" pitchFamily="34" charset="-122"/>
                <a:cs typeface="Arial" pitchFamily="34" charset="-120"/>
              </a:rPr>
              <a:t>No feature request. No wait. No dependency on Privé's roadmap.</a:t>
            </a:r>
            <a:endParaRPr lang="en-US" sz="1950" dirty="0"/>
          </a:p>
        </p:txBody>
      </p:sp>
      <p:sp>
        <p:nvSpPr>
          <p:cNvPr id="27" name="Shape 25"/>
          <p:cNvSpPr/>
          <p:nvPr/>
        </p:nvSpPr>
        <p:spPr>
          <a:xfrm>
            <a:off x="16436340" y="9376410"/>
            <a:ext cx="803910" cy="453390"/>
          </a:xfrm>
          <a:prstGeom prst="roundRect">
            <a:avLst>
              <a:gd name="adj" fmla="val 12605"/>
            </a:avLst>
          </a:prstGeom>
          <a:solidFill>
            <a:srgbClr val="FFFFFF">
              <a:alpha val="8000"/>
            </a:srgbClr>
          </a:solidFill>
          <a:ln w="7620">
            <a:solidFill>
              <a:srgbClr val="FFFFFF">
                <a:alpha val="16000"/>
              </a:srgbClr>
            </a:solidFill>
            <a:prstDash val="solid"/>
          </a:ln>
        </p:spPr>
      </p:sp>
      <p:pic>
        <p:nvPicPr>
          <p:cNvPr id="28" name="Image 0" descr="preencoded.png">    </p:cNvPr>
          <p:cNvPicPr>
            <a:picLocks noChangeAspect="1"/>
          </p:cNvPicPr>
          <p:nvPr/>
        </p:nvPicPr>
        <p:blipFill>
          <a:blip r:embed="rId1"/>
          <a:stretch>
            <a:fillRect/>
          </a:stretch>
        </p:blipFill>
        <p:spPr>
          <a:xfrm>
            <a:off x="16615410" y="9479280"/>
            <a:ext cx="445770" cy="2476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05 · TRACK B</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What Wealth Managers Can Build</a:t>
            </a:r>
            <a:endParaRPr lang="en-US" sz="4350" dirty="0"/>
          </a:p>
        </p:txBody>
      </p:sp>
      <p:sp>
        <p:nvSpPr>
          <p:cNvPr id="4" name="Text 2"/>
          <p:cNvSpPr/>
          <p:nvPr/>
        </p:nvSpPr>
        <p:spPr>
          <a:xfrm>
            <a:off x="1047750" y="2856865"/>
            <a:ext cx="178117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From platform consumer → platform co-creator</a:t>
            </a:r>
            <a:endParaRPr lang="en-US" sz="1950" dirty="0"/>
          </a:p>
        </p:txBody>
      </p:sp>
      <p:sp>
        <p:nvSpPr>
          <p:cNvPr id="5" name="Shape 3"/>
          <p:cNvSpPr/>
          <p:nvPr/>
        </p:nvSpPr>
        <p:spPr>
          <a:xfrm>
            <a:off x="1047750" y="3628390"/>
            <a:ext cx="7962900" cy="2948940"/>
          </a:xfrm>
          <a:prstGeom prst="roundRect">
            <a:avLst>
              <a:gd name="adj" fmla="val 2584"/>
            </a:avLst>
          </a:prstGeom>
          <a:solidFill>
            <a:srgbClr val="F4F5F7"/>
          </a:solidFill>
          <a:ln w="7620">
            <a:solidFill>
              <a:srgbClr val="E0E0E0"/>
            </a:solidFill>
            <a:prstDash val="solid"/>
          </a:ln>
        </p:spPr>
      </p:sp>
      <p:sp>
        <p:nvSpPr>
          <p:cNvPr id="6" name="Text 4"/>
          <p:cNvSpPr/>
          <p:nvPr/>
        </p:nvSpPr>
        <p:spPr>
          <a:xfrm>
            <a:off x="1360170" y="4169410"/>
            <a:ext cx="807186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CUSTOM ANALYTICS VIEWS</a:t>
            </a:r>
            <a:endParaRPr lang="en-US" sz="1800" dirty="0"/>
          </a:p>
        </p:txBody>
      </p:sp>
      <p:sp>
        <p:nvSpPr>
          <p:cNvPr id="7" name="Shape 5"/>
          <p:cNvSpPr/>
          <p:nvPr/>
        </p:nvSpPr>
        <p:spPr>
          <a:xfrm>
            <a:off x="1360170" y="4874260"/>
            <a:ext cx="342900" cy="19050"/>
          </a:xfrm>
          <a:prstGeom prst="rect">
            <a:avLst/>
          </a:prstGeom>
          <a:solidFill>
            <a:srgbClr val="60C094"/>
          </a:solidFill>
          <a:ln/>
        </p:spPr>
      </p:sp>
      <p:sp>
        <p:nvSpPr>
          <p:cNvPr id="8" name="Text 6"/>
          <p:cNvSpPr/>
          <p:nvPr/>
        </p:nvSpPr>
        <p:spPr>
          <a:xfrm>
            <a:off x="1360170" y="5274310"/>
            <a:ext cx="7558202"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Build views that reflect your risk framework, not Privé's defaults. Your data hierarchy, your lens, built into the platform.</a:t>
            </a:r>
            <a:endParaRPr lang="en-US" sz="1950" dirty="0"/>
          </a:p>
        </p:txBody>
      </p:sp>
      <p:sp>
        <p:nvSpPr>
          <p:cNvPr id="9" name="Shape 7"/>
          <p:cNvSpPr/>
          <p:nvPr/>
        </p:nvSpPr>
        <p:spPr>
          <a:xfrm>
            <a:off x="9277350" y="3628390"/>
            <a:ext cx="7962900" cy="2948940"/>
          </a:xfrm>
          <a:prstGeom prst="roundRect">
            <a:avLst>
              <a:gd name="adj" fmla="val 2584"/>
            </a:avLst>
          </a:prstGeom>
          <a:solidFill>
            <a:srgbClr val="F4F5F7"/>
          </a:solidFill>
          <a:ln w="7620">
            <a:solidFill>
              <a:srgbClr val="E0E0E0"/>
            </a:solidFill>
            <a:prstDash val="solid"/>
          </a:ln>
        </p:spPr>
      </p:sp>
      <p:sp>
        <p:nvSpPr>
          <p:cNvPr id="10" name="Text 8"/>
          <p:cNvSpPr/>
          <p:nvPr/>
        </p:nvSpPr>
        <p:spPr>
          <a:xfrm>
            <a:off x="9589770" y="4169410"/>
            <a:ext cx="807186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CLIENT REPORTING TEMPLATES</a:t>
            </a:r>
            <a:endParaRPr lang="en-US" sz="1800" dirty="0"/>
          </a:p>
        </p:txBody>
      </p:sp>
      <p:sp>
        <p:nvSpPr>
          <p:cNvPr id="11" name="Shape 9"/>
          <p:cNvSpPr/>
          <p:nvPr/>
        </p:nvSpPr>
        <p:spPr>
          <a:xfrm>
            <a:off x="9589770" y="4874260"/>
            <a:ext cx="342900" cy="19050"/>
          </a:xfrm>
          <a:prstGeom prst="rect">
            <a:avLst/>
          </a:prstGeom>
          <a:solidFill>
            <a:srgbClr val="60C094"/>
          </a:solidFill>
          <a:ln/>
        </p:spPr>
      </p:sp>
      <p:sp>
        <p:nvSpPr>
          <p:cNvPr id="12" name="Text 10"/>
          <p:cNvSpPr/>
          <p:nvPr/>
        </p:nvSpPr>
        <p:spPr>
          <a:xfrm>
            <a:off x="9589770" y="5274310"/>
            <a:ext cx="7558202"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Generate bespoke reports in your firm's format, language, and tone — issued directly from the platform, not reformatted offline.</a:t>
            </a:r>
            <a:endParaRPr lang="en-US" sz="1950" dirty="0"/>
          </a:p>
        </p:txBody>
      </p:sp>
      <p:sp>
        <p:nvSpPr>
          <p:cNvPr id="13" name="Shape 11"/>
          <p:cNvSpPr/>
          <p:nvPr/>
        </p:nvSpPr>
        <p:spPr>
          <a:xfrm>
            <a:off x="1047750" y="6844030"/>
            <a:ext cx="7962900" cy="2948940"/>
          </a:xfrm>
          <a:prstGeom prst="roundRect">
            <a:avLst>
              <a:gd name="adj" fmla="val 2584"/>
            </a:avLst>
          </a:prstGeom>
          <a:solidFill>
            <a:srgbClr val="EAF5F0"/>
          </a:solidFill>
          <a:ln w="7620">
            <a:solidFill>
              <a:srgbClr val="60C094"/>
            </a:solidFill>
            <a:prstDash val="solid"/>
          </a:ln>
        </p:spPr>
      </p:sp>
      <p:sp>
        <p:nvSpPr>
          <p:cNvPr id="14" name="Text 12"/>
          <p:cNvSpPr/>
          <p:nvPr/>
        </p:nvSpPr>
        <p:spPr>
          <a:xfrm>
            <a:off x="1360170" y="7385050"/>
            <a:ext cx="807186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WORKFLOW AUTOMATIONS</a:t>
            </a:r>
            <a:endParaRPr lang="en-US" sz="1800" dirty="0"/>
          </a:p>
        </p:txBody>
      </p:sp>
      <p:sp>
        <p:nvSpPr>
          <p:cNvPr id="15" name="Shape 13"/>
          <p:cNvSpPr/>
          <p:nvPr/>
        </p:nvSpPr>
        <p:spPr>
          <a:xfrm>
            <a:off x="1360170" y="8089900"/>
            <a:ext cx="342900" cy="19050"/>
          </a:xfrm>
          <a:prstGeom prst="rect">
            <a:avLst/>
          </a:prstGeom>
          <a:solidFill>
            <a:srgbClr val="60C094"/>
          </a:solidFill>
          <a:ln/>
        </p:spPr>
      </p:sp>
      <p:sp>
        <p:nvSpPr>
          <p:cNvPr id="16" name="Text 14"/>
          <p:cNvSpPr/>
          <p:nvPr/>
        </p:nvSpPr>
        <p:spPr>
          <a:xfrm>
            <a:off x="1360170" y="8489950"/>
            <a:ext cx="7558202"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Automate sequences specific to your operational model — not generic flows. Firm-specific processes with a full audit trail.</a:t>
            </a:r>
            <a:endParaRPr lang="en-US" sz="1950" dirty="0"/>
          </a:p>
        </p:txBody>
      </p:sp>
      <p:sp>
        <p:nvSpPr>
          <p:cNvPr id="17" name="Shape 15"/>
          <p:cNvSpPr/>
          <p:nvPr/>
        </p:nvSpPr>
        <p:spPr>
          <a:xfrm>
            <a:off x="9277350" y="6844030"/>
            <a:ext cx="7962900" cy="2948940"/>
          </a:xfrm>
          <a:prstGeom prst="roundRect">
            <a:avLst>
              <a:gd name="adj" fmla="val 2584"/>
            </a:avLst>
          </a:prstGeom>
          <a:solidFill>
            <a:srgbClr val="EAF5F0"/>
          </a:solidFill>
          <a:ln w="7620">
            <a:solidFill>
              <a:srgbClr val="60C094"/>
            </a:solidFill>
            <a:prstDash val="solid"/>
          </a:ln>
        </p:spPr>
      </p:sp>
      <p:sp>
        <p:nvSpPr>
          <p:cNvPr id="18" name="Text 16"/>
          <p:cNvSpPr/>
          <p:nvPr/>
        </p:nvSpPr>
        <p:spPr>
          <a:xfrm>
            <a:off x="9589770" y="7385050"/>
            <a:ext cx="807186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PROPRIETARY SCORING MODELS</a:t>
            </a:r>
            <a:endParaRPr lang="en-US" sz="1800" dirty="0"/>
          </a:p>
        </p:txBody>
      </p:sp>
      <p:sp>
        <p:nvSpPr>
          <p:cNvPr id="19" name="Shape 17"/>
          <p:cNvSpPr/>
          <p:nvPr/>
        </p:nvSpPr>
        <p:spPr>
          <a:xfrm>
            <a:off x="9589770" y="8089900"/>
            <a:ext cx="342900" cy="19050"/>
          </a:xfrm>
          <a:prstGeom prst="rect">
            <a:avLst/>
          </a:prstGeom>
          <a:solidFill>
            <a:srgbClr val="60C094"/>
          </a:solidFill>
          <a:ln/>
        </p:spPr>
      </p:sp>
      <p:sp>
        <p:nvSpPr>
          <p:cNvPr id="20" name="Text 18"/>
          <p:cNvSpPr/>
          <p:nvPr/>
        </p:nvSpPr>
        <p:spPr>
          <a:xfrm>
            <a:off x="9589770" y="8489950"/>
            <a:ext cx="7558202"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Build client risk, opportunity, or engagement scores using your own criteria — housed on the platform, not in a spreadsheet.</a:t>
            </a:r>
            <a:endParaRPr lang="en-US" sz="1950" dirty="0"/>
          </a:p>
        </p:txBody>
      </p:sp>
      <p:sp>
        <p:nvSpPr>
          <p:cNvPr id="21" name="Shape 19"/>
          <p:cNvSpPr/>
          <p:nvPr/>
        </p:nvSpPr>
        <p:spPr>
          <a:xfrm>
            <a:off x="1047750" y="8391525"/>
            <a:ext cx="16192500" cy="1171575"/>
          </a:xfrm>
          <a:prstGeom prst="roundRect">
            <a:avLst>
              <a:gd name="adj" fmla="val 6504"/>
            </a:avLst>
          </a:prstGeom>
          <a:solidFill>
            <a:srgbClr val="1A2535"/>
          </a:solidFill>
          <a:ln/>
        </p:spPr>
      </p:sp>
      <p:sp>
        <p:nvSpPr>
          <p:cNvPr id="22" name="Text 20"/>
          <p:cNvSpPr/>
          <p:nvPr/>
        </p:nvSpPr>
        <p:spPr>
          <a:xfrm>
            <a:off x="1352550" y="8791575"/>
            <a:ext cx="1714119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5000"/>
                  </a:srgbClr>
                </a:solidFill>
                <a:latin typeface="Arial" pitchFamily="34" charset="0"/>
                <a:ea typeface="Arial" pitchFamily="34" charset="-122"/>
                <a:cs typeface="Arial" pitchFamily="34" charset="-120"/>
              </a:rPr>
              <a:t>All built through a guided development workspace. No vendor dependency. No feature queue. No shared roadmap.</a:t>
            </a:r>
            <a:endParaRPr lang="en-US" sz="1950" dirty="0"/>
          </a:p>
        </p:txBody>
      </p:sp>
      <p:pic>
        <p:nvPicPr>
          <p:cNvPr id="23"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05 · TRACK B</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Why a Separate Platform Is the Right Architecture</a:t>
            </a:r>
            <a:endParaRPr lang="en-US" sz="4350" dirty="0"/>
          </a:p>
        </p:txBody>
      </p:sp>
      <p:sp>
        <p:nvSpPr>
          <p:cNvPr id="4" name="Shape 2"/>
          <p:cNvSpPr/>
          <p:nvPr/>
        </p:nvSpPr>
        <p:spPr>
          <a:xfrm>
            <a:off x="1047750" y="2933065"/>
            <a:ext cx="7924800" cy="5248910"/>
          </a:xfrm>
          <a:prstGeom prst="roundRect">
            <a:avLst>
              <a:gd name="adj" fmla="val 1452"/>
            </a:avLst>
          </a:prstGeom>
          <a:solidFill>
            <a:srgbClr val="F4F5F7"/>
          </a:solidFill>
          <a:ln w="7620">
            <a:solidFill>
              <a:srgbClr val="E0E0E0"/>
            </a:solidFill>
            <a:prstDash val="solid"/>
          </a:ln>
        </p:spPr>
      </p:sp>
      <p:sp>
        <p:nvSpPr>
          <p:cNvPr id="5" name="Text 3"/>
          <p:cNvSpPr/>
          <p:nvPr/>
        </p:nvSpPr>
        <p:spPr>
          <a:xfrm>
            <a:off x="1379220" y="3493135"/>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SINGLE PLATFORM</a:t>
            </a:r>
            <a:endParaRPr lang="en-US" sz="1800" dirty="0"/>
          </a:p>
        </p:txBody>
      </p:sp>
      <p:sp>
        <p:nvSpPr>
          <p:cNvPr id="6" name="Text 4"/>
          <p:cNvSpPr/>
          <p:nvPr/>
        </p:nvSpPr>
        <p:spPr>
          <a:xfrm>
            <a:off x="1379220" y="4464685"/>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What most vendors do</a:t>
            </a:r>
            <a:endParaRPr lang="en-US" sz="1800" dirty="0"/>
          </a:p>
        </p:txBody>
      </p:sp>
      <p:sp>
        <p:nvSpPr>
          <p:cNvPr id="7" name="Text 5"/>
          <p:cNvSpPr/>
          <p:nvPr/>
        </p:nvSpPr>
        <p:spPr>
          <a:xfrm>
            <a:off x="1379220" y="5379085"/>
            <a:ext cx="278448"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a:t>
            </a:r>
            <a:endParaRPr lang="en-US" sz="1950" dirty="0"/>
          </a:p>
        </p:txBody>
      </p:sp>
      <p:sp>
        <p:nvSpPr>
          <p:cNvPr id="8" name="Text 6"/>
          <p:cNvSpPr/>
          <p:nvPr/>
        </p:nvSpPr>
        <p:spPr>
          <a:xfrm>
            <a:off x="1695768" y="5626735"/>
            <a:ext cx="7153671"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Custom development shares infrastructure with standard AI features</a:t>
            </a:r>
            <a:endParaRPr lang="en-US" sz="1950" dirty="0"/>
          </a:p>
        </p:txBody>
      </p:sp>
      <p:sp>
        <p:nvSpPr>
          <p:cNvPr id="9" name="Text 7"/>
          <p:cNvSpPr/>
          <p:nvPr/>
        </p:nvSpPr>
        <p:spPr>
          <a:xfrm>
            <a:off x="1379220" y="6769735"/>
            <a:ext cx="278448"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695768" y="7017385"/>
            <a:ext cx="7153671"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Governance applies to everything or nothing — blurring the audit trail</a:t>
            </a:r>
            <a:endParaRPr lang="en-US" sz="1950" dirty="0"/>
          </a:p>
        </p:txBody>
      </p:sp>
      <p:sp>
        <p:nvSpPr>
          <p:cNvPr id="11" name="Text 9"/>
          <p:cNvSpPr/>
          <p:nvPr/>
        </p:nvSpPr>
        <p:spPr>
          <a:xfrm>
            <a:off x="1379220" y="8160385"/>
            <a:ext cx="278448"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a:t>
            </a:r>
            <a:endParaRPr lang="en-US" sz="1950" dirty="0"/>
          </a:p>
        </p:txBody>
      </p:sp>
      <p:sp>
        <p:nvSpPr>
          <p:cNvPr id="12" name="Text 10"/>
          <p:cNvSpPr/>
          <p:nvPr/>
        </p:nvSpPr>
        <p:spPr>
          <a:xfrm>
            <a:off x="1695768" y="8408035"/>
            <a:ext cx="5451967"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Vendor controls pace of custom development</a:t>
            </a:r>
            <a:endParaRPr lang="en-US" sz="1950" dirty="0"/>
          </a:p>
        </p:txBody>
      </p:sp>
      <p:sp>
        <p:nvSpPr>
          <p:cNvPr id="13" name="Text 11"/>
          <p:cNvSpPr/>
          <p:nvPr/>
        </p:nvSpPr>
        <p:spPr>
          <a:xfrm>
            <a:off x="1379220" y="9179560"/>
            <a:ext cx="278448"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a:t>
            </a:r>
            <a:endParaRPr lang="en-US" sz="1950" dirty="0"/>
          </a:p>
        </p:txBody>
      </p:sp>
      <p:sp>
        <p:nvSpPr>
          <p:cNvPr id="14" name="Text 12"/>
          <p:cNvSpPr/>
          <p:nvPr/>
        </p:nvSpPr>
        <p:spPr>
          <a:xfrm>
            <a:off x="1695768" y="9427210"/>
            <a:ext cx="7153671"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One API key pool — cost absorbed centrally with no transparency</a:t>
            </a:r>
            <a:endParaRPr lang="en-US" sz="1950" dirty="0"/>
          </a:p>
        </p:txBody>
      </p:sp>
      <p:sp>
        <p:nvSpPr>
          <p:cNvPr id="15" name="Shape 13"/>
          <p:cNvSpPr/>
          <p:nvPr/>
        </p:nvSpPr>
        <p:spPr>
          <a:xfrm>
            <a:off x="9315450" y="2933065"/>
            <a:ext cx="7924800" cy="5248910"/>
          </a:xfrm>
          <a:prstGeom prst="roundRect">
            <a:avLst>
              <a:gd name="adj" fmla="val 1452"/>
            </a:avLst>
          </a:prstGeom>
          <a:solidFill>
            <a:srgbClr val="EAF5F0"/>
          </a:solidFill>
          <a:ln w="7620">
            <a:solidFill>
              <a:srgbClr val="60C094"/>
            </a:solidFill>
            <a:prstDash val="solid"/>
          </a:ln>
        </p:spPr>
      </p:sp>
      <p:sp>
        <p:nvSpPr>
          <p:cNvPr id="16" name="Text 14"/>
          <p:cNvSpPr/>
          <p:nvPr/>
        </p:nvSpPr>
        <p:spPr>
          <a:xfrm>
            <a:off x="9646920" y="3493135"/>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SEPARATE PLATFORM</a:t>
            </a:r>
            <a:endParaRPr lang="en-US" sz="1800" dirty="0"/>
          </a:p>
        </p:txBody>
      </p:sp>
      <p:sp>
        <p:nvSpPr>
          <p:cNvPr id="17" name="Text 15"/>
          <p:cNvSpPr/>
          <p:nvPr/>
        </p:nvSpPr>
        <p:spPr>
          <a:xfrm>
            <a:off x="9646920" y="4464685"/>
            <a:ext cx="79880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00557E"/>
                </a:solidFill>
                <a:latin typeface="Arial" pitchFamily="34" charset="0"/>
                <a:ea typeface="Arial" pitchFamily="34" charset="-122"/>
                <a:cs typeface="Arial" pitchFamily="34" charset="-120"/>
              </a:rPr>
              <a:t>What Privé built</a:t>
            </a:r>
            <a:endParaRPr lang="en-US" sz="1800" dirty="0"/>
          </a:p>
        </p:txBody>
      </p:sp>
      <p:sp>
        <p:nvSpPr>
          <p:cNvPr id="18" name="Text 16"/>
          <p:cNvSpPr/>
          <p:nvPr/>
        </p:nvSpPr>
        <p:spPr>
          <a:xfrm>
            <a:off x="9646920" y="5379085"/>
            <a:ext cx="2616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19" name="Text 17"/>
          <p:cNvSpPr/>
          <p:nvPr/>
        </p:nvSpPr>
        <p:spPr>
          <a:xfrm>
            <a:off x="9946639" y="5626735"/>
            <a:ext cx="7171004"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Custom development runs in its own environment — isolated from core platform stability</a:t>
            </a:r>
            <a:endParaRPr lang="en-US" sz="1950" dirty="0"/>
          </a:p>
        </p:txBody>
      </p:sp>
      <p:sp>
        <p:nvSpPr>
          <p:cNvPr id="20" name="Text 18"/>
          <p:cNvSpPr/>
          <p:nvPr/>
        </p:nvSpPr>
        <p:spPr>
          <a:xfrm>
            <a:off x="9646920" y="6769735"/>
            <a:ext cx="2616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21" name="Text 19"/>
          <p:cNvSpPr/>
          <p:nvPr/>
        </p:nvSpPr>
        <p:spPr>
          <a:xfrm>
            <a:off x="9946639" y="7017385"/>
            <a:ext cx="7171004"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Governance applies where it should — each layer carries its own clean audit trail</a:t>
            </a:r>
            <a:endParaRPr lang="en-US" sz="1950" dirty="0"/>
          </a:p>
        </p:txBody>
      </p:sp>
      <p:sp>
        <p:nvSpPr>
          <p:cNvPr id="22" name="Text 20"/>
          <p:cNvSpPr/>
          <p:nvPr/>
        </p:nvSpPr>
        <p:spPr>
          <a:xfrm>
            <a:off x="9646920" y="8160385"/>
            <a:ext cx="2616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23" name="Text 21"/>
          <p:cNvSpPr/>
          <p:nvPr/>
        </p:nvSpPr>
        <p:spPr>
          <a:xfrm>
            <a:off x="9946639" y="8408035"/>
            <a:ext cx="6582489"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Wealth manager controls pace of custom development</a:t>
            </a:r>
            <a:endParaRPr lang="en-US" sz="1950" dirty="0"/>
          </a:p>
        </p:txBody>
      </p:sp>
      <p:sp>
        <p:nvSpPr>
          <p:cNvPr id="24" name="Text 22"/>
          <p:cNvSpPr/>
          <p:nvPr/>
        </p:nvSpPr>
        <p:spPr>
          <a:xfrm>
            <a:off x="9646920" y="9179560"/>
            <a:ext cx="2616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25" name="Text 23"/>
          <p:cNvSpPr/>
          <p:nvPr/>
        </p:nvSpPr>
        <p:spPr>
          <a:xfrm>
            <a:off x="9946639" y="9427210"/>
            <a:ext cx="7171004"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Own API keys available for enterprise clients — cost control, no lock-in</a:t>
            </a:r>
            <a:endParaRPr lang="en-US" sz="1950" dirty="0"/>
          </a:p>
        </p:txBody>
      </p:sp>
      <p:sp>
        <p:nvSpPr>
          <p:cNvPr id="26" name="Shape 24"/>
          <p:cNvSpPr/>
          <p:nvPr/>
        </p:nvSpPr>
        <p:spPr>
          <a:xfrm>
            <a:off x="1047750" y="8391525"/>
            <a:ext cx="16192500" cy="1171575"/>
          </a:xfrm>
          <a:prstGeom prst="rect">
            <a:avLst/>
          </a:prstGeom>
          <a:solidFill>
            <a:srgbClr val="F4F5F7"/>
          </a:solidFill>
          <a:ln/>
        </p:spPr>
      </p:sp>
      <p:sp>
        <p:nvSpPr>
          <p:cNvPr id="27" name="Shape 25"/>
          <p:cNvSpPr/>
          <p:nvPr/>
        </p:nvSpPr>
        <p:spPr>
          <a:xfrm>
            <a:off x="1047750" y="8391525"/>
            <a:ext cx="38100" cy="1171575"/>
          </a:xfrm>
          <a:prstGeom prst="rect">
            <a:avLst/>
          </a:prstGeom>
          <a:solidFill>
            <a:srgbClr val="00557E"/>
          </a:solidFill>
          <a:ln/>
        </p:spPr>
      </p:sp>
      <p:sp>
        <p:nvSpPr>
          <p:cNvPr id="28" name="Text 26"/>
          <p:cNvSpPr/>
          <p:nvPr/>
        </p:nvSpPr>
        <p:spPr>
          <a:xfrm>
            <a:off x="1352550" y="8791575"/>
            <a:ext cx="1718310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1A2535"/>
                </a:solidFill>
                <a:latin typeface="Arial" pitchFamily="34" charset="0"/>
                <a:ea typeface="Arial" pitchFamily="34" charset="-122"/>
                <a:cs typeface="Arial" pitchFamily="34" charset="-120"/>
              </a:rPr>
              <a:t>Separation is not complexity — it is the architecture of safety and control.</a:t>
            </a:r>
            <a:endParaRPr lang="en-US" sz="1950" dirty="0"/>
          </a:p>
        </p:txBody>
      </p:sp>
      <p:pic>
        <p:nvPicPr>
          <p:cNvPr id="29"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535"/>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06 · ARCHITECTURE</a:t>
            </a:r>
            <a:endParaRPr lang="en-US" sz="1800" dirty="0"/>
          </a:p>
        </p:txBody>
      </p:sp>
      <p:sp>
        <p:nvSpPr>
          <p:cNvPr id="3" name="Text 1"/>
          <p:cNvSpPr/>
          <p:nvPr/>
        </p:nvSpPr>
        <p:spPr>
          <a:xfrm>
            <a:off x="1047750" y="194437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FFFFFF"/>
                </a:solidFill>
                <a:latin typeface="Arial" pitchFamily="34" charset="0"/>
                <a:ea typeface="Arial" pitchFamily="34" charset="-122"/>
                <a:cs typeface="Arial" pitchFamily="34" charset="-120"/>
              </a:rPr>
              <a:t>The AI Stack Behind the Platform</a:t>
            </a:r>
            <a:endParaRPr lang="en-US" sz="4350" dirty="0"/>
          </a:p>
        </p:txBody>
      </p:sp>
      <p:sp>
        <p:nvSpPr>
          <p:cNvPr id="4" name="Shape 2"/>
          <p:cNvSpPr/>
          <p:nvPr/>
        </p:nvSpPr>
        <p:spPr>
          <a:xfrm>
            <a:off x="1047750" y="2952115"/>
            <a:ext cx="16192500" cy="1646079"/>
          </a:xfrm>
          <a:prstGeom prst="roundRect">
            <a:avLst>
              <a:gd name="adj" fmla="val 4629"/>
            </a:avLst>
          </a:prstGeom>
          <a:solidFill>
            <a:srgbClr val="00557E">
              <a:alpha val="35000"/>
            </a:srgbClr>
          </a:solidFill>
          <a:ln w="7620">
            <a:solidFill>
              <a:srgbClr val="00557E">
                <a:alpha val="60000"/>
              </a:srgbClr>
            </a:solidFill>
            <a:prstDash val="solid"/>
          </a:ln>
        </p:spPr>
      </p:sp>
      <p:sp>
        <p:nvSpPr>
          <p:cNvPr id="5" name="Text 3"/>
          <p:cNvSpPr/>
          <p:nvPr/>
        </p:nvSpPr>
        <p:spPr>
          <a:xfrm>
            <a:off x="1398270" y="3455035"/>
            <a:ext cx="260977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FFFFFF">
                    <a:alpha val="50000"/>
                  </a:srgbClr>
                </a:solidFill>
                <a:latin typeface="Arial" pitchFamily="34" charset="0"/>
                <a:ea typeface="Arial" pitchFamily="34" charset="-122"/>
                <a:cs typeface="Arial" pitchFamily="34" charset="-120"/>
              </a:rPr>
              <a:t>CLIENT-FACING AI</a:t>
            </a:r>
            <a:endParaRPr lang="en-US" sz="1800" dirty="0"/>
          </a:p>
        </p:txBody>
      </p:sp>
      <p:sp>
        <p:nvSpPr>
          <p:cNvPr id="6" name="Shape 4"/>
          <p:cNvSpPr/>
          <p:nvPr/>
        </p:nvSpPr>
        <p:spPr>
          <a:xfrm>
            <a:off x="16057721" y="3409315"/>
            <a:ext cx="832009" cy="434340"/>
          </a:xfrm>
          <a:prstGeom prst="roundRect">
            <a:avLst>
              <a:gd name="adj" fmla="val 50000"/>
            </a:avLst>
          </a:prstGeom>
          <a:solidFill>
            <a:srgbClr val="60C094">
              <a:alpha val="20000"/>
            </a:srgbClr>
          </a:solidFill>
          <a:ln w="7620">
            <a:solidFill>
              <a:srgbClr val="60C094"/>
            </a:solidFill>
            <a:prstDash val="solid"/>
          </a:ln>
        </p:spPr>
      </p:sp>
      <p:sp>
        <p:nvSpPr>
          <p:cNvPr id="7" name="Text 5"/>
          <p:cNvSpPr/>
          <p:nvPr/>
        </p:nvSpPr>
        <p:spPr>
          <a:xfrm>
            <a:off x="16198691" y="3455035"/>
            <a:ext cx="626269"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08" kern="0" dirty="0">
                <a:solidFill>
                  <a:srgbClr val="60C094"/>
                </a:solidFill>
                <a:latin typeface="Arial" pitchFamily="34" charset="0"/>
                <a:ea typeface="Arial" pitchFamily="34" charset="-122"/>
                <a:cs typeface="Arial" pitchFamily="34" charset="-120"/>
              </a:rPr>
              <a:t>LIVE</a:t>
            </a:r>
            <a:endParaRPr lang="en-US" sz="1800" dirty="0"/>
          </a:p>
        </p:txBody>
      </p:sp>
      <p:sp>
        <p:nvSpPr>
          <p:cNvPr id="8" name="Text 6"/>
          <p:cNvSpPr/>
          <p:nvPr/>
        </p:nvSpPr>
        <p:spPr>
          <a:xfrm>
            <a:off x="1398270" y="4502785"/>
            <a:ext cx="17040606" cy="609600"/>
          </a:xfrm>
          <a:prstGeom prst="rect">
            <a:avLst/>
          </a:prstGeom>
          <a:noFill/>
          <a:ln/>
        </p:spPr>
        <p:txBody>
          <a:bodyPr wrap="square" lIns="25400" tIns="25400" rIns="25400" bIns="25400" rtlCol="0" anchor="t">
            <a:normAutofit/>
          </a:bodyPr>
          <a:lstStyle/>
          <a:p>
            <a:pPr algn="l" indent="0" marL="0">
              <a:lnSpc>
                <a:spcPct val="150000"/>
              </a:lnSpc>
              <a:buNone/>
            </a:pPr>
            <a:r>
              <a:rPr lang="en-US" sz="3000" b="1" dirty="0">
                <a:solidFill>
                  <a:srgbClr val="FFFFFF"/>
                </a:solidFill>
                <a:latin typeface="Arial" pitchFamily="34" charset="0"/>
                <a:ea typeface="Arial" pitchFamily="34" charset="-122"/>
                <a:cs typeface="Arial" pitchFamily="34" charset="-120"/>
              </a:rPr>
              <a:t>Anthropic (Claude) via AWS Bedrock</a:t>
            </a:r>
            <a:endParaRPr lang="en-US" sz="3000" dirty="0"/>
          </a:p>
        </p:txBody>
      </p:sp>
      <p:sp>
        <p:nvSpPr>
          <p:cNvPr id="9" name="Text 7"/>
          <p:cNvSpPr/>
          <p:nvPr/>
        </p:nvSpPr>
        <p:spPr>
          <a:xfrm>
            <a:off x="1398270" y="5798185"/>
            <a:ext cx="1704060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60000"/>
                  </a:srgbClr>
                </a:solidFill>
                <a:latin typeface="Arial" pitchFamily="34" charset="0"/>
                <a:ea typeface="Arial" pitchFamily="34" charset="-122"/>
                <a:cs typeface="Arial" pitchFamily="34" charset="-120"/>
              </a:rPr>
              <a:t>Portfolio IQ · Client Lifecycle Agent · Privé Agent</a:t>
            </a:r>
            <a:endParaRPr lang="en-US" sz="1950" dirty="0"/>
          </a:p>
        </p:txBody>
      </p:sp>
      <p:sp>
        <p:nvSpPr>
          <p:cNvPr id="10" name="Text 8"/>
          <p:cNvSpPr/>
          <p:nvPr/>
        </p:nvSpPr>
        <p:spPr>
          <a:xfrm>
            <a:off x="1398270" y="6741160"/>
            <a:ext cx="1704060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5000"/>
                  </a:srgbClr>
                </a:solidFill>
                <a:latin typeface="Arial" pitchFamily="34" charset="0"/>
                <a:ea typeface="Arial" pitchFamily="34" charset="-122"/>
                <a:cs typeface="Arial" pitchFamily="34" charset="-120"/>
              </a:rPr>
              <a:t>Enterprise data boundary · Client data does not leave the boundary · No model training on client data</a:t>
            </a:r>
            <a:endParaRPr lang="en-US" sz="1800" dirty="0"/>
          </a:p>
        </p:txBody>
      </p:sp>
      <p:sp>
        <p:nvSpPr>
          <p:cNvPr id="11" name="Shape 9"/>
          <p:cNvSpPr/>
          <p:nvPr/>
        </p:nvSpPr>
        <p:spPr>
          <a:xfrm>
            <a:off x="1047750" y="4807744"/>
            <a:ext cx="16192500" cy="1646237"/>
          </a:xfrm>
          <a:prstGeom prst="roundRect">
            <a:avLst>
              <a:gd name="adj" fmla="val 4629"/>
            </a:avLst>
          </a:prstGeom>
          <a:solidFill>
            <a:srgbClr val="FFFFFF">
              <a:alpha val="6000"/>
            </a:srgbClr>
          </a:solidFill>
          <a:ln w="7620">
            <a:solidFill>
              <a:srgbClr val="FFFFFF">
                <a:alpha val="12000"/>
              </a:srgbClr>
            </a:solidFill>
            <a:prstDash val="solid"/>
          </a:ln>
        </p:spPr>
      </p:sp>
      <p:sp>
        <p:nvSpPr>
          <p:cNvPr id="12" name="Text 10"/>
          <p:cNvSpPr/>
          <p:nvPr/>
        </p:nvSpPr>
        <p:spPr>
          <a:xfrm>
            <a:off x="1398270" y="5310664"/>
            <a:ext cx="1704060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FFFFFF">
                    <a:alpha val="50000"/>
                  </a:srgbClr>
                </a:solidFill>
                <a:latin typeface="Arial" pitchFamily="34" charset="0"/>
                <a:ea typeface="Arial" pitchFamily="34" charset="-122"/>
                <a:cs typeface="Arial" pitchFamily="34" charset="-120"/>
              </a:rPr>
              <a:t>ORCHESTRATION</a:t>
            </a:r>
            <a:endParaRPr lang="en-US" sz="1800" dirty="0"/>
          </a:p>
        </p:txBody>
      </p:sp>
      <p:sp>
        <p:nvSpPr>
          <p:cNvPr id="13" name="Text 11"/>
          <p:cNvSpPr/>
          <p:nvPr/>
        </p:nvSpPr>
        <p:spPr>
          <a:xfrm>
            <a:off x="1398270" y="6358414"/>
            <a:ext cx="17040606" cy="609600"/>
          </a:xfrm>
          <a:prstGeom prst="rect">
            <a:avLst/>
          </a:prstGeom>
          <a:noFill/>
          <a:ln/>
        </p:spPr>
        <p:txBody>
          <a:bodyPr wrap="square" lIns="25400" tIns="25400" rIns="25400" bIns="25400" rtlCol="0" anchor="t">
            <a:normAutofit/>
          </a:bodyPr>
          <a:lstStyle/>
          <a:p>
            <a:pPr algn="l" indent="0" marL="0">
              <a:lnSpc>
                <a:spcPct val="150000"/>
              </a:lnSpc>
              <a:buNone/>
            </a:pPr>
            <a:r>
              <a:rPr lang="en-US" sz="3000" b="1" dirty="0">
                <a:solidFill>
                  <a:srgbClr val="FFFFFF"/>
                </a:solidFill>
                <a:latin typeface="Arial" pitchFamily="34" charset="0"/>
                <a:ea typeface="Arial" pitchFamily="34" charset="-122"/>
                <a:cs typeface="Arial" pitchFamily="34" charset="-120"/>
              </a:rPr>
              <a:t>N8N</a:t>
            </a:r>
            <a:endParaRPr lang="en-US" sz="3000" dirty="0"/>
          </a:p>
        </p:txBody>
      </p:sp>
      <p:sp>
        <p:nvSpPr>
          <p:cNvPr id="14" name="Text 12"/>
          <p:cNvSpPr/>
          <p:nvPr/>
        </p:nvSpPr>
        <p:spPr>
          <a:xfrm>
            <a:off x="1398270" y="7653814"/>
            <a:ext cx="1704060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60000"/>
                  </a:srgbClr>
                </a:solidFill>
                <a:latin typeface="Arial" pitchFamily="34" charset="0"/>
                <a:ea typeface="Arial" pitchFamily="34" charset="-122"/>
                <a:cs typeface="Arial" pitchFamily="34" charset="-120"/>
              </a:rPr>
              <a:t>Workflow automation · Asset onboarding · Fund document pipelines · Data freshness</a:t>
            </a:r>
            <a:endParaRPr lang="en-US" sz="1950" dirty="0"/>
          </a:p>
        </p:txBody>
      </p:sp>
      <p:sp>
        <p:nvSpPr>
          <p:cNvPr id="15" name="Shape 13"/>
          <p:cNvSpPr/>
          <p:nvPr/>
        </p:nvSpPr>
        <p:spPr>
          <a:xfrm>
            <a:off x="1047750" y="6663531"/>
            <a:ext cx="16192500" cy="1646079"/>
          </a:xfrm>
          <a:prstGeom prst="roundRect">
            <a:avLst>
              <a:gd name="adj" fmla="val 4629"/>
            </a:avLst>
          </a:prstGeom>
          <a:solidFill>
            <a:srgbClr val="FFFFFF">
              <a:alpha val="4000"/>
            </a:srgbClr>
          </a:solidFill>
          <a:ln w="7620">
            <a:solidFill>
              <a:srgbClr val="FFFFFF">
                <a:alpha val="8000"/>
              </a:srgbClr>
            </a:solidFill>
            <a:prstDash val="solid"/>
          </a:ln>
        </p:spPr>
      </p:sp>
      <p:sp>
        <p:nvSpPr>
          <p:cNvPr id="16" name="Text 14"/>
          <p:cNvSpPr/>
          <p:nvPr/>
        </p:nvSpPr>
        <p:spPr>
          <a:xfrm>
            <a:off x="1398270" y="7166451"/>
            <a:ext cx="1704060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FFFFFF">
                    <a:alpha val="35000"/>
                  </a:srgbClr>
                </a:solidFill>
                <a:latin typeface="Arial" pitchFamily="34" charset="0"/>
                <a:ea typeface="Arial" pitchFamily="34" charset="-122"/>
                <a:cs typeface="Arial" pitchFamily="34" charset="-120"/>
              </a:rPr>
              <a:t>INTERNAL DEVELOPMENT</a:t>
            </a:r>
            <a:endParaRPr lang="en-US" sz="1800" dirty="0"/>
          </a:p>
        </p:txBody>
      </p:sp>
      <p:sp>
        <p:nvSpPr>
          <p:cNvPr id="17" name="Text 15"/>
          <p:cNvSpPr/>
          <p:nvPr/>
        </p:nvSpPr>
        <p:spPr>
          <a:xfrm>
            <a:off x="1398270" y="8214201"/>
            <a:ext cx="17040606" cy="609600"/>
          </a:xfrm>
          <a:prstGeom prst="rect">
            <a:avLst/>
          </a:prstGeom>
          <a:noFill/>
          <a:ln/>
        </p:spPr>
        <p:txBody>
          <a:bodyPr wrap="square" lIns="25400" tIns="25400" rIns="25400" bIns="25400" rtlCol="0" anchor="t">
            <a:normAutofit/>
          </a:bodyPr>
          <a:lstStyle/>
          <a:p>
            <a:pPr algn="l" indent="0" marL="0">
              <a:lnSpc>
                <a:spcPct val="150000"/>
              </a:lnSpc>
              <a:buNone/>
            </a:pPr>
            <a:r>
              <a:rPr lang="en-US" sz="3000" b="1" dirty="0">
                <a:solidFill>
                  <a:srgbClr val="FFFFFF">
                    <a:alpha val="65000"/>
                  </a:srgbClr>
                </a:solidFill>
                <a:latin typeface="Arial" pitchFamily="34" charset="0"/>
                <a:ea typeface="Arial" pitchFamily="34" charset="-122"/>
                <a:cs typeface="Arial" pitchFamily="34" charset="-120"/>
              </a:rPr>
              <a:t>Gemini</a:t>
            </a:r>
            <a:endParaRPr lang="en-US" sz="3000" dirty="0"/>
          </a:p>
        </p:txBody>
      </p:sp>
      <p:sp>
        <p:nvSpPr>
          <p:cNvPr id="18" name="Text 16"/>
          <p:cNvSpPr/>
          <p:nvPr/>
        </p:nvSpPr>
        <p:spPr>
          <a:xfrm>
            <a:off x="1398270" y="9509601"/>
            <a:ext cx="1704060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40000"/>
                  </a:srgbClr>
                </a:solidFill>
                <a:latin typeface="Arial" pitchFamily="34" charset="0"/>
                <a:ea typeface="Arial" pitchFamily="34" charset="-122"/>
                <a:cs typeface="Arial" pitchFamily="34" charset="-120"/>
              </a:rPr>
              <a:t>Internal tooling · Developer workflows · Build acceleration · Separate from client-facing AI</a:t>
            </a:r>
            <a:endParaRPr lang="en-US" sz="1950" dirty="0"/>
          </a:p>
        </p:txBody>
      </p:sp>
      <p:sp>
        <p:nvSpPr>
          <p:cNvPr id="19" name="Shape 17"/>
          <p:cNvSpPr/>
          <p:nvPr/>
        </p:nvSpPr>
        <p:spPr>
          <a:xfrm>
            <a:off x="1047750" y="8481060"/>
            <a:ext cx="16192500" cy="1082040"/>
          </a:xfrm>
          <a:prstGeom prst="roundRect">
            <a:avLst>
              <a:gd name="adj" fmla="val 7042"/>
            </a:avLst>
          </a:prstGeom>
          <a:solidFill>
            <a:srgbClr val="FFA521">
              <a:alpha val="8000"/>
            </a:srgbClr>
          </a:solidFill>
          <a:ln w="7620">
            <a:solidFill>
              <a:srgbClr val="FFA521">
                <a:alpha val="30000"/>
              </a:srgbClr>
            </a:solidFill>
            <a:prstDash val="solid"/>
          </a:ln>
        </p:spPr>
      </p:sp>
      <p:sp>
        <p:nvSpPr>
          <p:cNvPr id="20" name="Text 18"/>
          <p:cNvSpPr/>
          <p:nvPr/>
        </p:nvSpPr>
        <p:spPr>
          <a:xfrm>
            <a:off x="1322070" y="8850630"/>
            <a:ext cx="1720824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A521">
                    <a:alpha val="90000"/>
                  </a:srgbClr>
                </a:solidFill>
                <a:latin typeface="Arial" pitchFamily="34" charset="0"/>
                <a:ea typeface="Arial" pitchFamily="34" charset="-122"/>
                <a:cs typeface="Arial" pitchFamily="34" charset="-120"/>
              </a:rPr>
              <a:t>Stack standardisation is an active internal workstream — technical debt being resolved deliberately, not deferred. Client-facing stack is stable and fixed.</a:t>
            </a:r>
            <a:endParaRPr lang="en-US" sz="1800" dirty="0"/>
          </a:p>
        </p:txBody>
      </p:sp>
      <p:sp>
        <p:nvSpPr>
          <p:cNvPr id="21" name="Shape 19"/>
          <p:cNvSpPr/>
          <p:nvPr/>
        </p:nvSpPr>
        <p:spPr>
          <a:xfrm>
            <a:off x="16436340" y="9376410"/>
            <a:ext cx="803910" cy="453390"/>
          </a:xfrm>
          <a:prstGeom prst="roundRect">
            <a:avLst>
              <a:gd name="adj" fmla="val 12605"/>
            </a:avLst>
          </a:prstGeom>
          <a:solidFill>
            <a:srgbClr val="FFFFFF">
              <a:alpha val="8000"/>
            </a:srgbClr>
          </a:solidFill>
          <a:ln w="7620">
            <a:solidFill>
              <a:srgbClr val="FFFFFF">
                <a:alpha val="16000"/>
              </a:srgbClr>
            </a:solidFill>
            <a:prstDash val="solid"/>
          </a:ln>
        </p:spPr>
      </p:sp>
      <p:pic>
        <p:nvPicPr>
          <p:cNvPr id="22" name="Image 0" descr="preencoded.png">    </p:cNvPr>
          <p:cNvPicPr>
            <a:picLocks noChangeAspect="1"/>
          </p:cNvPicPr>
          <p:nvPr/>
        </p:nvPicPr>
        <p:blipFill>
          <a:blip r:embed="rId1"/>
          <a:stretch>
            <a:fillRect/>
          </a:stretch>
        </p:blipFill>
        <p:spPr>
          <a:xfrm>
            <a:off x="16615410" y="9479280"/>
            <a:ext cx="445770" cy="2476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91440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07 · COMPLIANCE</a:t>
            </a:r>
            <a:endParaRPr lang="en-US" sz="1800" dirty="0"/>
          </a:p>
        </p:txBody>
      </p:sp>
      <p:sp>
        <p:nvSpPr>
          <p:cNvPr id="3" name="Text 1"/>
          <p:cNvSpPr/>
          <p:nvPr/>
        </p:nvSpPr>
        <p:spPr>
          <a:xfrm>
            <a:off x="1047750" y="1744663"/>
            <a:ext cx="17811750"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b="1" dirty="0">
                <a:solidFill>
                  <a:srgbClr val="00557E"/>
                </a:solidFill>
                <a:latin typeface="Arial" pitchFamily="34" charset="0"/>
                <a:ea typeface="Arial" pitchFamily="34" charset="-122"/>
                <a:cs typeface="Arial" pitchFamily="34" charset="-120"/>
              </a:rPr>
              <a:t>Compliance Mapping: MiFID II, FCA, SFC, and MAS</a:t>
            </a:r>
            <a:endParaRPr lang="en-US" sz="3900" dirty="0"/>
          </a:p>
        </p:txBody>
      </p:sp>
      <p:sp>
        <p:nvSpPr>
          <p:cNvPr id="4" name="Text 2"/>
          <p:cNvSpPr/>
          <p:nvPr/>
        </p:nvSpPr>
        <p:spPr>
          <a:xfrm>
            <a:off x="1047750" y="2803843"/>
            <a:ext cx="178117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One platform. Four regulatory regimes. One common requirement: </a:t>
            </a:r>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human oversight of AI decisions.</a:t>
            </a:r>
            <a:endParaRPr lang="en-US" sz="1950" dirty="0"/>
          </a:p>
        </p:txBody>
      </p:sp>
      <p:sp>
        <p:nvSpPr>
          <p:cNvPr id="5" name="Shape 3"/>
          <p:cNvSpPr/>
          <p:nvPr/>
        </p:nvSpPr>
        <p:spPr>
          <a:xfrm>
            <a:off x="1047750" y="3403918"/>
            <a:ext cx="16192500" cy="6273482"/>
          </a:xfrm>
          <a:prstGeom prst="roundRect">
            <a:avLst>
              <a:gd name="adj" fmla="val 1215"/>
            </a:avLst>
          </a:prstGeom>
          <a:ln w="7620">
            <a:solidFill>
              <a:srgbClr val="E0E0E0"/>
            </a:solidFill>
            <a:prstDash val="solid"/>
          </a:ln>
        </p:spPr>
      </p:sp>
      <p:sp>
        <p:nvSpPr>
          <p:cNvPr id="6" name="Shape 4"/>
          <p:cNvSpPr/>
          <p:nvPr/>
        </p:nvSpPr>
        <p:spPr>
          <a:xfrm>
            <a:off x="1055370" y="3411538"/>
            <a:ext cx="16177260" cy="609600"/>
          </a:xfrm>
          <a:prstGeom prst="rect">
            <a:avLst/>
          </a:prstGeom>
          <a:solidFill>
            <a:srgbClr val="00557E"/>
          </a:solidFill>
          <a:ln/>
        </p:spPr>
      </p:sp>
      <p:sp>
        <p:nvSpPr>
          <p:cNvPr id="7" name="Text 5"/>
          <p:cNvSpPr/>
          <p:nvPr/>
        </p:nvSpPr>
        <p:spPr>
          <a:xfrm>
            <a:off x="1245870" y="3544888"/>
            <a:ext cx="4284666"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b="1" spc="108" kern="0" dirty="0">
                <a:solidFill>
                  <a:srgbClr val="FFFFFF"/>
                </a:solidFill>
                <a:latin typeface="Arial" pitchFamily="34" charset="0"/>
                <a:ea typeface="Arial" pitchFamily="34" charset="-122"/>
                <a:cs typeface="Arial" pitchFamily="34" charset="-120"/>
              </a:rPr>
              <a:t>PLATFORM CAPABILITY</a:t>
            </a:r>
            <a:endParaRPr lang="en-US" sz="1800" dirty="0"/>
          </a:p>
        </p:txBody>
      </p:sp>
      <p:sp>
        <p:nvSpPr>
          <p:cNvPr id="8" name="Text 6"/>
          <p:cNvSpPr/>
          <p:nvPr/>
        </p:nvSpPr>
        <p:spPr>
          <a:xfrm>
            <a:off x="5775643" y="3544888"/>
            <a:ext cx="261831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b="1" spc="108" kern="0" dirty="0">
                <a:solidFill>
                  <a:srgbClr val="FFFFFF"/>
                </a:solidFill>
                <a:latin typeface="Arial" pitchFamily="34" charset="0"/>
                <a:ea typeface="Arial" pitchFamily="34" charset="-122"/>
                <a:cs typeface="Arial" pitchFamily="34" charset="-120"/>
              </a:rPr>
              <a:t>MIFID II</a:t>
            </a:r>
            <a:endParaRPr lang="en-US" sz="1800" dirty="0"/>
          </a:p>
        </p:txBody>
      </p:sp>
      <p:sp>
        <p:nvSpPr>
          <p:cNvPr id="9" name="Text 7"/>
          <p:cNvSpPr/>
          <p:nvPr/>
        </p:nvSpPr>
        <p:spPr>
          <a:xfrm>
            <a:off x="8687594" y="3544888"/>
            <a:ext cx="2618146"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b="1" spc="108" kern="0" dirty="0">
                <a:solidFill>
                  <a:srgbClr val="FFFFFF"/>
                </a:solidFill>
                <a:latin typeface="Arial" pitchFamily="34" charset="0"/>
                <a:ea typeface="Arial" pitchFamily="34" charset="-122"/>
                <a:cs typeface="Arial" pitchFamily="34" charset="-120"/>
              </a:rPr>
              <a:t>FCA</a:t>
            </a:r>
            <a:endParaRPr lang="en-US" sz="1800" dirty="0"/>
          </a:p>
        </p:txBody>
      </p:sp>
      <p:sp>
        <p:nvSpPr>
          <p:cNvPr id="10" name="Text 8"/>
          <p:cNvSpPr/>
          <p:nvPr/>
        </p:nvSpPr>
        <p:spPr>
          <a:xfrm>
            <a:off x="11599386" y="3544888"/>
            <a:ext cx="2618310"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b="1" spc="108" kern="0" dirty="0">
                <a:solidFill>
                  <a:srgbClr val="FFFFFF"/>
                </a:solidFill>
                <a:latin typeface="Arial" pitchFamily="34" charset="0"/>
                <a:ea typeface="Arial" pitchFamily="34" charset="-122"/>
                <a:cs typeface="Arial" pitchFamily="34" charset="-120"/>
              </a:rPr>
              <a:t>SFC (HK)</a:t>
            </a:r>
            <a:endParaRPr lang="en-US" sz="1800" dirty="0"/>
          </a:p>
        </p:txBody>
      </p:sp>
      <p:sp>
        <p:nvSpPr>
          <p:cNvPr id="11" name="Text 9"/>
          <p:cNvSpPr/>
          <p:nvPr/>
        </p:nvSpPr>
        <p:spPr>
          <a:xfrm>
            <a:off x="14511338" y="3544888"/>
            <a:ext cx="2618146" cy="381000"/>
          </a:xfrm>
          <a:prstGeom prst="rect">
            <a:avLst/>
          </a:prstGeom>
          <a:noFill/>
          <a:ln/>
        </p:spPr>
        <p:txBody>
          <a:bodyPr wrap="square" lIns="25400" tIns="25400" rIns="25400" bIns="25400" rtlCol="0" anchor="ctr">
            <a:normAutofit/>
          </a:bodyPr>
          <a:lstStyle/>
          <a:p>
            <a:pPr algn="l" indent="0" marL="0">
              <a:lnSpc>
                <a:spcPct val="150000"/>
              </a:lnSpc>
              <a:buNone/>
            </a:pPr>
            <a:r>
              <a:rPr lang="en-US" sz="1800" b="1" spc="108" kern="0" dirty="0">
                <a:solidFill>
                  <a:srgbClr val="FFFFFF"/>
                </a:solidFill>
                <a:latin typeface="Arial" pitchFamily="34" charset="0"/>
                <a:ea typeface="Arial" pitchFamily="34" charset="-122"/>
                <a:cs typeface="Arial" pitchFamily="34" charset="-120"/>
              </a:rPr>
              <a:t>MAS (SG)</a:t>
            </a:r>
            <a:endParaRPr lang="en-US" sz="1800" dirty="0"/>
          </a:p>
        </p:txBody>
      </p:sp>
      <p:sp>
        <p:nvSpPr>
          <p:cNvPr id="12" name="Shape 10"/>
          <p:cNvSpPr/>
          <p:nvPr/>
        </p:nvSpPr>
        <p:spPr>
          <a:xfrm>
            <a:off x="1055370" y="4950778"/>
            <a:ext cx="16177260" cy="9525"/>
          </a:xfrm>
          <a:prstGeom prst="rect">
            <a:avLst/>
          </a:prstGeom>
          <a:solidFill>
            <a:srgbClr val="E0E0E0"/>
          </a:solidFill>
          <a:ln/>
        </p:spPr>
      </p:sp>
      <p:sp>
        <p:nvSpPr>
          <p:cNvPr id="13" name="Text 11"/>
          <p:cNvSpPr/>
          <p:nvPr/>
        </p:nvSpPr>
        <p:spPr>
          <a:xfrm>
            <a:off x="1245870" y="4144963"/>
            <a:ext cx="4284666"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Override UI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Accept / Modify / Reject</a:t>
            </a:r>
            <a:endParaRPr lang="en-US" sz="1800" dirty="0"/>
          </a:p>
        </p:txBody>
      </p:sp>
      <p:sp>
        <p:nvSpPr>
          <p:cNvPr id="14" name="Text 12"/>
          <p:cNvSpPr/>
          <p:nvPr/>
        </p:nvSpPr>
        <p:spPr>
          <a:xfrm>
            <a:off x="5775643" y="4144963"/>
            <a:ext cx="2618310"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8687594" y="4144963"/>
            <a:ext cx="2618146"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Required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AI in regulated activity</a:t>
            </a:r>
            <a:endParaRPr lang="en-US" sz="1800" dirty="0"/>
          </a:p>
        </p:txBody>
      </p:sp>
      <p:sp>
        <p:nvSpPr>
          <p:cNvPr id="16" name="Text 14"/>
          <p:cNvSpPr/>
          <p:nvPr/>
        </p:nvSpPr>
        <p:spPr>
          <a:xfrm>
            <a:off x="11599386" y="4144963"/>
            <a:ext cx="2618310"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Required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AI in inv. mgmt</a:t>
            </a:r>
            <a:endParaRPr lang="en-US" sz="1800" dirty="0"/>
          </a:p>
        </p:txBody>
      </p:sp>
      <p:sp>
        <p:nvSpPr>
          <p:cNvPr id="17" name="Text 15"/>
          <p:cNvSpPr/>
          <p:nvPr/>
        </p:nvSpPr>
        <p:spPr>
          <a:xfrm>
            <a:off x="14511338" y="4144963"/>
            <a:ext cx="2618146"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Required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Accountability Principle</a:t>
            </a:r>
            <a:endParaRPr lang="en-US" sz="1800" dirty="0"/>
          </a:p>
        </p:txBody>
      </p:sp>
      <p:sp>
        <p:nvSpPr>
          <p:cNvPr id="18" name="Shape 16"/>
          <p:cNvSpPr/>
          <p:nvPr/>
        </p:nvSpPr>
        <p:spPr>
          <a:xfrm>
            <a:off x="1055370" y="4958397"/>
            <a:ext cx="16177260" cy="941070"/>
          </a:xfrm>
          <a:prstGeom prst="rect">
            <a:avLst/>
          </a:prstGeom>
          <a:solidFill>
            <a:srgbClr val="F9F9F9"/>
          </a:solidFill>
          <a:ln/>
        </p:spPr>
      </p:sp>
      <p:sp>
        <p:nvSpPr>
          <p:cNvPr id="19" name="Shape 17"/>
          <p:cNvSpPr/>
          <p:nvPr/>
        </p:nvSpPr>
        <p:spPr>
          <a:xfrm>
            <a:off x="1055370" y="5891847"/>
            <a:ext cx="16177260" cy="9525"/>
          </a:xfrm>
          <a:prstGeom prst="rect">
            <a:avLst/>
          </a:prstGeom>
          <a:solidFill>
            <a:srgbClr val="E0E0E0"/>
          </a:solidFill>
          <a:ln/>
        </p:spPr>
      </p:sp>
      <p:sp>
        <p:nvSpPr>
          <p:cNvPr id="20" name="Text 18"/>
          <p:cNvSpPr/>
          <p:nvPr/>
        </p:nvSpPr>
        <p:spPr>
          <a:xfrm>
            <a:off x="1245870" y="5082222"/>
            <a:ext cx="4284666"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Audit Store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Immutable, exportable</a:t>
            </a:r>
            <a:endParaRPr lang="en-US" sz="1800" dirty="0"/>
          </a:p>
        </p:txBody>
      </p:sp>
      <p:sp>
        <p:nvSpPr>
          <p:cNvPr id="21" name="Text 19"/>
          <p:cNvSpPr/>
          <p:nvPr/>
        </p:nvSpPr>
        <p:spPr>
          <a:xfrm>
            <a:off x="5775643" y="5082222"/>
            <a:ext cx="2618310"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Required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Suitability records</a:t>
            </a:r>
            <a:endParaRPr lang="en-US" sz="1800" dirty="0"/>
          </a:p>
        </p:txBody>
      </p:sp>
      <p:sp>
        <p:nvSpPr>
          <p:cNvPr id="22" name="Text 20"/>
          <p:cNvSpPr/>
          <p:nvPr/>
        </p:nvSpPr>
        <p:spPr>
          <a:xfrm>
            <a:off x="8687594" y="5082222"/>
            <a:ext cx="2618146"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Required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Consumer Duty</a:t>
            </a:r>
            <a:endParaRPr lang="en-US" sz="1800" dirty="0"/>
          </a:p>
        </p:txBody>
      </p:sp>
      <p:sp>
        <p:nvSpPr>
          <p:cNvPr id="23" name="Text 21"/>
          <p:cNvSpPr/>
          <p:nvPr/>
        </p:nvSpPr>
        <p:spPr>
          <a:xfrm>
            <a:off x="11599386" y="5082222"/>
            <a:ext cx="2618310"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Required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AI rec. records</a:t>
            </a:r>
            <a:endParaRPr lang="en-US" sz="1800" dirty="0"/>
          </a:p>
        </p:txBody>
      </p:sp>
      <p:sp>
        <p:nvSpPr>
          <p:cNvPr id="24" name="Text 22"/>
          <p:cNvSpPr/>
          <p:nvPr/>
        </p:nvSpPr>
        <p:spPr>
          <a:xfrm>
            <a:off x="14511338" y="5082222"/>
            <a:ext cx="2618146"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Required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Transparency Principle</a:t>
            </a:r>
            <a:endParaRPr lang="en-US" sz="1800" dirty="0"/>
          </a:p>
        </p:txBody>
      </p:sp>
      <p:sp>
        <p:nvSpPr>
          <p:cNvPr id="25" name="Shape 23"/>
          <p:cNvSpPr/>
          <p:nvPr/>
        </p:nvSpPr>
        <p:spPr>
          <a:xfrm>
            <a:off x="1055370" y="6832918"/>
            <a:ext cx="16177260" cy="9525"/>
          </a:xfrm>
          <a:prstGeom prst="rect">
            <a:avLst/>
          </a:prstGeom>
          <a:solidFill>
            <a:srgbClr val="E0E0E0"/>
          </a:solidFill>
          <a:ln/>
        </p:spPr>
      </p:sp>
      <p:sp>
        <p:nvSpPr>
          <p:cNvPr id="26" name="Text 24"/>
          <p:cNvSpPr/>
          <p:nvPr/>
        </p:nvSpPr>
        <p:spPr>
          <a:xfrm>
            <a:off x="1245870" y="6023293"/>
            <a:ext cx="4284666"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Confidence Scorer</a:t>
            </a:r>
            <a:endParaRPr lang="en-US" sz="1800" dirty="0"/>
          </a:p>
        </p:txBody>
      </p:sp>
      <p:sp>
        <p:nvSpPr>
          <p:cNvPr id="27" name="Text 25"/>
          <p:cNvSpPr/>
          <p:nvPr/>
        </p:nvSpPr>
        <p:spPr>
          <a:xfrm>
            <a:off x="5775643" y="6023293"/>
            <a:ext cx="2618310"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Supports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Best exec. evidence</a:t>
            </a:r>
            <a:endParaRPr lang="en-US" sz="1800" dirty="0"/>
          </a:p>
        </p:txBody>
      </p:sp>
      <p:sp>
        <p:nvSpPr>
          <p:cNvPr id="28" name="Text 26"/>
          <p:cNvSpPr/>
          <p:nvPr/>
        </p:nvSpPr>
        <p:spPr>
          <a:xfrm>
            <a:off x="8687594" y="6023293"/>
            <a:ext cx="2618146"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Supports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Explainability</a:t>
            </a:r>
            <a:endParaRPr lang="en-US" sz="1800" dirty="0"/>
          </a:p>
        </p:txBody>
      </p:sp>
      <p:sp>
        <p:nvSpPr>
          <p:cNvPr id="29" name="Text 27"/>
          <p:cNvSpPr/>
          <p:nvPr/>
        </p:nvSpPr>
        <p:spPr>
          <a:xfrm>
            <a:off x="11599386" y="6023293"/>
            <a:ext cx="2618310"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Supports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Explainability</a:t>
            </a:r>
            <a:endParaRPr lang="en-US" sz="1800" dirty="0"/>
          </a:p>
        </p:txBody>
      </p:sp>
      <p:sp>
        <p:nvSpPr>
          <p:cNvPr id="30" name="Text 28"/>
          <p:cNvSpPr/>
          <p:nvPr/>
        </p:nvSpPr>
        <p:spPr>
          <a:xfrm>
            <a:off x="14511338" y="6023293"/>
            <a:ext cx="2618146"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Supports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Fairness + Ethics</a:t>
            </a:r>
            <a:endParaRPr lang="en-US" sz="1800" dirty="0"/>
          </a:p>
        </p:txBody>
      </p:sp>
      <p:sp>
        <p:nvSpPr>
          <p:cNvPr id="31" name="Shape 29"/>
          <p:cNvSpPr/>
          <p:nvPr/>
        </p:nvSpPr>
        <p:spPr>
          <a:xfrm>
            <a:off x="1055370" y="6840538"/>
            <a:ext cx="16177260" cy="941070"/>
          </a:xfrm>
          <a:prstGeom prst="rect">
            <a:avLst/>
          </a:prstGeom>
          <a:solidFill>
            <a:srgbClr val="F9F9F9"/>
          </a:solidFill>
          <a:ln/>
        </p:spPr>
      </p:sp>
      <p:sp>
        <p:nvSpPr>
          <p:cNvPr id="32" name="Shape 30"/>
          <p:cNvSpPr/>
          <p:nvPr/>
        </p:nvSpPr>
        <p:spPr>
          <a:xfrm>
            <a:off x="1055370" y="7773988"/>
            <a:ext cx="16177260" cy="9525"/>
          </a:xfrm>
          <a:prstGeom prst="rect">
            <a:avLst/>
          </a:prstGeom>
          <a:solidFill>
            <a:srgbClr val="E0E0E0"/>
          </a:solidFill>
          <a:ln/>
        </p:spPr>
      </p:sp>
      <p:sp>
        <p:nvSpPr>
          <p:cNvPr id="33" name="Text 31"/>
          <p:cNvSpPr/>
          <p:nvPr/>
        </p:nvSpPr>
        <p:spPr>
          <a:xfrm>
            <a:off x="1245870" y="6964363"/>
            <a:ext cx="4284666"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Logging Hook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Inputs, model ver., timestamp</a:t>
            </a:r>
            <a:endParaRPr lang="en-US" sz="1800" dirty="0"/>
          </a:p>
        </p:txBody>
      </p:sp>
      <p:sp>
        <p:nvSpPr>
          <p:cNvPr id="34" name="Text 32"/>
          <p:cNvSpPr/>
          <p:nvPr/>
        </p:nvSpPr>
        <p:spPr>
          <a:xfrm>
            <a:off x="5775643" y="6964363"/>
            <a:ext cx="2618310"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Supports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Audit trail</a:t>
            </a:r>
            <a:endParaRPr lang="en-US" sz="1800" dirty="0"/>
          </a:p>
        </p:txBody>
      </p:sp>
      <p:sp>
        <p:nvSpPr>
          <p:cNvPr id="35" name="Text 33"/>
          <p:cNvSpPr/>
          <p:nvPr/>
        </p:nvSpPr>
        <p:spPr>
          <a:xfrm>
            <a:off x="8687594" y="6964363"/>
            <a:ext cx="2618146"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Supports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Audit trail</a:t>
            </a:r>
            <a:endParaRPr lang="en-US" sz="1800" dirty="0"/>
          </a:p>
        </p:txBody>
      </p:sp>
      <p:sp>
        <p:nvSpPr>
          <p:cNvPr id="36" name="Text 34"/>
          <p:cNvSpPr/>
          <p:nvPr/>
        </p:nvSpPr>
        <p:spPr>
          <a:xfrm>
            <a:off x="11599386" y="6964363"/>
            <a:ext cx="2618310"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Supports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AI rec. records</a:t>
            </a:r>
            <a:endParaRPr lang="en-US" sz="1800" dirty="0"/>
          </a:p>
        </p:txBody>
      </p:sp>
      <p:sp>
        <p:nvSpPr>
          <p:cNvPr id="37" name="Text 35"/>
          <p:cNvSpPr/>
          <p:nvPr/>
        </p:nvSpPr>
        <p:spPr>
          <a:xfrm>
            <a:off x="14511338" y="6964363"/>
            <a:ext cx="2618146" cy="7315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Supports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Accountability</a:t>
            </a:r>
            <a:endParaRPr lang="en-US" sz="1800" dirty="0"/>
          </a:p>
        </p:txBody>
      </p:sp>
      <p:sp>
        <p:nvSpPr>
          <p:cNvPr id="38" name="Shape 36"/>
          <p:cNvSpPr/>
          <p:nvPr/>
        </p:nvSpPr>
        <p:spPr>
          <a:xfrm>
            <a:off x="1055370" y="9057958"/>
            <a:ext cx="16177260" cy="9525"/>
          </a:xfrm>
          <a:prstGeom prst="rect">
            <a:avLst/>
          </a:prstGeom>
          <a:solidFill>
            <a:srgbClr val="E0E0E0"/>
          </a:solidFill>
          <a:ln/>
        </p:spPr>
      </p:sp>
      <p:sp>
        <p:nvSpPr>
          <p:cNvPr id="39" name="Text 37"/>
          <p:cNvSpPr/>
          <p:nvPr/>
        </p:nvSpPr>
        <p:spPr>
          <a:xfrm>
            <a:off x="1245870" y="7905433"/>
            <a:ext cx="4284666" cy="1074420"/>
          </a:xfrm>
          <a:prstGeom prst="rect">
            <a:avLst/>
          </a:prstGeom>
          <a:noFill/>
          <a:ln/>
        </p:spPr>
        <p:txBody>
          <a:bodyPr wrap="square" lIns="25400" tIns="25400" rIns="25400" bIns="25400" rtlCol="0" anchor="ctr">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Deterministic Analytics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Portfolio Optimiser, Health Checks, Scenario Analysis</a:t>
            </a:r>
            <a:endParaRPr lang="en-US" sz="1800" dirty="0"/>
          </a:p>
        </p:txBody>
      </p:sp>
      <p:sp>
        <p:nvSpPr>
          <p:cNvPr id="40" name="Text 38"/>
          <p:cNvSpPr/>
          <p:nvPr/>
        </p:nvSpPr>
        <p:spPr>
          <a:xfrm>
            <a:off x="5775643" y="7905433"/>
            <a:ext cx="2618310" cy="10744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Inherent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Reproducible outputs</a:t>
            </a:r>
            <a:endParaRPr lang="en-US" sz="1800" dirty="0"/>
          </a:p>
        </p:txBody>
      </p:sp>
      <p:sp>
        <p:nvSpPr>
          <p:cNvPr id="41" name="Text 39"/>
          <p:cNvSpPr/>
          <p:nvPr/>
        </p:nvSpPr>
        <p:spPr>
          <a:xfrm>
            <a:off x="8687594" y="7905433"/>
            <a:ext cx="2618146" cy="10744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Inherent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Reproducible outputs</a:t>
            </a:r>
            <a:endParaRPr lang="en-US" sz="1800" dirty="0"/>
          </a:p>
        </p:txBody>
      </p:sp>
      <p:sp>
        <p:nvSpPr>
          <p:cNvPr id="42" name="Text 40"/>
          <p:cNvSpPr/>
          <p:nvPr/>
        </p:nvSpPr>
        <p:spPr>
          <a:xfrm>
            <a:off x="11599386" y="7905433"/>
            <a:ext cx="2618310" cy="10744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Inherent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Reproducible outputs</a:t>
            </a:r>
            <a:endParaRPr lang="en-US" sz="1800" dirty="0"/>
          </a:p>
        </p:txBody>
      </p:sp>
      <p:sp>
        <p:nvSpPr>
          <p:cNvPr id="43" name="Text 41"/>
          <p:cNvSpPr/>
          <p:nvPr/>
        </p:nvSpPr>
        <p:spPr>
          <a:xfrm>
            <a:off x="14511338" y="7905433"/>
            <a:ext cx="2618146" cy="107442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Inherent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Reproducible outputs</a:t>
            </a:r>
            <a:endParaRPr lang="en-US" sz="1800" dirty="0"/>
          </a:p>
        </p:txBody>
      </p:sp>
      <p:sp>
        <p:nvSpPr>
          <p:cNvPr id="44" name="Shape 42"/>
          <p:cNvSpPr/>
          <p:nvPr/>
        </p:nvSpPr>
        <p:spPr>
          <a:xfrm>
            <a:off x="1055370" y="9065577"/>
            <a:ext cx="16177260" cy="937260"/>
          </a:xfrm>
          <a:prstGeom prst="rect">
            <a:avLst/>
          </a:prstGeom>
          <a:solidFill>
            <a:srgbClr val="EAF5F0"/>
          </a:solidFill>
          <a:ln/>
        </p:spPr>
      </p:sp>
      <p:sp>
        <p:nvSpPr>
          <p:cNvPr id="45" name="Text 43"/>
          <p:cNvSpPr/>
          <p:nvPr/>
        </p:nvSpPr>
        <p:spPr>
          <a:xfrm>
            <a:off x="1245870" y="9189402"/>
            <a:ext cx="4284666"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Generative AI Features </a:t>
            </a:r>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Portfolio IQ, CLA, Privé Agent</a:t>
            </a:r>
            <a:endParaRPr lang="en-US" sz="1800" dirty="0"/>
          </a:p>
        </p:txBody>
      </p:sp>
      <p:sp>
        <p:nvSpPr>
          <p:cNvPr id="46" name="Text 44"/>
          <p:cNvSpPr/>
          <p:nvPr/>
        </p:nvSpPr>
        <p:spPr>
          <a:xfrm>
            <a:off x="5775643" y="9189402"/>
            <a:ext cx="2618310"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Via governance layer</a:t>
            </a:r>
            <a:endParaRPr lang="en-US" sz="1800" dirty="0"/>
          </a:p>
        </p:txBody>
      </p:sp>
      <p:sp>
        <p:nvSpPr>
          <p:cNvPr id="47" name="Text 45"/>
          <p:cNvSpPr/>
          <p:nvPr/>
        </p:nvSpPr>
        <p:spPr>
          <a:xfrm>
            <a:off x="8687594" y="9189402"/>
            <a:ext cx="2618146"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Via governance layer</a:t>
            </a:r>
            <a:endParaRPr lang="en-US" sz="1800" dirty="0"/>
          </a:p>
        </p:txBody>
      </p:sp>
      <p:sp>
        <p:nvSpPr>
          <p:cNvPr id="48" name="Text 46"/>
          <p:cNvSpPr/>
          <p:nvPr/>
        </p:nvSpPr>
        <p:spPr>
          <a:xfrm>
            <a:off x="11599386" y="9189402"/>
            <a:ext cx="2618310"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Via governance layer</a:t>
            </a:r>
            <a:endParaRPr lang="en-US" sz="1800" dirty="0"/>
          </a:p>
        </p:txBody>
      </p:sp>
      <p:sp>
        <p:nvSpPr>
          <p:cNvPr id="49" name="Text 47"/>
          <p:cNvSpPr/>
          <p:nvPr/>
        </p:nvSpPr>
        <p:spPr>
          <a:xfrm>
            <a:off x="14511338" y="9189402"/>
            <a:ext cx="2618146" cy="727710"/>
          </a:xfrm>
          <a:prstGeom prst="rect">
            <a:avLst/>
          </a:prstGeom>
          <a:noFill/>
          <a:ln/>
        </p:spPr>
        <p:txBody>
          <a:bodyPr wrap="square" lIns="25400" tIns="25400" rIns="25400" bIns="25400" rtlCol="0" anchor="ctr">
            <a:normAutofit/>
          </a:bodyPr>
          <a:lstStyle/>
          <a:p>
            <a:pPr algn="l" indent="0" marL="0">
              <a:lnSpc>
                <a:spcPct val="150000"/>
              </a:lnSpc>
              <a:buNone/>
            </a:pPr>
            <a:r>
              <a:rPr lang="en-US" sz="1800" dirty="0">
                <a:solidFill>
                  <a:srgbClr val="333333"/>
                </a:solidFill>
                <a:latin typeface="Arial" pitchFamily="34" charset="0"/>
                <a:ea typeface="Arial" pitchFamily="34" charset="-122"/>
                <a:cs typeface="Arial" pitchFamily="34" charset="-120"/>
              </a:rPr>
              <a:t>✓ Via governance layer</a:t>
            </a:r>
            <a:endParaRPr lang="en-US" sz="1800" dirty="0"/>
          </a:p>
        </p:txBody>
      </p:sp>
      <p:pic>
        <p:nvPicPr>
          <p:cNvPr id="50" name="Image 0" descr="preencoded.png">    </p:cNvPr>
          <p:cNvPicPr>
            <a:picLocks noChangeAspect="1"/>
          </p:cNvPicPr>
          <p:nvPr/>
        </p:nvPicPr>
        <p:blipFill>
          <a:blip r:embed="rId1"/>
          <a:stretch>
            <a:fillRect/>
          </a:stretch>
        </p:blipFill>
        <p:spPr>
          <a:xfrm>
            <a:off x="16794480" y="9734550"/>
            <a:ext cx="445770" cy="2476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535"/>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07 · COMPLIANCE</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FFFFFF"/>
                </a:solidFill>
                <a:latin typeface="Arial" pitchFamily="34" charset="0"/>
                <a:ea typeface="Arial" pitchFamily="34" charset="-122"/>
                <a:cs typeface="Arial" pitchFamily="34" charset="-120"/>
              </a:rPr>
              <a:t>How Human Oversight Works in the Platform</a:t>
            </a:r>
            <a:endParaRPr lang="en-US" sz="4350" dirty="0"/>
          </a:p>
        </p:txBody>
      </p:sp>
      <p:sp>
        <p:nvSpPr>
          <p:cNvPr id="4" name="Shape 2"/>
          <p:cNvSpPr/>
          <p:nvPr/>
        </p:nvSpPr>
        <p:spPr>
          <a:xfrm>
            <a:off x="1047750" y="2933065"/>
            <a:ext cx="5092700" cy="2621598"/>
          </a:xfrm>
          <a:prstGeom prst="roundRect">
            <a:avLst>
              <a:gd name="adj" fmla="val 2907"/>
            </a:avLst>
          </a:prstGeom>
          <a:solidFill>
            <a:srgbClr val="00557E">
              <a:alpha val="30000"/>
            </a:srgbClr>
          </a:solidFill>
          <a:ln w="7620">
            <a:solidFill>
              <a:srgbClr val="00557E">
                <a:alpha val="50000"/>
              </a:srgbClr>
            </a:solidFill>
            <a:prstDash val="solid"/>
          </a:ln>
        </p:spPr>
      </p:sp>
      <p:sp>
        <p:nvSpPr>
          <p:cNvPr id="5" name="Text 3"/>
          <p:cNvSpPr/>
          <p:nvPr/>
        </p:nvSpPr>
        <p:spPr>
          <a:xfrm>
            <a:off x="1264920" y="2972276"/>
            <a:ext cx="512419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FFFFFF">
                    <a:alpha val="50000"/>
                  </a:srgbClr>
                </a:solidFill>
                <a:latin typeface="Arial" pitchFamily="34" charset="0"/>
                <a:ea typeface="Arial" pitchFamily="34" charset="-122"/>
                <a:cs typeface="Arial" pitchFamily="34" charset="-120"/>
              </a:rPr>
              <a:t>1 · LOGGING HOOK</a:t>
            </a:r>
            <a:endParaRPr lang="en-US" sz="1800" dirty="0"/>
          </a:p>
        </p:txBody>
      </p:sp>
      <p:sp>
        <p:nvSpPr>
          <p:cNvPr id="6" name="Text 4"/>
          <p:cNvSpPr/>
          <p:nvPr/>
        </p:nvSpPr>
        <p:spPr>
          <a:xfrm>
            <a:off x="1264920" y="3886676"/>
            <a:ext cx="512419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FFFFFF"/>
                </a:solidFill>
                <a:latin typeface="Arial" pitchFamily="34" charset="0"/>
                <a:ea typeface="Arial" pitchFamily="34" charset="-122"/>
                <a:cs typeface="Arial" pitchFamily="34" charset="-120"/>
              </a:rPr>
              <a:t>Captures every invocation</a:t>
            </a:r>
            <a:endParaRPr lang="en-US" sz="1950" dirty="0"/>
          </a:p>
        </p:txBody>
      </p:sp>
      <p:sp>
        <p:nvSpPr>
          <p:cNvPr id="7" name="Text 5"/>
          <p:cNvSpPr/>
          <p:nvPr/>
        </p:nvSpPr>
        <p:spPr>
          <a:xfrm>
            <a:off x="1264920" y="4829651"/>
            <a:ext cx="4798111"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55000"/>
                  </a:srgbClr>
                </a:solidFill>
                <a:latin typeface="Arial" pitchFamily="34" charset="0"/>
                <a:ea typeface="Arial" pitchFamily="34" charset="-122"/>
                <a:cs typeface="Arial" pitchFamily="34" charset="-120"/>
              </a:rPr>
              <a:t>Inputs · Model version · Raw output · Timestamp · User context</a:t>
            </a:r>
            <a:endParaRPr lang="en-US" sz="1800" dirty="0"/>
          </a:p>
        </p:txBody>
      </p:sp>
      <p:sp>
        <p:nvSpPr>
          <p:cNvPr id="8" name="Text 6"/>
          <p:cNvSpPr/>
          <p:nvPr/>
        </p:nvSpPr>
        <p:spPr>
          <a:xfrm>
            <a:off x="6235700" y="4043839"/>
            <a:ext cx="342900"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0C094"/>
                </a:solidFill>
                <a:latin typeface="Arial" pitchFamily="34" charset="0"/>
                <a:ea typeface="Arial" pitchFamily="34" charset="-122"/>
                <a:cs typeface="Arial" pitchFamily="34" charset="-120"/>
              </a:rPr>
              <a:t>→</a:t>
            </a:r>
            <a:endParaRPr lang="en-US" sz="2100" dirty="0"/>
          </a:p>
        </p:txBody>
      </p:sp>
      <p:sp>
        <p:nvSpPr>
          <p:cNvPr id="9" name="Shape 7"/>
          <p:cNvSpPr/>
          <p:nvPr/>
        </p:nvSpPr>
        <p:spPr>
          <a:xfrm>
            <a:off x="6597650" y="2933065"/>
            <a:ext cx="5092700" cy="2621598"/>
          </a:xfrm>
          <a:prstGeom prst="rect">
            <a:avLst/>
          </a:prstGeom>
          <a:solidFill>
            <a:srgbClr val="00557E">
              <a:alpha val="30000"/>
            </a:srgbClr>
          </a:solidFill>
          <a:ln w="7620">
            <a:solidFill>
              <a:srgbClr val="00557E">
                <a:alpha val="50000"/>
              </a:srgbClr>
            </a:solidFill>
            <a:prstDash val="solid"/>
          </a:ln>
        </p:spPr>
      </p:sp>
      <p:sp>
        <p:nvSpPr>
          <p:cNvPr id="10" name="Text 8"/>
          <p:cNvSpPr/>
          <p:nvPr/>
        </p:nvSpPr>
        <p:spPr>
          <a:xfrm>
            <a:off x="6814820" y="2972276"/>
            <a:ext cx="512419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FFFFFF">
                    <a:alpha val="50000"/>
                  </a:srgbClr>
                </a:solidFill>
                <a:latin typeface="Arial" pitchFamily="34" charset="0"/>
                <a:ea typeface="Arial" pitchFamily="34" charset="-122"/>
                <a:cs typeface="Arial" pitchFamily="34" charset="-120"/>
              </a:rPr>
              <a:t>2 · CONFIDENCE SCORER</a:t>
            </a:r>
            <a:endParaRPr lang="en-US" sz="1800" dirty="0"/>
          </a:p>
        </p:txBody>
      </p:sp>
      <p:sp>
        <p:nvSpPr>
          <p:cNvPr id="11" name="Text 9"/>
          <p:cNvSpPr/>
          <p:nvPr/>
        </p:nvSpPr>
        <p:spPr>
          <a:xfrm>
            <a:off x="6814820" y="3886676"/>
            <a:ext cx="512419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FFFFFF"/>
                </a:solidFill>
                <a:latin typeface="Arial" pitchFamily="34" charset="0"/>
                <a:ea typeface="Arial" pitchFamily="34" charset="-122"/>
                <a:cs typeface="Arial" pitchFamily="34" charset="-120"/>
              </a:rPr>
              <a:t>Attaches reliability signal</a:t>
            </a:r>
            <a:endParaRPr lang="en-US" sz="1950" dirty="0"/>
          </a:p>
        </p:txBody>
      </p:sp>
      <p:sp>
        <p:nvSpPr>
          <p:cNvPr id="12" name="Text 10"/>
          <p:cNvSpPr/>
          <p:nvPr/>
        </p:nvSpPr>
        <p:spPr>
          <a:xfrm>
            <a:off x="6814820" y="4829651"/>
            <a:ext cx="4798111"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55000"/>
                  </a:srgbClr>
                </a:solidFill>
                <a:latin typeface="Arial" pitchFamily="34" charset="0"/>
                <a:ea typeface="Arial" pitchFamily="34" charset="-122"/>
                <a:cs typeface="Arial" pitchFamily="34" charset="-120"/>
              </a:rPr>
              <a:t>Visible to wealth manager alongside the recommendation</a:t>
            </a:r>
            <a:endParaRPr lang="en-US" sz="1800" dirty="0"/>
          </a:p>
        </p:txBody>
      </p:sp>
      <p:sp>
        <p:nvSpPr>
          <p:cNvPr id="13" name="Text 11"/>
          <p:cNvSpPr/>
          <p:nvPr/>
        </p:nvSpPr>
        <p:spPr>
          <a:xfrm>
            <a:off x="11785600" y="4043839"/>
            <a:ext cx="342900"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0C094"/>
                </a:solidFill>
                <a:latin typeface="Arial" pitchFamily="34" charset="0"/>
                <a:ea typeface="Arial" pitchFamily="34" charset="-122"/>
                <a:cs typeface="Arial" pitchFamily="34" charset="-120"/>
              </a:rPr>
              <a:t>→</a:t>
            </a:r>
            <a:endParaRPr lang="en-US" sz="2100" dirty="0"/>
          </a:p>
        </p:txBody>
      </p:sp>
      <p:sp>
        <p:nvSpPr>
          <p:cNvPr id="14" name="Shape 12"/>
          <p:cNvSpPr/>
          <p:nvPr/>
        </p:nvSpPr>
        <p:spPr>
          <a:xfrm>
            <a:off x="12147550" y="2933065"/>
            <a:ext cx="5092700" cy="2621598"/>
          </a:xfrm>
          <a:prstGeom prst="rect">
            <a:avLst/>
          </a:prstGeom>
          <a:solidFill>
            <a:srgbClr val="00557E">
              <a:alpha val="30000"/>
            </a:srgbClr>
          </a:solidFill>
          <a:ln w="7620">
            <a:solidFill>
              <a:srgbClr val="00557E">
                <a:alpha val="50000"/>
              </a:srgbClr>
            </a:solidFill>
            <a:prstDash val="solid"/>
          </a:ln>
        </p:spPr>
      </p:sp>
      <p:sp>
        <p:nvSpPr>
          <p:cNvPr id="15" name="Text 13"/>
          <p:cNvSpPr/>
          <p:nvPr/>
        </p:nvSpPr>
        <p:spPr>
          <a:xfrm>
            <a:off x="12364720" y="2972276"/>
            <a:ext cx="512419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FFFFFF">
                    <a:alpha val="50000"/>
                  </a:srgbClr>
                </a:solidFill>
                <a:latin typeface="Arial" pitchFamily="34" charset="0"/>
                <a:ea typeface="Arial" pitchFamily="34" charset="-122"/>
                <a:cs typeface="Arial" pitchFamily="34" charset="-120"/>
              </a:rPr>
              <a:t>3 · DECISION RECORD</a:t>
            </a:r>
            <a:endParaRPr lang="en-US" sz="1800" dirty="0"/>
          </a:p>
        </p:txBody>
      </p:sp>
      <p:sp>
        <p:nvSpPr>
          <p:cNvPr id="16" name="Text 14"/>
          <p:cNvSpPr/>
          <p:nvPr/>
        </p:nvSpPr>
        <p:spPr>
          <a:xfrm>
            <a:off x="12364720" y="3886676"/>
            <a:ext cx="512419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FFFFFF"/>
                </a:solidFill>
                <a:latin typeface="Arial" pitchFamily="34" charset="0"/>
                <a:ea typeface="Arial" pitchFamily="34" charset="-122"/>
                <a:cs typeface="Arial" pitchFamily="34" charset="-120"/>
              </a:rPr>
              <a:t>Persists to Audit Store</a:t>
            </a:r>
            <a:endParaRPr lang="en-US" sz="1950" dirty="0"/>
          </a:p>
        </p:txBody>
      </p:sp>
      <p:sp>
        <p:nvSpPr>
          <p:cNvPr id="17" name="Text 15"/>
          <p:cNvSpPr/>
          <p:nvPr/>
        </p:nvSpPr>
        <p:spPr>
          <a:xfrm>
            <a:off x="12364720" y="4829651"/>
            <a:ext cx="4798111"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55000"/>
                  </a:srgbClr>
                </a:solidFill>
                <a:latin typeface="Arial" pitchFamily="34" charset="0"/>
                <a:ea typeface="Arial" pitchFamily="34" charset="-122"/>
                <a:cs typeface="Arial" pitchFamily="34" charset="-120"/>
              </a:rPr>
              <a:t>Structured log of invocation + confidence + context</a:t>
            </a:r>
            <a:endParaRPr lang="en-US" sz="1800" dirty="0"/>
          </a:p>
        </p:txBody>
      </p:sp>
      <p:sp>
        <p:nvSpPr>
          <p:cNvPr id="18" name="Shape 16"/>
          <p:cNvSpPr/>
          <p:nvPr/>
        </p:nvSpPr>
        <p:spPr>
          <a:xfrm>
            <a:off x="1047750" y="5745163"/>
            <a:ext cx="6403816" cy="2621598"/>
          </a:xfrm>
          <a:prstGeom prst="roundRect">
            <a:avLst>
              <a:gd name="adj" fmla="val 2907"/>
            </a:avLst>
          </a:prstGeom>
          <a:solidFill>
            <a:srgbClr val="60C094">
              <a:alpha val="15000"/>
            </a:srgbClr>
          </a:solidFill>
          <a:ln w="7620">
            <a:solidFill>
              <a:srgbClr val="60C094">
                <a:alpha val="40000"/>
              </a:srgbClr>
            </a:solidFill>
            <a:prstDash val="solid"/>
          </a:ln>
        </p:spPr>
      </p:sp>
      <p:sp>
        <p:nvSpPr>
          <p:cNvPr id="19" name="Text 17"/>
          <p:cNvSpPr/>
          <p:nvPr/>
        </p:nvSpPr>
        <p:spPr>
          <a:xfrm>
            <a:off x="1322070" y="5019516"/>
            <a:ext cx="644069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60C094"/>
                </a:solidFill>
                <a:latin typeface="Arial" pitchFamily="34" charset="0"/>
                <a:ea typeface="Arial" pitchFamily="34" charset="-122"/>
                <a:cs typeface="Arial" pitchFamily="34" charset="-120"/>
              </a:rPr>
              <a:t>4 · OVERRIDE UI</a:t>
            </a:r>
            <a:endParaRPr lang="en-US" sz="1800" dirty="0"/>
          </a:p>
        </p:txBody>
      </p:sp>
      <p:sp>
        <p:nvSpPr>
          <p:cNvPr id="20" name="Text 18"/>
          <p:cNvSpPr/>
          <p:nvPr/>
        </p:nvSpPr>
        <p:spPr>
          <a:xfrm>
            <a:off x="1322070" y="5952966"/>
            <a:ext cx="6030832"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FFFFFF"/>
                </a:solidFill>
                <a:latin typeface="Arial" pitchFamily="34" charset="0"/>
                <a:ea typeface="Arial" pitchFamily="34" charset="-122"/>
                <a:cs typeface="Arial" pitchFamily="34" charset="-120"/>
              </a:rPr>
              <a:t>Wealth manager sees: AI recommendation + confidence signal</a:t>
            </a:r>
            <a:endParaRPr lang="en-US" sz="1950" dirty="0"/>
          </a:p>
        </p:txBody>
      </p:sp>
      <p:sp>
        <p:nvSpPr>
          <p:cNvPr id="21" name="Shape 19"/>
          <p:cNvSpPr/>
          <p:nvPr/>
        </p:nvSpPr>
        <p:spPr>
          <a:xfrm>
            <a:off x="1322070" y="7095966"/>
            <a:ext cx="1056957" cy="967740"/>
          </a:xfrm>
          <a:prstGeom prst="roundRect">
            <a:avLst>
              <a:gd name="adj" fmla="val 5906"/>
            </a:avLst>
          </a:prstGeom>
          <a:solidFill>
            <a:srgbClr val="60C094">
              <a:alpha val="25000"/>
            </a:srgbClr>
          </a:solidFill>
          <a:ln w="7620">
            <a:solidFill>
              <a:srgbClr val="60C094"/>
            </a:solidFill>
            <a:prstDash val="solid"/>
          </a:ln>
        </p:spPr>
      </p:sp>
      <p:sp>
        <p:nvSpPr>
          <p:cNvPr id="22" name="Text 20"/>
          <p:cNvSpPr/>
          <p:nvPr/>
        </p:nvSpPr>
        <p:spPr>
          <a:xfrm>
            <a:off x="1463040" y="7408386"/>
            <a:ext cx="775017" cy="381000"/>
          </a:xfrm>
          <a:prstGeom prst="rect">
            <a:avLst/>
          </a:prstGeom>
          <a:noFill/>
          <a:ln/>
        </p:spPr>
        <p:txBody>
          <a:bodyPr wrap="square" lIns="25400" tIns="25400" rIns="25400" bIns="25400" rtlCol="0" anchor="t">
            <a:normAutofit/>
          </a:bodyPr>
          <a:lstStyle/>
          <a:p>
            <a:pPr algn="ctr" indent="0" marL="0">
              <a:lnSpc>
                <a:spcPct val="150000"/>
              </a:lnSpc>
              <a:buNone/>
            </a:pPr>
            <a:r>
              <a:rPr lang="en-US" sz="1800" b="1" dirty="0">
                <a:solidFill>
                  <a:srgbClr val="60C094"/>
                </a:solidFill>
                <a:latin typeface="Arial" pitchFamily="34" charset="0"/>
                <a:ea typeface="Arial" pitchFamily="34" charset="-122"/>
                <a:cs typeface="Arial" pitchFamily="34" charset="-120"/>
              </a:rPr>
              <a:t>Accept</a:t>
            </a:r>
            <a:endParaRPr lang="en-US" sz="1800" dirty="0"/>
          </a:p>
        </p:txBody>
      </p:sp>
      <p:sp>
        <p:nvSpPr>
          <p:cNvPr id="23" name="Shape 21"/>
          <p:cNvSpPr/>
          <p:nvPr/>
        </p:nvSpPr>
        <p:spPr>
          <a:xfrm>
            <a:off x="2493327" y="7095966"/>
            <a:ext cx="1031558" cy="967740"/>
          </a:xfrm>
          <a:prstGeom prst="roundRect">
            <a:avLst>
              <a:gd name="adj" fmla="val 5906"/>
            </a:avLst>
          </a:prstGeom>
          <a:solidFill>
            <a:srgbClr val="FFFFFF">
              <a:alpha val="8000"/>
            </a:srgbClr>
          </a:solidFill>
          <a:ln w="7620">
            <a:solidFill>
              <a:srgbClr val="FFFFFF">
                <a:alpha val="20000"/>
              </a:srgbClr>
            </a:solidFill>
            <a:prstDash val="solid"/>
          </a:ln>
        </p:spPr>
      </p:sp>
      <p:sp>
        <p:nvSpPr>
          <p:cNvPr id="24" name="Text 22"/>
          <p:cNvSpPr/>
          <p:nvPr/>
        </p:nvSpPr>
        <p:spPr>
          <a:xfrm>
            <a:off x="2634297" y="7408386"/>
            <a:ext cx="749617" cy="381000"/>
          </a:xfrm>
          <a:prstGeom prst="rect">
            <a:avLst/>
          </a:prstGeom>
          <a:noFill/>
          <a:ln/>
        </p:spPr>
        <p:txBody>
          <a:bodyPr wrap="square" lIns="25400" tIns="25400" rIns="25400" bIns="25400" rtlCol="0" anchor="t">
            <a:normAutofit/>
          </a:bodyPr>
          <a:lstStyle/>
          <a:p>
            <a:pPr algn="ctr" indent="0" marL="0">
              <a:lnSpc>
                <a:spcPct val="150000"/>
              </a:lnSpc>
              <a:buNone/>
            </a:pPr>
            <a:r>
              <a:rPr lang="en-US" sz="1800" b="1" dirty="0">
                <a:solidFill>
                  <a:srgbClr val="FFFFFF">
                    <a:alpha val="70000"/>
                  </a:srgbClr>
                </a:solidFill>
                <a:latin typeface="Arial" pitchFamily="34" charset="0"/>
                <a:ea typeface="Arial" pitchFamily="34" charset="-122"/>
                <a:cs typeface="Arial" pitchFamily="34" charset="-120"/>
              </a:rPr>
              <a:t>Modify</a:t>
            </a:r>
            <a:endParaRPr lang="en-US" sz="1800" dirty="0"/>
          </a:p>
        </p:txBody>
      </p:sp>
      <p:sp>
        <p:nvSpPr>
          <p:cNvPr id="25" name="Shape 23"/>
          <p:cNvSpPr/>
          <p:nvPr/>
        </p:nvSpPr>
        <p:spPr>
          <a:xfrm>
            <a:off x="3639185" y="7095966"/>
            <a:ext cx="1006157" cy="967740"/>
          </a:xfrm>
          <a:prstGeom prst="roundRect">
            <a:avLst>
              <a:gd name="adj" fmla="val 5906"/>
            </a:avLst>
          </a:prstGeom>
          <a:solidFill>
            <a:srgbClr val="FFFFFF">
              <a:alpha val="8000"/>
            </a:srgbClr>
          </a:solidFill>
          <a:ln w="7620">
            <a:solidFill>
              <a:srgbClr val="FFFFFF">
                <a:alpha val="20000"/>
              </a:srgbClr>
            </a:solidFill>
            <a:prstDash val="solid"/>
          </a:ln>
        </p:spPr>
      </p:sp>
      <p:sp>
        <p:nvSpPr>
          <p:cNvPr id="26" name="Text 24"/>
          <p:cNvSpPr/>
          <p:nvPr/>
        </p:nvSpPr>
        <p:spPr>
          <a:xfrm>
            <a:off x="3780155" y="7408386"/>
            <a:ext cx="724217" cy="381000"/>
          </a:xfrm>
          <a:prstGeom prst="rect">
            <a:avLst/>
          </a:prstGeom>
          <a:noFill/>
          <a:ln/>
        </p:spPr>
        <p:txBody>
          <a:bodyPr wrap="square" lIns="25400" tIns="25400" rIns="25400" bIns="25400" rtlCol="0" anchor="t">
            <a:normAutofit/>
          </a:bodyPr>
          <a:lstStyle/>
          <a:p>
            <a:pPr algn="ctr" indent="0" marL="0">
              <a:lnSpc>
                <a:spcPct val="150000"/>
              </a:lnSpc>
              <a:buNone/>
            </a:pPr>
            <a:r>
              <a:rPr lang="en-US" sz="1800" b="1" dirty="0">
                <a:solidFill>
                  <a:srgbClr val="FFFFFF">
                    <a:alpha val="70000"/>
                  </a:srgbClr>
                </a:solidFill>
                <a:latin typeface="Arial" pitchFamily="34" charset="0"/>
                <a:ea typeface="Arial" pitchFamily="34" charset="-122"/>
                <a:cs typeface="Arial" pitchFamily="34" charset="-120"/>
              </a:rPr>
              <a:t>Reject</a:t>
            </a:r>
            <a:endParaRPr lang="en-US" sz="1800" dirty="0"/>
          </a:p>
        </p:txBody>
      </p:sp>
      <p:sp>
        <p:nvSpPr>
          <p:cNvPr id="27" name="Text 25"/>
          <p:cNvSpPr/>
          <p:nvPr/>
        </p:nvSpPr>
        <p:spPr>
          <a:xfrm>
            <a:off x="1322070" y="8406606"/>
            <a:ext cx="6030832"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50000"/>
                  </a:srgbClr>
                </a:solidFill>
                <a:latin typeface="Arial" pitchFamily="34" charset="0"/>
                <a:ea typeface="Arial" pitchFamily="34" charset="-122"/>
                <a:cs typeface="Arial" pitchFamily="34" charset="-120"/>
              </a:rPr>
              <a:t>Human decision logged to Audit Store alongside original AI output</a:t>
            </a:r>
            <a:endParaRPr lang="en-US" sz="1800" dirty="0"/>
          </a:p>
        </p:txBody>
      </p:sp>
      <p:sp>
        <p:nvSpPr>
          <p:cNvPr id="28" name="Text 26"/>
          <p:cNvSpPr/>
          <p:nvPr/>
        </p:nvSpPr>
        <p:spPr>
          <a:xfrm>
            <a:off x="7546816" y="6855936"/>
            <a:ext cx="342900"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0C094"/>
                </a:solidFill>
                <a:latin typeface="Arial" pitchFamily="34" charset="0"/>
                <a:ea typeface="Arial" pitchFamily="34" charset="-122"/>
                <a:cs typeface="Arial" pitchFamily="34" charset="-120"/>
              </a:rPr>
              <a:t>→</a:t>
            </a:r>
            <a:endParaRPr lang="en-US" sz="2100" dirty="0"/>
          </a:p>
        </p:txBody>
      </p:sp>
      <p:sp>
        <p:nvSpPr>
          <p:cNvPr id="29" name="Shape 27"/>
          <p:cNvSpPr/>
          <p:nvPr/>
        </p:nvSpPr>
        <p:spPr>
          <a:xfrm>
            <a:off x="7908766" y="5745163"/>
            <a:ext cx="9331484" cy="2621598"/>
          </a:xfrm>
          <a:prstGeom prst="rect">
            <a:avLst/>
          </a:prstGeom>
          <a:solidFill>
            <a:srgbClr val="60C094">
              <a:alpha val="8000"/>
            </a:srgbClr>
          </a:solidFill>
          <a:ln w="7620">
            <a:solidFill>
              <a:srgbClr val="60C094">
                <a:alpha val="25000"/>
              </a:srgbClr>
            </a:solidFill>
            <a:prstDash val="solid"/>
          </a:ln>
        </p:spPr>
      </p:sp>
      <p:sp>
        <p:nvSpPr>
          <p:cNvPr id="30" name="Text 28"/>
          <p:cNvSpPr/>
          <p:nvPr/>
        </p:nvSpPr>
        <p:spPr>
          <a:xfrm>
            <a:off x="8183087" y="5508149"/>
            <a:ext cx="966112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60C094"/>
                </a:solidFill>
                <a:latin typeface="Arial" pitchFamily="34" charset="0"/>
                <a:ea typeface="Arial" pitchFamily="34" charset="-122"/>
                <a:cs typeface="Arial" pitchFamily="34" charset="-120"/>
              </a:rPr>
              <a:t>5 · AUDIT STORE</a:t>
            </a:r>
            <a:endParaRPr lang="en-US" sz="1800" dirty="0"/>
          </a:p>
        </p:txBody>
      </p:sp>
      <p:sp>
        <p:nvSpPr>
          <p:cNvPr id="31" name="Text 29"/>
          <p:cNvSpPr/>
          <p:nvPr/>
        </p:nvSpPr>
        <p:spPr>
          <a:xfrm>
            <a:off x="8183087" y="6422549"/>
            <a:ext cx="9661128"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FFFFFF"/>
                </a:solidFill>
                <a:latin typeface="Arial" pitchFamily="34" charset="0"/>
                <a:ea typeface="Arial" pitchFamily="34" charset="-122"/>
                <a:cs typeface="Arial" pitchFamily="34" charset="-120"/>
              </a:rPr>
              <a:t>Append-only · Immutable · Queryable</a:t>
            </a:r>
            <a:endParaRPr lang="en-US" sz="1950" dirty="0"/>
          </a:p>
        </p:txBody>
      </p:sp>
      <p:sp>
        <p:nvSpPr>
          <p:cNvPr id="32" name="Text 30"/>
          <p:cNvSpPr/>
          <p:nvPr/>
        </p:nvSpPr>
        <p:spPr>
          <a:xfrm>
            <a:off x="8183087" y="7365524"/>
            <a:ext cx="966112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55000"/>
                  </a:srgbClr>
                </a:solidFill>
                <a:latin typeface="Arial" pitchFamily="34" charset="0"/>
                <a:ea typeface="Arial" pitchFamily="34" charset="-122"/>
                <a:cs typeface="Arial" pitchFamily="34" charset="-120"/>
              </a:rPr>
              <a:t>Indexed by feature · user · session · timestamp</a:t>
            </a:r>
            <a:endParaRPr lang="en-US" sz="1800" dirty="0"/>
          </a:p>
        </p:txBody>
      </p:sp>
      <p:sp>
        <p:nvSpPr>
          <p:cNvPr id="33" name="Text 31"/>
          <p:cNvSpPr/>
          <p:nvPr/>
        </p:nvSpPr>
        <p:spPr>
          <a:xfrm>
            <a:off x="8183087" y="8260874"/>
            <a:ext cx="966112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55000"/>
                  </a:srgbClr>
                </a:solidFill>
                <a:latin typeface="Arial" pitchFamily="34" charset="0"/>
                <a:ea typeface="Arial" pitchFamily="34" charset="-122"/>
                <a:cs typeface="Arial" pitchFamily="34" charset="-120"/>
              </a:rPr>
              <a:t>Exportable on demand for regulatory audit</a:t>
            </a:r>
            <a:endParaRPr lang="en-US" sz="1800" dirty="0"/>
          </a:p>
        </p:txBody>
      </p:sp>
      <p:sp>
        <p:nvSpPr>
          <p:cNvPr id="34" name="Shape 32"/>
          <p:cNvSpPr/>
          <p:nvPr/>
        </p:nvSpPr>
        <p:spPr>
          <a:xfrm>
            <a:off x="1047750" y="8519160"/>
            <a:ext cx="16192500" cy="1043940"/>
          </a:xfrm>
          <a:prstGeom prst="roundRect">
            <a:avLst>
              <a:gd name="adj" fmla="val 5474"/>
            </a:avLst>
          </a:prstGeom>
          <a:solidFill>
            <a:srgbClr val="FFFFFF">
              <a:alpha val="5000"/>
            </a:srgbClr>
          </a:solidFill>
          <a:ln w="7620">
            <a:solidFill>
              <a:srgbClr val="FFFFFF">
                <a:alpha val="10000"/>
              </a:srgbClr>
            </a:solidFill>
            <a:prstDash val="solid"/>
          </a:ln>
        </p:spPr>
      </p:sp>
      <p:sp>
        <p:nvSpPr>
          <p:cNvPr id="35" name="Text 33"/>
          <p:cNvSpPr/>
          <p:nvPr/>
        </p:nvSpPr>
        <p:spPr>
          <a:xfrm>
            <a:off x="1283970" y="8869680"/>
            <a:ext cx="1729206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50000"/>
                  </a:srgbClr>
                </a:solidFill>
                <a:latin typeface="Arial" pitchFamily="34" charset="0"/>
                <a:ea typeface="Arial" pitchFamily="34" charset="-122"/>
                <a:cs typeface="Arial" pitchFamily="34" charset="-120"/>
              </a:rPr>
              <a:t>Health Checks = deterministic, rules-based. Audit trail applies. Override UI does not — no AI recommendation is produced.</a:t>
            </a:r>
            <a:endParaRPr lang="en-US" sz="1800" dirty="0"/>
          </a:p>
        </p:txBody>
      </p:sp>
      <p:sp>
        <p:nvSpPr>
          <p:cNvPr id="36" name="Shape 34"/>
          <p:cNvSpPr/>
          <p:nvPr/>
        </p:nvSpPr>
        <p:spPr>
          <a:xfrm>
            <a:off x="16436340" y="9376410"/>
            <a:ext cx="803910" cy="453390"/>
          </a:xfrm>
          <a:prstGeom prst="roundRect">
            <a:avLst>
              <a:gd name="adj" fmla="val 12605"/>
            </a:avLst>
          </a:prstGeom>
          <a:solidFill>
            <a:srgbClr val="FFFFFF">
              <a:alpha val="8000"/>
            </a:srgbClr>
          </a:solidFill>
          <a:ln w="7620">
            <a:solidFill>
              <a:srgbClr val="FFFFFF">
                <a:alpha val="16000"/>
              </a:srgbClr>
            </a:solidFill>
            <a:prstDash val="solid"/>
          </a:ln>
        </p:spPr>
      </p:sp>
      <p:pic>
        <p:nvPicPr>
          <p:cNvPr id="37" name="Image 0" descr="preencoded.png">    </p:cNvPr>
          <p:cNvPicPr>
            <a:picLocks noChangeAspect="1"/>
          </p:cNvPicPr>
          <p:nvPr/>
        </p:nvPicPr>
        <p:blipFill>
          <a:blip r:embed="rId1"/>
          <a:stretch>
            <a:fillRect/>
          </a:stretch>
        </p:blipFill>
        <p:spPr>
          <a:xfrm>
            <a:off x="16615410" y="9479280"/>
            <a:ext cx="445770" cy="2476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07 · COMPLIANCE</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What Your Audit Trail Looks Like in Practice</a:t>
            </a:r>
            <a:endParaRPr lang="en-US" sz="4350" dirty="0"/>
          </a:p>
        </p:txBody>
      </p:sp>
      <p:sp>
        <p:nvSpPr>
          <p:cNvPr id="4" name="Shape 2"/>
          <p:cNvSpPr/>
          <p:nvPr/>
        </p:nvSpPr>
        <p:spPr>
          <a:xfrm>
            <a:off x="1047750" y="2933065"/>
            <a:ext cx="9753600" cy="6630035"/>
          </a:xfrm>
          <a:prstGeom prst="roundRect">
            <a:avLst>
              <a:gd name="adj" fmla="val 1149"/>
            </a:avLst>
          </a:prstGeom>
          <a:solidFill>
            <a:srgbClr val="1A2535"/>
          </a:solidFill>
          <a:ln/>
        </p:spPr>
      </p:sp>
      <p:sp>
        <p:nvSpPr>
          <p:cNvPr id="5" name="Text 3"/>
          <p:cNvSpPr/>
          <p:nvPr/>
        </p:nvSpPr>
        <p:spPr>
          <a:xfrm>
            <a:off x="1352550" y="3466465"/>
            <a:ext cx="100584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60C094"/>
                </a:solidFill>
                <a:latin typeface="Arial" pitchFamily="34" charset="0"/>
                <a:ea typeface="Arial" pitchFamily="34" charset="-122"/>
                <a:cs typeface="Arial" pitchFamily="34" charset="-120"/>
              </a:rPr>
              <a:t>EXAMPLE AUDIT RECORD — PORTFOLIO IQ RECOMMENDATION</a:t>
            </a:r>
            <a:endParaRPr lang="en-US" sz="1800" dirty="0"/>
          </a:p>
        </p:txBody>
      </p:sp>
      <p:sp>
        <p:nvSpPr>
          <p:cNvPr id="6" name="Text 4"/>
          <p:cNvSpPr/>
          <p:nvPr/>
        </p:nvSpPr>
        <p:spPr>
          <a:xfrm>
            <a:off x="1352550" y="4209415"/>
            <a:ext cx="20955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0000"/>
                  </a:srgbClr>
                </a:solidFill>
                <a:latin typeface="Courier New" pitchFamily="34" charset="0"/>
                <a:ea typeface="Courier New" pitchFamily="34" charset="-122"/>
                <a:cs typeface="Courier New" pitchFamily="34" charset="-120"/>
              </a:rPr>
              <a:t>Timestamp:</a:t>
            </a:r>
            <a:endParaRPr lang="en-US" sz="1800" dirty="0"/>
          </a:p>
        </p:txBody>
      </p:sp>
      <p:sp>
        <p:nvSpPr>
          <p:cNvPr id="7" name="Text 5"/>
          <p:cNvSpPr/>
          <p:nvPr/>
        </p:nvSpPr>
        <p:spPr>
          <a:xfrm>
            <a:off x="3333750" y="4209415"/>
            <a:ext cx="787908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85000"/>
                  </a:srgbClr>
                </a:solidFill>
                <a:latin typeface="Courier New" pitchFamily="34" charset="0"/>
                <a:ea typeface="Courier New" pitchFamily="34" charset="-122"/>
                <a:cs typeface="Courier New" pitchFamily="34" charset="-120"/>
              </a:rPr>
              <a:t>2026-06-26T09:14:33Z</a:t>
            </a:r>
            <a:endParaRPr lang="en-US" sz="1800" dirty="0"/>
          </a:p>
        </p:txBody>
      </p:sp>
      <p:sp>
        <p:nvSpPr>
          <p:cNvPr id="8" name="Text 6"/>
          <p:cNvSpPr/>
          <p:nvPr/>
        </p:nvSpPr>
        <p:spPr>
          <a:xfrm>
            <a:off x="1352550" y="5104765"/>
            <a:ext cx="20955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0000"/>
                  </a:srgbClr>
                </a:solidFill>
                <a:latin typeface="Courier New" pitchFamily="34" charset="0"/>
                <a:ea typeface="Courier New" pitchFamily="34" charset="-122"/>
                <a:cs typeface="Courier New" pitchFamily="34" charset="-120"/>
              </a:rPr>
              <a:t>Feature:</a:t>
            </a:r>
            <a:endParaRPr lang="en-US" sz="1800" dirty="0"/>
          </a:p>
        </p:txBody>
      </p:sp>
      <p:sp>
        <p:nvSpPr>
          <p:cNvPr id="9" name="Text 7"/>
          <p:cNvSpPr/>
          <p:nvPr/>
        </p:nvSpPr>
        <p:spPr>
          <a:xfrm>
            <a:off x="3333750" y="5104765"/>
            <a:ext cx="787908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85000"/>
                  </a:srgbClr>
                </a:solidFill>
                <a:latin typeface="Courier New" pitchFamily="34" charset="0"/>
                <a:ea typeface="Courier New" pitchFamily="34" charset="-122"/>
                <a:cs typeface="Courier New" pitchFamily="34" charset="-120"/>
              </a:rPr>
              <a:t>Portfolio IQ — Rebalancing Commentary</a:t>
            </a:r>
            <a:endParaRPr lang="en-US" sz="1800" dirty="0"/>
          </a:p>
        </p:txBody>
      </p:sp>
      <p:sp>
        <p:nvSpPr>
          <p:cNvPr id="10" name="Text 8"/>
          <p:cNvSpPr/>
          <p:nvPr/>
        </p:nvSpPr>
        <p:spPr>
          <a:xfrm>
            <a:off x="1352550" y="6000115"/>
            <a:ext cx="20955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0000"/>
                  </a:srgbClr>
                </a:solidFill>
                <a:latin typeface="Courier New" pitchFamily="34" charset="0"/>
                <a:ea typeface="Courier New" pitchFamily="34" charset="-122"/>
                <a:cs typeface="Courier New" pitchFamily="34" charset="-120"/>
              </a:rPr>
              <a:t>User:</a:t>
            </a:r>
            <a:endParaRPr lang="en-US" sz="1800" dirty="0"/>
          </a:p>
        </p:txBody>
      </p:sp>
      <p:sp>
        <p:nvSpPr>
          <p:cNvPr id="11" name="Text 9"/>
          <p:cNvSpPr/>
          <p:nvPr/>
        </p:nvSpPr>
        <p:spPr>
          <a:xfrm>
            <a:off x="3333750" y="6000115"/>
            <a:ext cx="787908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85000"/>
                  </a:srgbClr>
                </a:solidFill>
                <a:latin typeface="Courier New" pitchFamily="34" charset="0"/>
                <a:ea typeface="Courier New" pitchFamily="34" charset="-122"/>
                <a:cs typeface="Courier New" pitchFamily="34" charset="-120"/>
              </a:rPr>
              <a:t>RM ID #4821 (authenticated session)</a:t>
            </a:r>
            <a:endParaRPr lang="en-US" sz="1800" dirty="0"/>
          </a:p>
        </p:txBody>
      </p:sp>
      <p:sp>
        <p:nvSpPr>
          <p:cNvPr id="12" name="Text 10"/>
          <p:cNvSpPr/>
          <p:nvPr/>
        </p:nvSpPr>
        <p:spPr>
          <a:xfrm>
            <a:off x="1352550" y="6895465"/>
            <a:ext cx="20955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0000"/>
                  </a:srgbClr>
                </a:solidFill>
                <a:latin typeface="Courier New" pitchFamily="34" charset="0"/>
                <a:ea typeface="Courier New" pitchFamily="34" charset="-122"/>
                <a:cs typeface="Courier New" pitchFamily="34" charset="-120"/>
              </a:rPr>
              <a:t>Model version:</a:t>
            </a:r>
            <a:endParaRPr lang="en-US" sz="1800" dirty="0"/>
          </a:p>
        </p:txBody>
      </p:sp>
      <p:sp>
        <p:nvSpPr>
          <p:cNvPr id="13" name="Text 11"/>
          <p:cNvSpPr/>
          <p:nvPr/>
        </p:nvSpPr>
        <p:spPr>
          <a:xfrm>
            <a:off x="3333750" y="6895465"/>
            <a:ext cx="787908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85000"/>
                  </a:srgbClr>
                </a:solidFill>
                <a:latin typeface="Courier New" pitchFamily="34" charset="0"/>
                <a:ea typeface="Courier New" pitchFamily="34" charset="-122"/>
                <a:cs typeface="Courier New" pitchFamily="34" charset="-120"/>
              </a:rPr>
              <a:t>anthropic.claude-3-5-sonnet-20241022</a:t>
            </a:r>
            <a:endParaRPr lang="en-US" sz="1800" dirty="0"/>
          </a:p>
        </p:txBody>
      </p:sp>
      <p:sp>
        <p:nvSpPr>
          <p:cNvPr id="14" name="Text 12"/>
          <p:cNvSpPr/>
          <p:nvPr/>
        </p:nvSpPr>
        <p:spPr>
          <a:xfrm>
            <a:off x="1352550" y="7790815"/>
            <a:ext cx="198120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0000"/>
                  </a:srgbClr>
                </a:solidFill>
                <a:latin typeface="Courier New" pitchFamily="34" charset="0"/>
                <a:ea typeface="Courier New" pitchFamily="34" charset="-122"/>
                <a:cs typeface="Courier New" pitchFamily="34" charset="-120"/>
              </a:rPr>
              <a:t>Confidence score:</a:t>
            </a:r>
            <a:endParaRPr lang="en-US" sz="1800" dirty="0"/>
          </a:p>
        </p:txBody>
      </p:sp>
      <p:sp>
        <p:nvSpPr>
          <p:cNvPr id="15" name="Text 13"/>
          <p:cNvSpPr/>
          <p:nvPr/>
        </p:nvSpPr>
        <p:spPr>
          <a:xfrm>
            <a:off x="3333750" y="7790815"/>
            <a:ext cx="787908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0C094"/>
                </a:solidFill>
                <a:latin typeface="Courier New" pitchFamily="34" charset="0"/>
                <a:ea typeface="Courier New" pitchFamily="34" charset="-122"/>
                <a:cs typeface="Courier New" pitchFamily="34" charset="-120"/>
              </a:rPr>
              <a:t>0.87</a:t>
            </a:r>
            <a:endParaRPr lang="en-US" sz="1800" dirty="0"/>
          </a:p>
        </p:txBody>
      </p:sp>
      <p:sp>
        <p:nvSpPr>
          <p:cNvPr id="16" name="Text 14"/>
          <p:cNvSpPr/>
          <p:nvPr/>
        </p:nvSpPr>
        <p:spPr>
          <a:xfrm>
            <a:off x="1352550" y="9029065"/>
            <a:ext cx="20955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0000"/>
                  </a:srgbClr>
                </a:solidFill>
                <a:latin typeface="Courier New" pitchFamily="34" charset="0"/>
                <a:ea typeface="Courier New" pitchFamily="34" charset="-122"/>
                <a:cs typeface="Courier New" pitchFamily="34" charset="-120"/>
              </a:rPr>
              <a:t>Human decision:</a:t>
            </a:r>
            <a:endParaRPr lang="en-US" sz="1800" dirty="0"/>
          </a:p>
        </p:txBody>
      </p:sp>
      <p:sp>
        <p:nvSpPr>
          <p:cNvPr id="17" name="Text 15"/>
          <p:cNvSpPr/>
          <p:nvPr/>
        </p:nvSpPr>
        <p:spPr>
          <a:xfrm>
            <a:off x="3333750" y="9029065"/>
            <a:ext cx="787908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0C094"/>
                </a:solidFill>
                <a:latin typeface="Courier New" pitchFamily="34" charset="0"/>
                <a:ea typeface="Courier New" pitchFamily="34" charset="-122"/>
                <a:cs typeface="Courier New" pitchFamily="34" charset="-120"/>
              </a:rPr>
              <a:t>Modified</a:t>
            </a:r>
            <a:endParaRPr lang="en-US" sz="1800" dirty="0"/>
          </a:p>
        </p:txBody>
      </p:sp>
      <p:sp>
        <p:nvSpPr>
          <p:cNvPr id="18" name="Text 16"/>
          <p:cNvSpPr/>
          <p:nvPr/>
        </p:nvSpPr>
        <p:spPr>
          <a:xfrm>
            <a:off x="1352550" y="9924415"/>
            <a:ext cx="20955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0000"/>
                  </a:srgbClr>
                </a:solidFill>
                <a:latin typeface="Courier New" pitchFamily="34" charset="0"/>
                <a:ea typeface="Courier New" pitchFamily="34" charset="-122"/>
                <a:cs typeface="Courier New" pitchFamily="34" charset="-120"/>
              </a:rPr>
              <a:t>RM annotation:</a:t>
            </a:r>
            <a:endParaRPr lang="en-US" sz="1800" dirty="0"/>
          </a:p>
        </p:txBody>
      </p:sp>
      <p:sp>
        <p:nvSpPr>
          <p:cNvPr id="19" name="Text 17"/>
          <p:cNvSpPr/>
          <p:nvPr/>
        </p:nvSpPr>
        <p:spPr>
          <a:xfrm>
            <a:off x="3333750" y="9924415"/>
            <a:ext cx="787908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i="1" dirty="0">
                <a:solidFill>
                  <a:srgbClr val="FFFFFF">
                    <a:alpha val="75000"/>
                  </a:srgbClr>
                </a:solidFill>
                <a:latin typeface="Courier New" pitchFamily="34" charset="0"/>
                <a:ea typeface="Courier New" pitchFamily="34" charset="-122"/>
                <a:cs typeface="Courier New" pitchFamily="34" charset="-120"/>
              </a:rPr>
              <a:t>"Adjusted allocation — client risk tolerance update"</a:t>
            </a:r>
            <a:endParaRPr lang="en-US" sz="1800" dirty="0"/>
          </a:p>
        </p:txBody>
      </p:sp>
      <p:sp>
        <p:nvSpPr>
          <p:cNvPr id="20" name="Text 18"/>
          <p:cNvSpPr/>
          <p:nvPr/>
        </p:nvSpPr>
        <p:spPr>
          <a:xfrm>
            <a:off x="1352550" y="10819765"/>
            <a:ext cx="20955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alpha val="40000"/>
                  </a:srgbClr>
                </a:solidFill>
                <a:latin typeface="Courier New" pitchFamily="34" charset="0"/>
                <a:ea typeface="Courier New" pitchFamily="34" charset="-122"/>
                <a:cs typeface="Courier New" pitchFamily="34" charset="-120"/>
              </a:rPr>
              <a:t>Record status:</a:t>
            </a:r>
            <a:endParaRPr lang="en-US" sz="1800" dirty="0"/>
          </a:p>
        </p:txBody>
      </p:sp>
      <p:sp>
        <p:nvSpPr>
          <p:cNvPr id="21" name="Text 19"/>
          <p:cNvSpPr/>
          <p:nvPr/>
        </p:nvSpPr>
        <p:spPr>
          <a:xfrm>
            <a:off x="3333750" y="10819765"/>
            <a:ext cx="787908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0C094"/>
                </a:solidFill>
                <a:latin typeface="Courier New" pitchFamily="34" charset="0"/>
                <a:ea typeface="Courier New" pitchFamily="34" charset="-122"/>
                <a:cs typeface="Courier New" pitchFamily="34" charset="-120"/>
              </a:rPr>
              <a:t>Immutable · Exportable</a:t>
            </a:r>
            <a:endParaRPr lang="en-US" sz="1800" dirty="0"/>
          </a:p>
        </p:txBody>
      </p:sp>
      <p:sp>
        <p:nvSpPr>
          <p:cNvPr id="22" name="Text 20"/>
          <p:cNvSpPr/>
          <p:nvPr/>
        </p:nvSpPr>
        <p:spPr>
          <a:xfrm>
            <a:off x="11144250" y="3180715"/>
            <a:ext cx="670560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What this gives you:</a:t>
            </a:r>
            <a:endParaRPr lang="en-US" sz="1950" dirty="0"/>
          </a:p>
        </p:txBody>
      </p:sp>
      <p:sp>
        <p:nvSpPr>
          <p:cNvPr id="23" name="Text 21"/>
          <p:cNvSpPr/>
          <p:nvPr/>
        </p:nvSpPr>
        <p:spPr>
          <a:xfrm>
            <a:off x="11144250" y="3971290"/>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60C094"/>
                </a:solidFill>
                <a:latin typeface="Arial" pitchFamily="34" charset="0"/>
                <a:ea typeface="Arial" pitchFamily="34" charset="-122"/>
                <a:cs typeface="Arial" pitchFamily="34" charset="-120"/>
              </a:rPr>
              <a:t>→</a:t>
            </a:r>
            <a:endParaRPr lang="en-US" sz="1950" dirty="0"/>
          </a:p>
        </p:txBody>
      </p:sp>
      <p:sp>
        <p:nvSpPr>
          <p:cNvPr id="24" name="Text 22"/>
          <p:cNvSpPr/>
          <p:nvPr/>
        </p:nvSpPr>
        <p:spPr>
          <a:xfrm>
            <a:off x="11525250" y="4218940"/>
            <a:ext cx="5886450"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Every AI-assisted recommendation → structured, exportable record</a:t>
            </a:r>
            <a:endParaRPr lang="en-US" sz="1950" dirty="0"/>
          </a:p>
        </p:txBody>
      </p:sp>
      <p:sp>
        <p:nvSpPr>
          <p:cNvPr id="25" name="Text 23"/>
          <p:cNvSpPr/>
          <p:nvPr/>
        </p:nvSpPr>
        <p:spPr>
          <a:xfrm>
            <a:off x="11144250" y="5342890"/>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60C094"/>
                </a:solidFill>
                <a:latin typeface="Arial" pitchFamily="34" charset="0"/>
                <a:ea typeface="Arial" pitchFamily="34" charset="-122"/>
                <a:cs typeface="Arial" pitchFamily="34" charset="-120"/>
              </a:rPr>
              <a:t>→</a:t>
            </a:r>
            <a:endParaRPr lang="en-US" sz="1950" dirty="0"/>
          </a:p>
        </p:txBody>
      </p:sp>
      <p:sp>
        <p:nvSpPr>
          <p:cNvPr id="26" name="Text 24"/>
          <p:cNvSpPr/>
          <p:nvPr/>
        </p:nvSpPr>
        <p:spPr>
          <a:xfrm>
            <a:off x="11525250" y="5590540"/>
            <a:ext cx="5886450"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Human decision logged alongside AI output — not inferred, not implied</a:t>
            </a:r>
            <a:endParaRPr lang="en-US" sz="1950" dirty="0"/>
          </a:p>
        </p:txBody>
      </p:sp>
      <p:sp>
        <p:nvSpPr>
          <p:cNvPr id="27" name="Text 25"/>
          <p:cNvSpPr/>
          <p:nvPr/>
        </p:nvSpPr>
        <p:spPr>
          <a:xfrm>
            <a:off x="11144250" y="6714490"/>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60C094"/>
                </a:solidFill>
                <a:latin typeface="Arial" pitchFamily="34" charset="0"/>
                <a:ea typeface="Arial" pitchFamily="34" charset="-122"/>
                <a:cs typeface="Arial" pitchFamily="34" charset="-120"/>
              </a:rPr>
              <a:t>→</a:t>
            </a:r>
            <a:endParaRPr lang="en-US" sz="1950" dirty="0"/>
          </a:p>
        </p:txBody>
      </p:sp>
      <p:sp>
        <p:nvSpPr>
          <p:cNvPr id="28" name="Text 26"/>
          <p:cNvSpPr/>
          <p:nvPr/>
        </p:nvSpPr>
        <p:spPr>
          <a:xfrm>
            <a:off x="11525250" y="6962140"/>
            <a:ext cx="5886450"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Full audit package available on demand — per feature, per RM, per session</a:t>
            </a:r>
            <a:endParaRPr lang="en-US" sz="1950" dirty="0"/>
          </a:p>
        </p:txBody>
      </p:sp>
      <p:sp>
        <p:nvSpPr>
          <p:cNvPr id="29" name="Text 27"/>
          <p:cNvSpPr/>
          <p:nvPr/>
        </p:nvSpPr>
        <p:spPr>
          <a:xfrm>
            <a:off x="11144250" y="8086090"/>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60C094"/>
                </a:solidFill>
                <a:latin typeface="Arial" pitchFamily="34" charset="0"/>
                <a:ea typeface="Arial" pitchFamily="34" charset="-122"/>
                <a:cs typeface="Arial" pitchFamily="34" charset="-120"/>
              </a:rPr>
              <a:t>→</a:t>
            </a:r>
            <a:endParaRPr lang="en-US" sz="1950" dirty="0"/>
          </a:p>
        </p:txBody>
      </p:sp>
      <p:sp>
        <p:nvSpPr>
          <p:cNvPr id="30" name="Text 28"/>
          <p:cNvSpPr/>
          <p:nvPr/>
        </p:nvSpPr>
        <p:spPr>
          <a:xfrm>
            <a:off x="11525250" y="8333740"/>
            <a:ext cx="5886450"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No reconstruction — the record exists at the moment the decision is made</a:t>
            </a:r>
            <a:endParaRPr lang="en-US" sz="1950" dirty="0"/>
          </a:p>
        </p:txBody>
      </p:sp>
      <p:pic>
        <p:nvPicPr>
          <p:cNvPr id="31"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08 · COMMERCIAL</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AI Cost Architecture: How Privé Handles Token Pricing at Scale</a:t>
            </a:r>
            <a:endParaRPr lang="en-US" sz="4350" dirty="0"/>
          </a:p>
        </p:txBody>
      </p:sp>
      <p:sp>
        <p:nvSpPr>
          <p:cNvPr id="4" name="Shape 2"/>
          <p:cNvSpPr/>
          <p:nvPr/>
        </p:nvSpPr>
        <p:spPr>
          <a:xfrm>
            <a:off x="1047750" y="2933065"/>
            <a:ext cx="7924800" cy="3200717"/>
          </a:xfrm>
          <a:prstGeom prst="roundRect">
            <a:avLst>
              <a:gd name="adj" fmla="val 2381"/>
            </a:avLst>
          </a:prstGeom>
          <a:solidFill>
            <a:srgbClr val="F4F5F7"/>
          </a:solidFill>
          <a:ln w="7620">
            <a:solidFill>
              <a:srgbClr val="E0E0E0"/>
            </a:solidFill>
            <a:prstDash val="solid"/>
          </a:ln>
        </p:spPr>
      </p:sp>
      <p:sp>
        <p:nvSpPr>
          <p:cNvPr id="5" name="Text 3"/>
          <p:cNvSpPr/>
          <p:nvPr/>
        </p:nvSpPr>
        <p:spPr>
          <a:xfrm>
            <a:off x="1360170" y="3474085"/>
            <a:ext cx="802995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INTERNAL GROWTH SIGNAL</a:t>
            </a:r>
            <a:endParaRPr lang="en-US" sz="1800" dirty="0"/>
          </a:p>
        </p:txBody>
      </p:sp>
      <p:sp>
        <p:nvSpPr>
          <p:cNvPr id="6" name="Text 4"/>
          <p:cNvSpPr/>
          <p:nvPr/>
        </p:nvSpPr>
        <p:spPr>
          <a:xfrm>
            <a:off x="1322070" y="4540885"/>
            <a:ext cx="1093152" cy="381000"/>
          </a:xfrm>
          <a:prstGeom prst="rect">
            <a:avLst/>
          </a:prstGeom>
          <a:noFill/>
          <a:ln/>
        </p:spPr>
        <p:txBody>
          <a:bodyPr wrap="square" lIns="25400" tIns="25400" rIns="25400" bIns="25400" rtlCol="0" anchor="t">
            <a:normAutofit/>
          </a:bodyPr>
          <a:lstStyle/>
          <a:p>
            <a:pPr algn="ctr" indent="0" marL="0">
              <a:lnSpc>
                <a:spcPct val="150000"/>
              </a:lnSpc>
              <a:buNone/>
            </a:pPr>
            <a:r>
              <a:rPr lang="en-US" sz="1800" dirty="0">
                <a:solidFill>
                  <a:srgbClr val="3D505D"/>
                </a:solidFill>
                <a:latin typeface="Arial" pitchFamily="34" charset="0"/>
                <a:ea typeface="Arial" pitchFamily="34" charset="-122"/>
                <a:cs typeface="Arial" pitchFamily="34" charset="-120"/>
              </a:rPr>
              <a:t>Jan 2026</a:t>
            </a:r>
            <a:endParaRPr lang="en-US" sz="1800" dirty="0"/>
          </a:p>
        </p:txBody>
      </p:sp>
      <p:sp>
        <p:nvSpPr>
          <p:cNvPr id="7" name="Text 5"/>
          <p:cNvSpPr/>
          <p:nvPr/>
        </p:nvSpPr>
        <p:spPr>
          <a:xfrm>
            <a:off x="1322070" y="5264785"/>
            <a:ext cx="1093152" cy="609600"/>
          </a:xfrm>
          <a:prstGeom prst="rect">
            <a:avLst/>
          </a:prstGeom>
          <a:noFill/>
          <a:ln/>
        </p:spPr>
        <p:txBody>
          <a:bodyPr wrap="square" lIns="25400" tIns="25400" rIns="25400" bIns="25400" rtlCol="0" anchor="t">
            <a:normAutofit/>
          </a:bodyPr>
          <a:lstStyle/>
          <a:p>
            <a:pPr algn="ctr" indent="0" marL="0">
              <a:lnSpc>
                <a:spcPct val="150000"/>
              </a:lnSpc>
              <a:buNone/>
            </a:pPr>
            <a:r>
              <a:rPr lang="en-US" sz="3000" b="1" dirty="0">
                <a:solidFill>
                  <a:srgbClr val="3D505D"/>
                </a:solidFill>
                <a:latin typeface="Arial" pitchFamily="34" charset="0"/>
                <a:ea typeface="Arial" pitchFamily="34" charset="-122"/>
                <a:cs typeface="Arial" pitchFamily="34" charset="-120"/>
              </a:rPr>
              <a:t>$15</a:t>
            </a:r>
            <a:pPr algn="ctr" indent="0" marL="0">
              <a:lnSpc>
                <a:spcPct val="150000"/>
              </a:lnSpc>
              <a:buNone/>
            </a:pPr>
            <a:r>
              <a:rPr lang="en-US" sz="1800" dirty="0">
                <a:solidFill>
                  <a:srgbClr val="3D505D"/>
                </a:solidFill>
                <a:latin typeface="Arial" pitchFamily="34" charset="0"/>
                <a:ea typeface="Arial" pitchFamily="34" charset="-122"/>
                <a:cs typeface="Arial" pitchFamily="34" charset="-120"/>
              </a:rPr>
              <a:t>/mo</a:t>
            </a:r>
            <a:endParaRPr lang="en-US" sz="3000" dirty="0"/>
          </a:p>
        </p:txBody>
      </p:sp>
      <p:sp>
        <p:nvSpPr>
          <p:cNvPr id="8" name="Shape 6"/>
          <p:cNvSpPr/>
          <p:nvPr/>
        </p:nvSpPr>
        <p:spPr>
          <a:xfrm>
            <a:off x="2605722" y="5255260"/>
            <a:ext cx="4596924" cy="19050"/>
          </a:xfrm>
          <a:prstGeom prst="roundRect">
            <a:avLst>
              <a:gd name="adj" fmla="val 50000"/>
            </a:avLst>
          </a:prstGeom>
          <a:gradFill rotWithShape="1">
            <a:gsLst>
              <a:gs pos="0">
                <a:srgbClr val="3D505D">
                  <a:alpha val="100000"/>
                </a:srgbClr>
              </a:gs>
              <a:gs pos="100000">
                <a:srgbClr val="60C094">
                  <a:alpha val="100000"/>
                </a:srgbClr>
              </a:gs>
            </a:gsLst>
            <a:lin ang="0" scaled="0"/>
          </a:gradFill>
          <a:ln/>
        </p:spPr>
      </p:sp>
      <p:sp>
        <p:nvSpPr>
          <p:cNvPr id="9" name="Text 7"/>
          <p:cNvSpPr/>
          <p:nvPr/>
        </p:nvSpPr>
        <p:spPr>
          <a:xfrm>
            <a:off x="7069296" y="5217160"/>
            <a:ext cx="26670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60C094"/>
                </a:solidFill>
                <a:latin typeface="Arial" pitchFamily="34" charset="0"/>
                <a:ea typeface="Arial" pitchFamily="34" charset="-122"/>
                <a:cs typeface="Arial" pitchFamily="34" charset="-120"/>
              </a:rPr>
              <a:t>→</a:t>
            </a:r>
            <a:endParaRPr lang="en-US" sz="1500" dirty="0"/>
          </a:p>
        </p:txBody>
      </p:sp>
      <p:sp>
        <p:nvSpPr>
          <p:cNvPr id="10" name="Text 8"/>
          <p:cNvSpPr/>
          <p:nvPr/>
        </p:nvSpPr>
        <p:spPr>
          <a:xfrm>
            <a:off x="7369802" y="4540885"/>
            <a:ext cx="1351772" cy="381000"/>
          </a:xfrm>
          <a:prstGeom prst="rect">
            <a:avLst/>
          </a:prstGeom>
          <a:noFill/>
          <a:ln/>
        </p:spPr>
        <p:txBody>
          <a:bodyPr wrap="square" lIns="25400" tIns="25400" rIns="25400" bIns="25400" rtlCol="0" anchor="t">
            <a:normAutofit/>
          </a:bodyPr>
          <a:lstStyle/>
          <a:p>
            <a:pPr algn="ctr" indent="0" marL="0">
              <a:lnSpc>
                <a:spcPct val="150000"/>
              </a:lnSpc>
              <a:buNone/>
            </a:pPr>
            <a:r>
              <a:rPr lang="en-US" sz="1800" dirty="0">
                <a:solidFill>
                  <a:srgbClr val="00557E"/>
                </a:solidFill>
                <a:latin typeface="Arial" pitchFamily="34" charset="0"/>
                <a:ea typeface="Arial" pitchFamily="34" charset="-122"/>
                <a:cs typeface="Arial" pitchFamily="34" charset="-120"/>
              </a:rPr>
              <a:t>Jun 2026</a:t>
            </a:r>
            <a:endParaRPr lang="en-US" sz="1800" dirty="0"/>
          </a:p>
        </p:txBody>
      </p:sp>
      <p:sp>
        <p:nvSpPr>
          <p:cNvPr id="11" name="Text 9"/>
          <p:cNvSpPr/>
          <p:nvPr/>
        </p:nvSpPr>
        <p:spPr>
          <a:xfrm>
            <a:off x="7369802" y="5264785"/>
            <a:ext cx="1351772" cy="609600"/>
          </a:xfrm>
          <a:prstGeom prst="rect">
            <a:avLst/>
          </a:prstGeom>
          <a:noFill/>
          <a:ln/>
        </p:spPr>
        <p:txBody>
          <a:bodyPr wrap="square" lIns="25400" tIns="25400" rIns="25400" bIns="25400" rtlCol="0" anchor="t">
            <a:normAutofit/>
          </a:bodyPr>
          <a:lstStyle/>
          <a:p>
            <a:pPr algn="ctr" indent="0" marL="0">
              <a:lnSpc>
                <a:spcPct val="150000"/>
              </a:lnSpc>
              <a:buNone/>
            </a:pPr>
            <a:r>
              <a:rPr lang="en-US" sz="3000" b="1" dirty="0">
                <a:solidFill>
                  <a:srgbClr val="00557E"/>
                </a:solidFill>
                <a:latin typeface="Arial" pitchFamily="34" charset="0"/>
                <a:ea typeface="Arial" pitchFamily="34" charset="-122"/>
                <a:cs typeface="Arial" pitchFamily="34" charset="-120"/>
              </a:rPr>
              <a:t>$600</a:t>
            </a:r>
            <a:pPr algn="ctr" indent="0" marL="0">
              <a:lnSpc>
                <a:spcPct val="150000"/>
              </a:lnSpc>
              <a:buNone/>
            </a:pPr>
            <a:r>
              <a:rPr lang="en-US" sz="1800" dirty="0">
                <a:solidFill>
                  <a:srgbClr val="00557E"/>
                </a:solidFill>
                <a:latin typeface="Arial" pitchFamily="34" charset="0"/>
                <a:ea typeface="Arial" pitchFamily="34" charset="-122"/>
                <a:cs typeface="Arial" pitchFamily="34" charset="-120"/>
              </a:rPr>
              <a:t>/mo</a:t>
            </a:r>
            <a:endParaRPr lang="en-US" sz="3000" dirty="0"/>
          </a:p>
        </p:txBody>
      </p:sp>
      <p:sp>
        <p:nvSpPr>
          <p:cNvPr id="12" name="Text 10"/>
          <p:cNvSpPr/>
          <p:nvPr/>
        </p:nvSpPr>
        <p:spPr>
          <a:xfrm>
            <a:off x="1360170" y="6579235"/>
            <a:ext cx="751895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i="1" dirty="0">
                <a:solidFill>
                  <a:srgbClr val="3D505D"/>
                </a:solidFill>
                <a:latin typeface="Arial" pitchFamily="34" charset="0"/>
                <a:ea typeface="Arial" pitchFamily="34" charset="-122"/>
                <a:cs typeface="Arial" pitchFamily="34" charset="-120"/>
              </a:rPr>
              <a:t>40× in 5 months — driven by AI-assisted development tooling, not client-facing features</a:t>
            </a:r>
            <a:endParaRPr lang="en-US" sz="1800" dirty="0"/>
          </a:p>
        </p:txBody>
      </p:sp>
      <p:sp>
        <p:nvSpPr>
          <p:cNvPr id="13" name="Shape 11"/>
          <p:cNvSpPr/>
          <p:nvPr/>
        </p:nvSpPr>
        <p:spPr>
          <a:xfrm>
            <a:off x="1047750" y="6362383"/>
            <a:ext cx="7924800" cy="3200717"/>
          </a:xfrm>
          <a:prstGeom prst="roundRect">
            <a:avLst>
              <a:gd name="adj" fmla="val 2381"/>
            </a:avLst>
          </a:prstGeom>
          <a:solidFill>
            <a:srgbClr val="EAF5F0"/>
          </a:solidFill>
          <a:ln w="7620">
            <a:solidFill>
              <a:srgbClr val="60C094"/>
            </a:solidFill>
            <a:prstDash val="solid"/>
          </a:ln>
        </p:spPr>
      </p:sp>
      <p:sp>
        <p:nvSpPr>
          <p:cNvPr id="14" name="Text 12"/>
          <p:cNvSpPr/>
          <p:nvPr/>
        </p:nvSpPr>
        <p:spPr>
          <a:xfrm>
            <a:off x="1360170" y="6903402"/>
            <a:ext cx="802995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COMMERCIAL PRICING APPROACH</a:t>
            </a:r>
            <a:endParaRPr lang="en-US" sz="1800" dirty="0"/>
          </a:p>
        </p:txBody>
      </p:sp>
      <p:sp>
        <p:nvSpPr>
          <p:cNvPr id="15" name="Text 13"/>
          <p:cNvSpPr/>
          <p:nvPr/>
        </p:nvSpPr>
        <p:spPr>
          <a:xfrm>
            <a:off x="1360170" y="7989252"/>
            <a:ext cx="7518959"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Build small → measure token costs under real usage → then price.</a:t>
            </a:r>
            <a:endParaRPr lang="en-US" sz="1950" dirty="0"/>
          </a:p>
        </p:txBody>
      </p:sp>
      <p:sp>
        <p:nvSpPr>
          <p:cNvPr id="16" name="Text 14"/>
          <p:cNvSpPr/>
          <p:nvPr/>
        </p:nvSpPr>
        <p:spPr>
          <a:xfrm>
            <a:off x="1360170" y="9360852"/>
            <a:ext cx="7518959"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No pricing commitment until token behaviour is understood at scale.</a:t>
            </a:r>
            <a:endParaRPr lang="en-US" sz="1950" dirty="0"/>
          </a:p>
        </p:txBody>
      </p:sp>
      <p:sp>
        <p:nvSpPr>
          <p:cNvPr id="17" name="Shape 15"/>
          <p:cNvSpPr/>
          <p:nvPr/>
        </p:nvSpPr>
        <p:spPr>
          <a:xfrm>
            <a:off x="9315450" y="2933065"/>
            <a:ext cx="7924800" cy="3193098"/>
          </a:xfrm>
          <a:prstGeom prst="roundRect">
            <a:avLst>
              <a:gd name="adj" fmla="val 2386"/>
            </a:avLst>
          </a:prstGeom>
          <a:solidFill>
            <a:srgbClr val="1A2535"/>
          </a:solidFill>
          <a:ln/>
        </p:spPr>
      </p:sp>
      <p:sp>
        <p:nvSpPr>
          <p:cNvPr id="18" name="Text 16"/>
          <p:cNvSpPr/>
          <p:nvPr/>
        </p:nvSpPr>
        <p:spPr>
          <a:xfrm>
            <a:off x="9620250" y="3466465"/>
            <a:ext cx="7534656"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60C094"/>
                </a:solidFill>
                <a:latin typeface="Arial" pitchFamily="34" charset="0"/>
                <a:ea typeface="Arial" pitchFamily="34" charset="-122"/>
                <a:cs typeface="Arial" pitchFamily="34" charset="-120"/>
              </a:rPr>
              <a:t>ENTERPRISE / AI-INTENSIVE E.G. NEXUS PLATFORM</a:t>
            </a:r>
            <a:endParaRPr lang="en-US" sz="1800" dirty="0"/>
          </a:p>
        </p:txBody>
      </p:sp>
      <p:sp>
        <p:nvSpPr>
          <p:cNvPr id="19" name="Text 17"/>
          <p:cNvSpPr/>
          <p:nvPr/>
        </p:nvSpPr>
        <p:spPr>
          <a:xfrm>
            <a:off x="9620250" y="4895215"/>
            <a:ext cx="80467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0000"/>
                  </a:srgbClr>
                </a:solidFill>
                <a:latin typeface="Arial" pitchFamily="34" charset="0"/>
                <a:ea typeface="Arial" pitchFamily="34" charset="-122"/>
                <a:cs typeface="Arial" pitchFamily="34" charset="-120"/>
              </a:rPr>
              <a:t>→ Client supplies own API keys</a:t>
            </a:r>
            <a:endParaRPr lang="en-US" sz="1950" dirty="0"/>
          </a:p>
        </p:txBody>
      </p:sp>
      <p:sp>
        <p:nvSpPr>
          <p:cNvPr id="20" name="Text 18"/>
          <p:cNvSpPr/>
          <p:nvPr/>
        </p:nvSpPr>
        <p:spPr>
          <a:xfrm>
            <a:off x="9620250" y="5857240"/>
            <a:ext cx="80467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0000"/>
                  </a:srgbClr>
                </a:solidFill>
                <a:latin typeface="Arial" pitchFamily="34" charset="0"/>
                <a:ea typeface="Arial" pitchFamily="34" charset="-122"/>
                <a:cs typeface="Arial" pitchFamily="34" charset="-120"/>
              </a:rPr>
              <a:t>→ Client controls usage and cost directly</a:t>
            </a:r>
            <a:endParaRPr lang="en-US" sz="1950" dirty="0"/>
          </a:p>
        </p:txBody>
      </p:sp>
      <p:sp>
        <p:nvSpPr>
          <p:cNvPr id="21" name="Text 19"/>
          <p:cNvSpPr/>
          <p:nvPr/>
        </p:nvSpPr>
        <p:spPr>
          <a:xfrm>
            <a:off x="9620250" y="6819265"/>
            <a:ext cx="804672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80000"/>
                  </a:srgbClr>
                </a:solidFill>
                <a:latin typeface="Arial" pitchFamily="34" charset="0"/>
                <a:ea typeface="Arial" pitchFamily="34" charset="-122"/>
                <a:cs typeface="Arial" pitchFamily="34" charset="-120"/>
              </a:rPr>
              <a:t>→ No overage surprise from Privé</a:t>
            </a:r>
            <a:endParaRPr lang="en-US" sz="1950" dirty="0"/>
          </a:p>
        </p:txBody>
      </p:sp>
      <p:sp>
        <p:nvSpPr>
          <p:cNvPr id="22" name="Shape 20"/>
          <p:cNvSpPr/>
          <p:nvPr/>
        </p:nvSpPr>
        <p:spPr>
          <a:xfrm>
            <a:off x="9315450" y="6354763"/>
            <a:ext cx="7924800" cy="3208337"/>
          </a:xfrm>
          <a:prstGeom prst="roundRect">
            <a:avLst>
              <a:gd name="adj" fmla="val 2375"/>
            </a:avLst>
          </a:prstGeom>
          <a:solidFill>
            <a:srgbClr val="F4F5F7"/>
          </a:solidFill>
          <a:ln w="7620">
            <a:solidFill>
              <a:srgbClr val="E0E0E0"/>
            </a:solidFill>
            <a:prstDash val="solid"/>
          </a:ln>
        </p:spPr>
      </p:sp>
      <p:sp>
        <p:nvSpPr>
          <p:cNvPr id="23" name="Text 21"/>
          <p:cNvSpPr/>
          <p:nvPr/>
        </p:nvSpPr>
        <p:spPr>
          <a:xfrm>
            <a:off x="9627870" y="6895783"/>
            <a:ext cx="802995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TIER 3 / SMALLER CLIENTS</a:t>
            </a:r>
            <a:endParaRPr lang="en-US" sz="1800" dirty="0"/>
          </a:p>
        </p:txBody>
      </p:sp>
      <p:sp>
        <p:nvSpPr>
          <p:cNvPr id="24" name="Text 22"/>
          <p:cNvSpPr/>
          <p:nvPr/>
        </p:nvSpPr>
        <p:spPr>
          <a:xfrm>
            <a:off x="9627870" y="7981633"/>
            <a:ext cx="80299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 Privé bears token cost during testing phase</a:t>
            </a:r>
            <a:endParaRPr lang="en-US" sz="1950" dirty="0"/>
          </a:p>
        </p:txBody>
      </p:sp>
      <p:sp>
        <p:nvSpPr>
          <p:cNvPr id="25" name="Text 23"/>
          <p:cNvSpPr/>
          <p:nvPr/>
        </p:nvSpPr>
        <p:spPr>
          <a:xfrm>
            <a:off x="9627870" y="8943658"/>
            <a:ext cx="80299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 Commercial model being built before committing pricing</a:t>
            </a:r>
            <a:endParaRPr lang="en-US" sz="1950" dirty="0"/>
          </a:p>
        </p:txBody>
      </p:sp>
      <p:pic>
        <p:nvPicPr>
          <p:cNvPr id="26"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09 · PROOF</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Where We Are Today</a:t>
            </a:r>
            <a:endParaRPr lang="en-US" sz="4350" dirty="0"/>
          </a:p>
        </p:txBody>
      </p:sp>
      <p:sp>
        <p:nvSpPr>
          <p:cNvPr id="4" name="Shape 2"/>
          <p:cNvSpPr/>
          <p:nvPr/>
        </p:nvSpPr>
        <p:spPr>
          <a:xfrm>
            <a:off x="1047750" y="2933065"/>
            <a:ext cx="7924800" cy="6630035"/>
          </a:xfrm>
          <a:prstGeom prst="roundRect">
            <a:avLst>
              <a:gd name="adj" fmla="val 1149"/>
            </a:avLst>
          </a:prstGeom>
          <a:ln w="7620">
            <a:solidFill>
              <a:srgbClr val="60C094"/>
            </a:solidFill>
            <a:prstDash val="solid"/>
          </a:ln>
        </p:spPr>
      </p:sp>
      <p:sp>
        <p:nvSpPr>
          <p:cNvPr id="5" name="Shape 3"/>
          <p:cNvSpPr/>
          <p:nvPr/>
        </p:nvSpPr>
        <p:spPr>
          <a:xfrm>
            <a:off x="1055370" y="2940685"/>
            <a:ext cx="7909560" cy="1722120"/>
          </a:xfrm>
          <a:prstGeom prst="rect">
            <a:avLst/>
          </a:prstGeom>
          <a:solidFill>
            <a:srgbClr val="EAF5F0"/>
          </a:solidFill>
          <a:ln/>
        </p:spPr>
      </p:sp>
      <p:sp>
        <p:nvSpPr>
          <p:cNvPr id="6" name="Shape 4"/>
          <p:cNvSpPr/>
          <p:nvPr/>
        </p:nvSpPr>
        <p:spPr>
          <a:xfrm>
            <a:off x="1055370" y="4655185"/>
            <a:ext cx="7909560" cy="9525"/>
          </a:xfrm>
          <a:prstGeom prst="rect">
            <a:avLst/>
          </a:prstGeom>
          <a:solidFill>
            <a:srgbClr val="60C094"/>
          </a:solidFill>
          <a:ln/>
        </p:spPr>
      </p:sp>
      <p:sp>
        <p:nvSpPr>
          <p:cNvPr id="7" name="Text 5"/>
          <p:cNvSpPr/>
          <p:nvPr/>
        </p:nvSpPr>
        <p:spPr>
          <a:xfrm>
            <a:off x="1322070" y="3340735"/>
            <a:ext cx="81137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LIVE IN PRODUCTION</a:t>
            </a:r>
            <a:endParaRPr lang="en-US" sz="1800" dirty="0"/>
          </a:p>
        </p:txBody>
      </p:sp>
      <p:sp>
        <p:nvSpPr>
          <p:cNvPr id="8" name="Text 6"/>
          <p:cNvSpPr/>
          <p:nvPr/>
        </p:nvSpPr>
        <p:spPr>
          <a:xfrm>
            <a:off x="1322070" y="3912235"/>
            <a:ext cx="81137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Deployed with clients at Citi and UOB tier</a:t>
            </a:r>
            <a:endParaRPr lang="en-US" sz="1800" dirty="0"/>
          </a:p>
        </p:txBody>
      </p:sp>
      <p:sp>
        <p:nvSpPr>
          <p:cNvPr id="9" name="Text 7"/>
          <p:cNvSpPr/>
          <p:nvPr/>
        </p:nvSpPr>
        <p:spPr>
          <a:xfrm>
            <a:off x="1322070" y="5139055"/>
            <a:ext cx="811377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Portfolio Optimiser</a:t>
            </a:r>
            <a:endParaRPr lang="en-US" sz="1950" dirty="0"/>
          </a:p>
        </p:txBody>
      </p:sp>
      <p:sp>
        <p:nvSpPr>
          <p:cNvPr id="10" name="Text 8"/>
          <p:cNvSpPr/>
          <p:nvPr/>
        </p:nvSpPr>
        <p:spPr>
          <a:xfrm>
            <a:off x="1322070" y="5739130"/>
            <a:ext cx="81137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Constrained optimisation · Deterministic · Auditable</a:t>
            </a:r>
            <a:endParaRPr lang="en-US" sz="1800" dirty="0"/>
          </a:p>
        </p:txBody>
      </p:sp>
      <p:sp>
        <p:nvSpPr>
          <p:cNvPr id="11" name="Text 9"/>
          <p:cNvSpPr/>
          <p:nvPr/>
        </p:nvSpPr>
        <p:spPr>
          <a:xfrm>
            <a:off x="1322070" y="6748780"/>
            <a:ext cx="811377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Health Checks</a:t>
            </a:r>
            <a:endParaRPr lang="en-US" sz="1950" dirty="0"/>
          </a:p>
        </p:txBody>
      </p:sp>
      <p:sp>
        <p:nvSpPr>
          <p:cNvPr id="12" name="Text 10"/>
          <p:cNvSpPr/>
          <p:nvPr/>
        </p:nvSpPr>
        <p:spPr>
          <a:xfrm>
            <a:off x="1322070" y="7348855"/>
            <a:ext cx="81137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Rules-based signal detection against live portfolio data</a:t>
            </a:r>
            <a:endParaRPr lang="en-US" sz="1800" dirty="0"/>
          </a:p>
        </p:txBody>
      </p:sp>
      <p:sp>
        <p:nvSpPr>
          <p:cNvPr id="13" name="Text 11"/>
          <p:cNvSpPr/>
          <p:nvPr/>
        </p:nvSpPr>
        <p:spPr>
          <a:xfrm>
            <a:off x="1322070" y="8358505"/>
            <a:ext cx="811377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Scenario Analysis</a:t>
            </a:r>
            <a:endParaRPr lang="en-US" sz="1950" dirty="0"/>
          </a:p>
        </p:txBody>
      </p:sp>
      <p:sp>
        <p:nvSpPr>
          <p:cNvPr id="14" name="Text 12"/>
          <p:cNvSpPr/>
          <p:nvPr/>
        </p:nvSpPr>
        <p:spPr>
          <a:xfrm>
            <a:off x="1322070" y="8958580"/>
            <a:ext cx="81137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Deterministic forward-looking simulations</a:t>
            </a:r>
            <a:endParaRPr lang="en-US" sz="1800" dirty="0"/>
          </a:p>
        </p:txBody>
      </p:sp>
      <p:sp>
        <p:nvSpPr>
          <p:cNvPr id="15" name="Shape 13"/>
          <p:cNvSpPr/>
          <p:nvPr/>
        </p:nvSpPr>
        <p:spPr>
          <a:xfrm>
            <a:off x="9315450" y="2933065"/>
            <a:ext cx="7924800" cy="6630035"/>
          </a:xfrm>
          <a:prstGeom prst="roundRect">
            <a:avLst>
              <a:gd name="adj" fmla="val 1149"/>
            </a:avLst>
          </a:prstGeom>
          <a:ln w="7620">
            <a:solidFill>
              <a:srgbClr val="E0E0E0"/>
            </a:solidFill>
            <a:prstDash val="solid"/>
          </a:ln>
        </p:spPr>
      </p:sp>
      <p:sp>
        <p:nvSpPr>
          <p:cNvPr id="16" name="Shape 14"/>
          <p:cNvSpPr/>
          <p:nvPr/>
        </p:nvSpPr>
        <p:spPr>
          <a:xfrm>
            <a:off x="9323070" y="2940685"/>
            <a:ext cx="7909560" cy="1722120"/>
          </a:xfrm>
          <a:prstGeom prst="rect">
            <a:avLst/>
          </a:prstGeom>
          <a:solidFill>
            <a:srgbClr val="F4F5F7"/>
          </a:solidFill>
          <a:ln/>
        </p:spPr>
      </p:sp>
      <p:sp>
        <p:nvSpPr>
          <p:cNvPr id="17" name="Shape 15"/>
          <p:cNvSpPr/>
          <p:nvPr/>
        </p:nvSpPr>
        <p:spPr>
          <a:xfrm>
            <a:off x="9323070" y="4655185"/>
            <a:ext cx="7909560" cy="9525"/>
          </a:xfrm>
          <a:prstGeom prst="rect">
            <a:avLst/>
          </a:prstGeom>
          <a:solidFill>
            <a:srgbClr val="E0E0E0"/>
          </a:solidFill>
          <a:ln/>
        </p:spPr>
      </p:sp>
      <p:sp>
        <p:nvSpPr>
          <p:cNvPr id="18" name="Text 16"/>
          <p:cNvSpPr/>
          <p:nvPr/>
        </p:nvSpPr>
        <p:spPr>
          <a:xfrm>
            <a:off x="9589770" y="3340735"/>
            <a:ext cx="81137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IN TESTING / IN PROGRESS</a:t>
            </a:r>
            <a:endParaRPr lang="en-US" sz="1800" dirty="0"/>
          </a:p>
        </p:txBody>
      </p:sp>
      <p:sp>
        <p:nvSpPr>
          <p:cNvPr id="19" name="Text 17"/>
          <p:cNvSpPr/>
          <p:nvPr/>
        </p:nvSpPr>
        <p:spPr>
          <a:xfrm>
            <a:off x="9589770" y="3912235"/>
            <a:ext cx="81137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Built and in SIT — not yet production</a:t>
            </a:r>
            <a:endParaRPr lang="en-US" sz="1800" dirty="0"/>
          </a:p>
        </p:txBody>
      </p:sp>
      <p:sp>
        <p:nvSpPr>
          <p:cNvPr id="20" name="Text 18"/>
          <p:cNvSpPr/>
          <p:nvPr/>
        </p:nvSpPr>
        <p:spPr>
          <a:xfrm>
            <a:off x="9589770" y="5139055"/>
            <a:ext cx="811377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Portfolio IQ (UC-1 to UC-5) </a:t>
            </a:r>
            <a:pPr algn="l" indent="0" marL="0">
              <a:lnSpc>
                <a:spcPct val="150000"/>
              </a:lnSpc>
              <a:buNone/>
            </a:pPr>
            <a:r>
              <a:rPr lang="en-US" sz="1800" dirty="0">
                <a:solidFill>
                  <a:srgbClr val="3D505D"/>
                </a:solidFill>
                <a:highlight>
                  <a:srgbClr val="F0F0F0"/>
                </a:highlight>
                <a:latin typeface="Arial" pitchFamily="34" charset="0"/>
                <a:ea typeface="Arial" pitchFamily="34" charset="-122"/>
                <a:cs typeface="Arial" pitchFamily="34" charset="-120"/>
              </a:rPr>
              <a:t>SIT</a:t>
            </a:r>
            <a:endParaRPr lang="en-US" sz="1950" dirty="0"/>
          </a:p>
        </p:txBody>
      </p:sp>
      <p:sp>
        <p:nvSpPr>
          <p:cNvPr id="21" name="Text 19"/>
          <p:cNvSpPr/>
          <p:nvPr/>
        </p:nvSpPr>
        <p:spPr>
          <a:xfrm>
            <a:off x="9589770" y="5739130"/>
            <a:ext cx="81137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LLM outputs — integration testing underway</a:t>
            </a:r>
            <a:endParaRPr lang="en-US" sz="1800" dirty="0"/>
          </a:p>
        </p:txBody>
      </p:sp>
      <p:sp>
        <p:nvSpPr>
          <p:cNvPr id="22" name="Text 20"/>
          <p:cNvSpPr/>
          <p:nvPr/>
        </p:nvSpPr>
        <p:spPr>
          <a:xfrm>
            <a:off x="9589770" y="6710680"/>
            <a:ext cx="811377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Governance Layer </a:t>
            </a:r>
            <a:pPr algn="l" indent="0" marL="0">
              <a:lnSpc>
                <a:spcPct val="150000"/>
              </a:lnSpc>
              <a:buNone/>
            </a:pPr>
            <a:r>
              <a:rPr lang="en-US" sz="1800" dirty="0">
                <a:solidFill>
                  <a:srgbClr val="3D505D"/>
                </a:solidFill>
                <a:highlight>
                  <a:srgbClr val="F0F0F0"/>
                </a:highlight>
                <a:latin typeface="Arial" pitchFamily="34" charset="0"/>
                <a:ea typeface="Arial" pitchFamily="34" charset="-122"/>
                <a:cs typeface="Arial" pitchFamily="34" charset="-120"/>
              </a:rPr>
              <a:t>SIT</a:t>
            </a:r>
            <a:endParaRPr lang="en-US" sz="1950" dirty="0"/>
          </a:p>
        </p:txBody>
      </p:sp>
      <p:sp>
        <p:nvSpPr>
          <p:cNvPr id="23" name="Text 21"/>
          <p:cNvSpPr/>
          <p:nvPr/>
        </p:nvSpPr>
        <p:spPr>
          <a:xfrm>
            <a:off x="9589770" y="7310755"/>
            <a:ext cx="81137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Logging Hook · Confidence Scorer · Audit Store · Override UI</a:t>
            </a:r>
            <a:endParaRPr lang="en-US" sz="1800" dirty="0"/>
          </a:p>
        </p:txBody>
      </p:sp>
      <p:sp>
        <p:nvSpPr>
          <p:cNvPr id="24" name="Shape 22"/>
          <p:cNvSpPr/>
          <p:nvPr/>
        </p:nvSpPr>
        <p:spPr>
          <a:xfrm>
            <a:off x="9589770" y="8034655"/>
            <a:ext cx="7376160" cy="9525"/>
          </a:xfrm>
          <a:prstGeom prst="rect">
            <a:avLst/>
          </a:prstGeom>
          <a:solidFill>
            <a:srgbClr val="E0E0E0"/>
          </a:solidFill>
          <a:ln/>
        </p:spPr>
      </p:sp>
      <p:sp>
        <p:nvSpPr>
          <p:cNvPr id="25" name="Text 23"/>
          <p:cNvSpPr/>
          <p:nvPr/>
        </p:nvSpPr>
        <p:spPr>
          <a:xfrm>
            <a:off x="9589770" y="8442325"/>
            <a:ext cx="811377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Upcoming</a:t>
            </a:r>
            <a:endParaRPr lang="en-US" sz="1950" dirty="0"/>
          </a:p>
        </p:txBody>
      </p:sp>
      <p:sp>
        <p:nvSpPr>
          <p:cNvPr id="26" name="Text 24"/>
          <p:cNvSpPr/>
          <p:nvPr/>
        </p:nvSpPr>
        <p:spPr>
          <a:xfrm>
            <a:off x="9589770" y="9042400"/>
            <a:ext cx="7597445"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Client Lifecycle Agent · Track B independent platform · Token cost commercial model</a:t>
            </a:r>
            <a:endParaRPr lang="en-US" sz="1800" dirty="0"/>
          </a:p>
        </p:txBody>
      </p:sp>
      <p:pic>
        <p:nvPicPr>
          <p:cNvPr id="27"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06 · ARCHITECTURE</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Build-First: Why Privé Owns Its Core AI Infrastructure</a:t>
            </a:r>
            <a:endParaRPr lang="en-US" sz="4350" dirty="0"/>
          </a:p>
        </p:txBody>
      </p:sp>
      <p:sp>
        <p:nvSpPr>
          <p:cNvPr id="4" name="Shape 2"/>
          <p:cNvSpPr/>
          <p:nvPr/>
        </p:nvSpPr>
        <p:spPr>
          <a:xfrm>
            <a:off x="1047750" y="2933065"/>
            <a:ext cx="5168900" cy="6630035"/>
          </a:xfrm>
          <a:prstGeom prst="roundRect">
            <a:avLst>
              <a:gd name="adj" fmla="val 1474"/>
            </a:avLst>
          </a:prstGeom>
          <a:solidFill>
            <a:srgbClr val="EAF5F0"/>
          </a:solidFill>
          <a:ln w="7620">
            <a:solidFill>
              <a:srgbClr val="60C094"/>
            </a:solidFill>
            <a:prstDash val="solid"/>
          </a:ln>
        </p:spPr>
      </p:sp>
      <p:sp>
        <p:nvSpPr>
          <p:cNvPr id="5" name="Text 3"/>
          <p:cNvSpPr/>
          <p:nvPr/>
        </p:nvSpPr>
        <p:spPr>
          <a:xfrm>
            <a:off x="1379220" y="3493135"/>
            <a:ext cx="495655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WHAT PRIVÉ BUILDS INTERNALLY</a:t>
            </a:r>
            <a:endParaRPr lang="en-US" sz="1800" dirty="0"/>
          </a:p>
        </p:txBody>
      </p:sp>
      <p:sp>
        <p:nvSpPr>
          <p:cNvPr id="6" name="Text 4"/>
          <p:cNvSpPr/>
          <p:nvPr/>
        </p:nvSpPr>
        <p:spPr>
          <a:xfrm>
            <a:off x="1379220" y="4655185"/>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 Audit trail layer</a:t>
            </a:r>
            <a:endParaRPr lang="en-US" sz="1950" dirty="0"/>
          </a:p>
        </p:txBody>
      </p:sp>
      <p:sp>
        <p:nvSpPr>
          <p:cNvPr id="7" name="Text 5"/>
          <p:cNvSpPr/>
          <p:nvPr/>
        </p:nvSpPr>
        <p:spPr>
          <a:xfrm>
            <a:off x="1379220" y="5636260"/>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 Governance architecture</a:t>
            </a:r>
            <a:endParaRPr lang="en-US" sz="1950" dirty="0"/>
          </a:p>
        </p:txBody>
      </p:sp>
      <p:sp>
        <p:nvSpPr>
          <p:cNvPr id="8" name="Text 6"/>
          <p:cNvSpPr/>
          <p:nvPr/>
        </p:nvSpPr>
        <p:spPr>
          <a:xfrm>
            <a:off x="1379220" y="6617335"/>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 Compliance infrastructure</a:t>
            </a:r>
            <a:endParaRPr lang="en-US" sz="1950" dirty="0"/>
          </a:p>
        </p:txBody>
      </p:sp>
      <p:sp>
        <p:nvSpPr>
          <p:cNvPr id="9" name="Text 7"/>
          <p:cNvSpPr/>
          <p:nvPr/>
        </p:nvSpPr>
        <p:spPr>
          <a:xfrm>
            <a:off x="1379220" y="7598410"/>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 Override and logging UI</a:t>
            </a:r>
            <a:endParaRPr lang="en-US" sz="1950" dirty="0"/>
          </a:p>
        </p:txBody>
      </p:sp>
      <p:sp>
        <p:nvSpPr>
          <p:cNvPr id="10" name="Text 8"/>
          <p:cNvSpPr/>
          <p:nvPr/>
        </p:nvSpPr>
        <p:spPr>
          <a:xfrm>
            <a:off x="1379220" y="8579485"/>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 Decision record schema</a:t>
            </a:r>
            <a:endParaRPr lang="en-US" sz="1950" dirty="0"/>
          </a:p>
        </p:txBody>
      </p:sp>
      <p:sp>
        <p:nvSpPr>
          <p:cNvPr id="11" name="Shape 9"/>
          <p:cNvSpPr/>
          <p:nvPr/>
        </p:nvSpPr>
        <p:spPr>
          <a:xfrm>
            <a:off x="1379220" y="9370060"/>
            <a:ext cx="4505960" cy="990600"/>
          </a:xfrm>
          <a:prstGeom prst="roundRect">
            <a:avLst>
              <a:gd name="adj" fmla="val 5769"/>
            </a:avLst>
          </a:prstGeom>
          <a:solidFill>
            <a:srgbClr val="00557E"/>
          </a:solidFill>
          <a:ln/>
        </p:spPr>
      </p:sp>
      <p:sp>
        <p:nvSpPr>
          <p:cNvPr id="12" name="Text 10"/>
          <p:cNvSpPr/>
          <p:nvPr/>
        </p:nvSpPr>
        <p:spPr>
          <a:xfrm>
            <a:off x="1531620" y="9693910"/>
            <a:ext cx="462127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Currently: System Integration Testing</a:t>
            </a:r>
            <a:endParaRPr lang="en-US" sz="1800" dirty="0"/>
          </a:p>
        </p:txBody>
      </p:sp>
      <p:sp>
        <p:nvSpPr>
          <p:cNvPr id="13" name="Shape 11"/>
          <p:cNvSpPr/>
          <p:nvPr/>
        </p:nvSpPr>
        <p:spPr>
          <a:xfrm>
            <a:off x="6559550" y="2933065"/>
            <a:ext cx="5168900" cy="6630035"/>
          </a:xfrm>
          <a:prstGeom prst="roundRect">
            <a:avLst>
              <a:gd name="adj" fmla="val 1474"/>
            </a:avLst>
          </a:prstGeom>
          <a:solidFill>
            <a:srgbClr val="F4F5F7"/>
          </a:solidFill>
          <a:ln w="7620">
            <a:solidFill>
              <a:srgbClr val="E0E0E0"/>
            </a:solidFill>
            <a:prstDash val="solid"/>
          </a:ln>
        </p:spPr>
      </p:sp>
      <p:sp>
        <p:nvSpPr>
          <p:cNvPr id="14" name="Text 12"/>
          <p:cNvSpPr/>
          <p:nvPr/>
        </p:nvSpPr>
        <p:spPr>
          <a:xfrm>
            <a:off x="6891020" y="3493135"/>
            <a:ext cx="495655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WHAT THAT MEANS FOR YOU</a:t>
            </a:r>
            <a:endParaRPr lang="en-US" sz="1800" dirty="0"/>
          </a:p>
        </p:txBody>
      </p:sp>
      <p:sp>
        <p:nvSpPr>
          <p:cNvPr id="15" name="Text 13"/>
          <p:cNvSpPr/>
          <p:nvPr/>
        </p:nvSpPr>
        <p:spPr>
          <a:xfrm>
            <a:off x="6891020" y="4407535"/>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16" name="Text 14"/>
          <p:cNvSpPr/>
          <p:nvPr/>
        </p:nvSpPr>
        <p:spPr>
          <a:xfrm>
            <a:off x="7252970" y="4655185"/>
            <a:ext cx="4268330"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No vendor can deprecate your compliance posture</a:t>
            </a:r>
            <a:endParaRPr lang="en-US" sz="1950" dirty="0"/>
          </a:p>
        </p:txBody>
      </p:sp>
      <p:sp>
        <p:nvSpPr>
          <p:cNvPr id="17" name="Text 15"/>
          <p:cNvSpPr/>
          <p:nvPr/>
        </p:nvSpPr>
        <p:spPr>
          <a:xfrm>
            <a:off x="6891020" y="5779135"/>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18" name="Text 16"/>
          <p:cNvSpPr/>
          <p:nvPr/>
        </p:nvSpPr>
        <p:spPr>
          <a:xfrm>
            <a:off x="7252970" y="6026785"/>
            <a:ext cx="4268330"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No licence renewal that puts your audit trail at risk</a:t>
            </a:r>
            <a:endParaRPr lang="en-US" sz="1950" dirty="0"/>
          </a:p>
        </p:txBody>
      </p:sp>
      <p:sp>
        <p:nvSpPr>
          <p:cNvPr id="19" name="Text 17"/>
          <p:cNvSpPr/>
          <p:nvPr/>
        </p:nvSpPr>
        <p:spPr>
          <a:xfrm>
            <a:off x="6891020" y="7150735"/>
            <a:ext cx="32385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60C094"/>
                </a:solidFill>
                <a:latin typeface="Arial" pitchFamily="34" charset="0"/>
                <a:ea typeface="Arial" pitchFamily="34" charset="-122"/>
                <a:cs typeface="Arial" pitchFamily="34" charset="-120"/>
              </a:rPr>
              <a:t>→</a:t>
            </a:r>
            <a:endParaRPr lang="en-US" sz="1950" dirty="0"/>
          </a:p>
        </p:txBody>
      </p:sp>
      <p:sp>
        <p:nvSpPr>
          <p:cNvPr id="20" name="Text 18"/>
          <p:cNvSpPr/>
          <p:nvPr/>
        </p:nvSpPr>
        <p:spPr>
          <a:xfrm>
            <a:off x="7252970" y="7398385"/>
            <a:ext cx="4268330"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No third-party terms change that affects your regulator submission</a:t>
            </a:r>
            <a:endParaRPr lang="en-US" sz="1950" dirty="0"/>
          </a:p>
        </p:txBody>
      </p:sp>
      <p:sp>
        <p:nvSpPr>
          <p:cNvPr id="21" name="Shape 19"/>
          <p:cNvSpPr/>
          <p:nvPr/>
        </p:nvSpPr>
        <p:spPr>
          <a:xfrm>
            <a:off x="6891020" y="8560435"/>
            <a:ext cx="4505960" cy="1752600"/>
          </a:xfrm>
          <a:prstGeom prst="roundRect">
            <a:avLst>
              <a:gd name="adj" fmla="val 3261"/>
            </a:avLst>
          </a:prstGeom>
          <a:solidFill>
            <a:srgbClr val="1A2535"/>
          </a:solidFill>
          <a:ln/>
        </p:spPr>
      </p:sp>
      <p:sp>
        <p:nvSpPr>
          <p:cNvPr id="22" name="Text 20"/>
          <p:cNvSpPr/>
          <p:nvPr/>
        </p:nvSpPr>
        <p:spPr>
          <a:xfrm>
            <a:off x="7062470" y="8922385"/>
            <a:ext cx="4287952" cy="10668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60C094"/>
                </a:solidFill>
                <a:latin typeface="Arial" pitchFamily="34" charset="0"/>
                <a:ea typeface="Arial" pitchFamily="34" charset="-122"/>
                <a:cs typeface="Arial" pitchFamily="34" charset="-120"/>
              </a:rPr>
              <a:t>When a regulator asks who owns the governance layer — the answer is: Privé does.</a:t>
            </a:r>
            <a:endParaRPr lang="en-US" sz="1800" dirty="0"/>
          </a:p>
        </p:txBody>
      </p:sp>
      <p:sp>
        <p:nvSpPr>
          <p:cNvPr id="23" name="Shape 21"/>
          <p:cNvSpPr/>
          <p:nvPr/>
        </p:nvSpPr>
        <p:spPr>
          <a:xfrm>
            <a:off x="12071350" y="2933065"/>
            <a:ext cx="5168900" cy="6630035"/>
          </a:xfrm>
          <a:prstGeom prst="roundRect">
            <a:avLst>
              <a:gd name="adj" fmla="val 1474"/>
            </a:avLst>
          </a:prstGeom>
          <a:solidFill>
            <a:srgbClr val="F4F5F7"/>
          </a:solidFill>
          <a:ln w="7620">
            <a:solidFill>
              <a:srgbClr val="E0E0E0"/>
            </a:solidFill>
            <a:prstDash val="solid"/>
          </a:ln>
        </p:spPr>
      </p:sp>
      <p:sp>
        <p:nvSpPr>
          <p:cNvPr id="24" name="Text 22"/>
          <p:cNvSpPr/>
          <p:nvPr/>
        </p:nvSpPr>
        <p:spPr>
          <a:xfrm>
            <a:off x="12402820" y="3493135"/>
            <a:ext cx="495655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THIRD-PARTY ROLE (INTERIM)</a:t>
            </a:r>
            <a:endParaRPr lang="en-US" sz="1800" dirty="0"/>
          </a:p>
        </p:txBody>
      </p:sp>
      <p:sp>
        <p:nvSpPr>
          <p:cNvPr id="25" name="Text 23"/>
          <p:cNvSpPr/>
          <p:nvPr/>
        </p:nvSpPr>
        <p:spPr>
          <a:xfrm>
            <a:off x="12402820" y="4655185"/>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Model delivery:</a:t>
            </a:r>
            <a:endParaRPr lang="en-US" sz="1950" dirty="0"/>
          </a:p>
        </p:txBody>
      </p:sp>
      <p:sp>
        <p:nvSpPr>
          <p:cNvPr id="26" name="Text 24"/>
          <p:cNvSpPr/>
          <p:nvPr/>
        </p:nvSpPr>
        <p:spPr>
          <a:xfrm>
            <a:off x="12402820" y="5655310"/>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Anthropic via AWS Bedrock</a:t>
            </a:r>
            <a:endParaRPr lang="en-US" sz="1950" dirty="0"/>
          </a:p>
        </p:txBody>
      </p:sp>
      <p:sp>
        <p:nvSpPr>
          <p:cNvPr id="27" name="Text 25"/>
          <p:cNvSpPr/>
          <p:nvPr/>
        </p:nvSpPr>
        <p:spPr>
          <a:xfrm>
            <a:off x="12402820" y="6655435"/>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Internal tooling:</a:t>
            </a:r>
            <a:endParaRPr lang="en-US" sz="1950" dirty="0"/>
          </a:p>
        </p:txBody>
      </p:sp>
      <p:sp>
        <p:nvSpPr>
          <p:cNvPr id="28" name="Text 26"/>
          <p:cNvSpPr/>
          <p:nvPr/>
        </p:nvSpPr>
        <p:spPr>
          <a:xfrm>
            <a:off x="12402820" y="7655560"/>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Gemini</a:t>
            </a:r>
            <a:endParaRPr lang="en-US" sz="1950" dirty="0"/>
          </a:p>
        </p:txBody>
      </p:sp>
      <p:sp>
        <p:nvSpPr>
          <p:cNvPr id="29" name="Text 27"/>
          <p:cNvSpPr/>
          <p:nvPr/>
        </p:nvSpPr>
        <p:spPr>
          <a:xfrm>
            <a:off x="12402820" y="8655685"/>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3D505D"/>
                </a:solidFill>
                <a:latin typeface="Arial" pitchFamily="34" charset="0"/>
                <a:ea typeface="Arial" pitchFamily="34" charset="-122"/>
                <a:cs typeface="Arial" pitchFamily="34" charset="-120"/>
              </a:rPr>
              <a:t>Orchestration:</a:t>
            </a:r>
            <a:endParaRPr lang="en-US" sz="1950" dirty="0"/>
          </a:p>
        </p:txBody>
      </p:sp>
      <p:sp>
        <p:nvSpPr>
          <p:cNvPr id="30" name="Text 28"/>
          <p:cNvSpPr/>
          <p:nvPr/>
        </p:nvSpPr>
        <p:spPr>
          <a:xfrm>
            <a:off x="12402820" y="9655810"/>
            <a:ext cx="495655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N8N</a:t>
            </a:r>
            <a:endParaRPr lang="en-US" sz="1950" dirty="0"/>
          </a:p>
        </p:txBody>
      </p:sp>
      <p:sp>
        <p:nvSpPr>
          <p:cNvPr id="31" name="Text 29"/>
          <p:cNvSpPr/>
          <p:nvPr/>
        </p:nvSpPr>
        <p:spPr>
          <a:xfrm>
            <a:off x="12402820" y="10674986"/>
            <a:ext cx="464113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i="1" dirty="0">
                <a:solidFill>
                  <a:srgbClr val="3D505D"/>
                </a:solidFill>
                <a:latin typeface="Arial" pitchFamily="34" charset="0"/>
                <a:ea typeface="Arial" pitchFamily="34" charset="-122"/>
                <a:cs typeface="Arial" pitchFamily="34" charset="-120"/>
              </a:rPr>
              <a:t>Infrastructure bridges, not compliance dependencies.</a:t>
            </a:r>
            <a:endParaRPr lang="en-US" sz="1800" dirty="0"/>
          </a:p>
        </p:txBody>
      </p:sp>
      <p:pic>
        <p:nvPicPr>
          <p:cNvPr id="32"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10 · NEXT STEP</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Why Now: The Early-Mover Window Is Still Open</a:t>
            </a:r>
            <a:endParaRPr lang="en-US" sz="4350" dirty="0"/>
          </a:p>
        </p:txBody>
      </p:sp>
      <p:sp>
        <p:nvSpPr>
          <p:cNvPr id="4" name="Shape 2"/>
          <p:cNvSpPr/>
          <p:nvPr/>
        </p:nvSpPr>
        <p:spPr>
          <a:xfrm>
            <a:off x="1047750" y="2933065"/>
            <a:ext cx="16192500" cy="6630035"/>
          </a:xfrm>
          <a:prstGeom prst="roundRect">
            <a:avLst>
              <a:gd name="adj" fmla="val 1149"/>
            </a:avLst>
          </a:prstGeom>
          <a:ln w="7620">
            <a:solidFill>
              <a:srgbClr val="E0E0E0"/>
            </a:solidFill>
            <a:prstDash val="solid"/>
          </a:ln>
        </p:spPr>
      </p:sp>
      <p:sp>
        <p:nvSpPr>
          <p:cNvPr id="5" name="Shape 3"/>
          <p:cNvSpPr/>
          <p:nvPr/>
        </p:nvSpPr>
        <p:spPr>
          <a:xfrm>
            <a:off x="1055370" y="2940685"/>
            <a:ext cx="8083868" cy="1722120"/>
          </a:xfrm>
          <a:prstGeom prst="rect">
            <a:avLst/>
          </a:prstGeom>
          <a:solidFill>
            <a:srgbClr val="F4F5F7"/>
          </a:solidFill>
          <a:ln/>
        </p:spPr>
      </p:sp>
      <p:sp>
        <p:nvSpPr>
          <p:cNvPr id="6" name="Shape 4"/>
          <p:cNvSpPr/>
          <p:nvPr/>
        </p:nvSpPr>
        <p:spPr>
          <a:xfrm>
            <a:off x="1055370" y="4655185"/>
            <a:ext cx="8083868" cy="9525"/>
          </a:xfrm>
          <a:prstGeom prst="rect">
            <a:avLst/>
          </a:prstGeom>
          <a:solidFill>
            <a:srgbClr val="E0E0E0"/>
          </a:solidFill>
          <a:ln/>
        </p:spPr>
      </p:sp>
      <p:sp>
        <p:nvSpPr>
          <p:cNvPr id="7" name="Text 5"/>
          <p:cNvSpPr/>
          <p:nvPr/>
        </p:nvSpPr>
        <p:spPr>
          <a:xfrm>
            <a:off x="1322070" y="3340735"/>
            <a:ext cx="83055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TABLE STAKES</a:t>
            </a:r>
            <a:endParaRPr lang="en-US" sz="1800" dirty="0"/>
          </a:p>
        </p:txBody>
      </p:sp>
      <p:sp>
        <p:nvSpPr>
          <p:cNvPr id="8" name="Text 6"/>
          <p:cNvSpPr/>
          <p:nvPr/>
        </p:nvSpPr>
        <p:spPr>
          <a:xfrm>
            <a:off x="1322070" y="3912235"/>
            <a:ext cx="83055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Expected within 12–18 months</a:t>
            </a:r>
            <a:endParaRPr lang="en-US" sz="1800" dirty="0"/>
          </a:p>
        </p:txBody>
      </p:sp>
      <p:sp>
        <p:nvSpPr>
          <p:cNvPr id="9" name="Text 7"/>
          <p:cNvSpPr/>
          <p:nvPr/>
        </p:nvSpPr>
        <p:spPr>
          <a:xfrm>
            <a:off x="1322070" y="5139055"/>
            <a:ext cx="830551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Dashboarding with alerts</a:t>
            </a:r>
            <a:endParaRPr lang="en-US" sz="1950" dirty="0"/>
          </a:p>
        </p:txBody>
      </p:sp>
      <p:sp>
        <p:nvSpPr>
          <p:cNvPr id="10" name="Text 8"/>
          <p:cNvSpPr/>
          <p:nvPr/>
        </p:nvSpPr>
        <p:spPr>
          <a:xfrm>
            <a:off x="1322070" y="6120130"/>
            <a:ext cx="830551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Portfolio summaries + CIO view</a:t>
            </a:r>
            <a:endParaRPr lang="en-US" sz="1950" dirty="0"/>
          </a:p>
        </p:txBody>
      </p:sp>
      <p:sp>
        <p:nvSpPr>
          <p:cNvPr id="11" name="Text 9"/>
          <p:cNvSpPr/>
          <p:nvPr/>
        </p:nvSpPr>
        <p:spPr>
          <a:xfrm>
            <a:off x="1322070" y="7101205"/>
            <a:ext cx="830551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Automated client reports</a:t>
            </a:r>
            <a:endParaRPr lang="en-US" sz="1950" dirty="0"/>
          </a:p>
        </p:txBody>
      </p:sp>
      <p:sp>
        <p:nvSpPr>
          <p:cNvPr id="12" name="Text 10"/>
          <p:cNvSpPr/>
          <p:nvPr/>
        </p:nvSpPr>
        <p:spPr>
          <a:xfrm>
            <a:off x="1322070" y="8082280"/>
            <a:ext cx="830551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AI-assisted RM tools</a:t>
            </a:r>
            <a:endParaRPr lang="en-US" sz="1950" dirty="0"/>
          </a:p>
        </p:txBody>
      </p:sp>
      <p:sp>
        <p:nvSpPr>
          <p:cNvPr id="13" name="Text 11"/>
          <p:cNvSpPr/>
          <p:nvPr/>
        </p:nvSpPr>
        <p:spPr>
          <a:xfrm>
            <a:off x="1322070" y="9063355"/>
            <a:ext cx="830551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D505D"/>
                </a:solidFill>
                <a:latin typeface="Arial" pitchFamily="34" charset="0"/>
                <a:ea typeface="Arial" pitchFamily="34" charset="-122"/>
                <a:cs typeface="Arial" pitchFamily="34" charset="-120"/>
              </a:rPr>
              <a:t>· NL query interface</a:t>
            </a:r>
            <a:endParaRPr lang="en-US" sz="1950" dirty="0"/>
          </a:p>
        </p:txBody>
      </p:sp>
      <p:sp>
        <p:nvSpPr>
          <p:cNvPr id="14" name="Shape 12"/>
          <p:cNvSpPr/>
          <p:nvPr/>
        </p:nvSpPr>
        <p:spPr>
          <a:xfrm>
            <a:off x="1055370" y="9911080"/>
            <a:ext cx="8083868" cy="1074420"/>
          </a:xfrm>
          <a:prstGeom prst="rect">
            <a:avLst/>
          </a:prstGeom>
          <a:solidFill>
            <a:srgbClr val="F4F5F7"/>
          </a:solidFill>
          <a:ln/>
        </p:spPr>
      </p:sp>
      <p:sp>
        <p:nvSpPr>
          <p:cNvPr id="15" name="Shape 13"/>
          <p:cNvSpPr/>
          <p:nvPr/>
        </p:nvSpPr>
        <p:spPr>
          <a:xfrm>
            <a:off x="1055370" y="9911080"/>
            <a:ext cx="8083868" cy="9525"/>
          </a:xfrm>
          <a:prstGeom prst="rect">
            <a:avLst/>
          </a:prstGeom>
          <a:solidFill>
            <a:srgbClr val="E0E0E0"/>
          </a:solidFill>
          <a:ln/>
        </p:spPr>
      </p:sp>
      <p:sp>
        <p:nvSpPr>
          <p:cNvPr id="16" name="Text 14"/>
          <p:cNvSpPr/>
          <p:nvPr/>
        </p:nvSpPr>
        <p:spPr>
          <a:xfrm>
            <a:off x="1322070" y="10280650"/>
            <a:ext cx="83055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i="1" dirty="0">
                <a:solidFill>
                  <a:srgbClr val="3D505D"/>
                </a:solidFill>
                <a:latin typeface="Arial" pitchFamily="34" charset="0"/>
                <a:ea typeface="Arial" pitchFamily="34" charset="-122"/>
                <a:cs typeface="Arial" pitchFamily="34" charset="-120"/>
              </a:rPr>
              <a:t>Match or fall behind. The window is already closing.</a:t>
            </a:r>
            <a:endParaRPr lang="en-US" sz="1800" dirty="0"/>
          </a:p>
        </p:txBody>
      </p:sp>
      <p:sp>
        <p:nvSpPr>
          <p:cNvPr id="17" name="Shape 15"/>
          <p:cNvSpPr/>
          <p:nvPr/>
        </p:nvSpPr>
        <p:spPr>
          <a:xfrm>
            <a:off x="9139238" y="2940685"/>
            <a:ext cx="9525" cy="6614795"/>
          </a:xfrm>
          <a:prstGeom prst="rect">
            <a:avLst/>
          </a:prstGeom>
          <a:solidFill>
            <a:srgbClr val="E0E0E0"/>
          </a:solidFill>
          <a:ln/>
        </p:spPr>
      </p:sp>
      <p:sp>
        <p:nvSpPr>
          <p:cNvPr id="18" name="Shape 16"/>
          <p:cNvSpPr/>
          <p:nvPr/>
        </p:nvSpPr>
        <p:spPr>
          <a:xfrm>
            <a:off x="9148763" y="2940685"/>
            <a:ext cx="8083868" cy="1722120"/>
          </a:xfrm>
          <a:prstGeom prst="rect">
            <a:avLst/>
          </a:prstGeom>
          <a:solidFill>
            <a:srgbClr val="EAF5F0"/>
          </a:solidFill>
          <a:ln/>
        </p:spPr>
      </p:sp>
      <p:sp>
        <p:nvSpPr>
          <p:cNvPr id="19" name="Shape 17"/>
          <p:cNvSpPr/>
          <p:nvPr/>
        </p:nvSpPr>
        <p:spPr>
          <a:xfrm>
            <a:off x="9148763" y="4655185"/>
            <a:ext cx="8083868" cy="9525"/>
          </a:xfrm>
          <a:prstGeom prst="rect">
            <a:avLst/>
          </a:prstGeom>
          <a:solidFill>
            <a:srgbClr val="B8E8D0"/>
          </a:solidFill>
          <a:ln/>
        </p:spPr>
      </p:sp>
      <p:sp>
        <p:nvSpPr>
          <p:cNvPr id="20" name="Text 18"/>
          <p:cNvSpPr/>
          <p:nvPr/>
        </p:nvSpPr>
        <p:spPr>
          <a:xfrm>
            <a:off x="9415463" y="3340735"/>
            <a:ext cx="83055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DIFFERENTIATORS</a:t>
            </a:r>
            <a:endParaRPr lang="en-US" sz="1800" dirty="0"/>
          </a:p>
        </p:txBody>
      </p:sp>
      <p:sp>
        <p:nvSpPr>
          <p:cNvPr id="21" name="Text 19"/>
          <p:cNvSpPr/>
          <p:nvPr/>
        </p:nvSpPr>
        <p:spPr>
          <a:xfrm>
            <a:off x="9415463" y="3912235"/>
            <a:ext cx="83055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00557E"/>
                </a:solidFill>
                <a:latin typeface="Arial" pitchFamily="34" charset="0"/>
                <a:ea typeface="Arial" pitchFamily="34" charset="-122"/>
                <a:cs typeface="Arial" pitchFamily="34" charset="-120"/>
              </a:rPr>
              <a:t>Window still open · Engage now</a:t>
            </a:r>
            <a:endParaRPr lang="en-US" sz="1800" dirty="0"/>
          </a:p>
        </p:txBody>
      </p:sp>
      <p:sp>
        <p:nvSpPr>
          <p:cNvPr id="22" name="Text 20"/>
          <p:cNvSpPr/>
          <p:nvPr/>
        </p:nvSpPr>
        <p:spPr>
          <a:xfrm>
            <a:off x="9415463" y="5139055"/>
            <a:ext cx="830551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 Wealth manager development workspace</a:t>
            </a:r>
            <a:endParaRPr lang="en-US" sz="1950" dirty="0"/>
          </a:p>
        </p:txBody>
      </p:sp>
      <p:sp>
        <p:nvSpPr>
          <p:cNvPr id="23" name="Text 21"/>
          <p:cNvSpPr/>
          <p:nvPr/>
        </p:nvSpPr>
        <p:spPr>
          <a:xfrm>
            <a:off x="9415463" y="5739130"/>
            <a:ext cx="83055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No competitor has shipped this at the institutional level</a:t>
            </a:r>
            <a:endParaRPr lang="en-US" sz="1800" dirty="0"/>
          </a:p>
        </p:txBody>
      </p:sp>
      <p:sp>
        <p:nvSpPr>
          <p:cNvPr id="24" name="Text 22"/>
          <p:cNvSpPr/>
          <p:nvPr/>
        </p:nvSpPr>
        <p:spPr>
          <a:xfrm>
            <a:off x="9415463" y="6710680"/>
            <a:ext cx="830551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 RM Pathfinder + Conversational onboarding</a:t>
            </a:r>
            <a:endParaRPr lang="en-US" sz="1950" dirty="0"/>
          </a:p>
        </p:txBody>
      </p:sp>
      <p:sp>
        <p:nvSpPr>
          <p:cNvPr id="25" name="Text 23"/>
          <p:cNvSpPr/>
          <p:nvPr/>
        </p:nvSpPr>
        <p:spPr>
          <a:xfrm>
            <a:off x="9415463" y="7310755"/>
            <a:ext cx="83055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Compresses multi-week processes; surfaces next-best action</a:t>
            </a:r>
            <a:endParaRPr lang="en-US" sz="1800" dirty="0"/>
          </a:p>
        </p:txBody>
      </p:sp>
      <p:sp>
        <p:nvSpPr>
          <p:cNvPr id="26" name="Text 24"/>
          <p:cNvSpPr/>
          <p:nvPr/>
        </p:nvSpPr>
        <p:spPr>
          <a:xfrm>
            <a:off x="9415463" y="8282305"/>
            <a:ext cx="8305514"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b="1" dirty="0">
                <a:solidFill>
                  <a:srgbClr val="00557E"/>
                </a:solidFill>
                <a:latin typeface="Arial" pitchFamily="34" charset="0"/>
                <a:ea typeface="Arial" pitchFamily="34" charset="-122"/>
                <a:cs typeface="Arial" pitchFamily="34" charset="-120"/>
              </a:rPr>
              <a:t>· Predictive client risk alerts</a:t>
            </a:r>
            <a:endParaRPr lang="en-US" sz="1950" dirty="0"/>
          </a:p>
        </p:txBody>
      </p:sp>
      <p:sp>
        <p:nvSpPr>
          <p:cNvPr id="27" name="Text 25"/>
          <p:cNvSpPr/>
          <p:nvPr/>
        </p:nvSpPr>
        <p:spPr>
          <a:xfrm>
            <a:off x="9415463" y="8882380"/>
            <a:ext cx="83055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D505D"/>
                </a:solidFill>
                <a:latin typeface="Arial" pitchFamily="34" charset="0"/>
                <a:ea typeface="Arial" pitchFamily="34" charset="-122"/>
                <a:cs typeface="Arial" pitchFamily="34" charset="-120"/>
              </a:rPr>
              <a:t>Forward-looking signals before risk crystallises</a:t>
            </a:r>
            <a:endParaRPr lang="en-US" sz="1800" dirty="0"/>
          </a:p>
        </p:txBody>
      </p:sp>
      <p:sp>
        <p:nvSpPr>
          <p:cNvPr id="28" name="Shape 26"/>
          <p:cNvSpPr/>
          <p:nvPr/>
        </p:nvSpPr>
        <p:spPr>
          <a:xfrm>
            <a:off x="9148763" y="9682480"/>
            <a:ext cx="8083868" cy="1417320"/>
          </a:xfrm>
          <a:prstGeom prst="rect">
            <a:avLst/>
          </a:prstGeom>
          <a:solidFill>
            <a:srgbClr val="EAF5F0"/>
          </a:solidFill>
          <a:ln/>
        </p:spPr>
      </p:sp>
      <p:sp>
        <p:nvSpPr>
          <p:cNvPr id="29" name="Shape 27"/>
          <p:cNvSpPr/>
          <p:nvPr/>
        </p:nvSpPr>
        <p:spPr>
          <a:xfrm>
            <a:off x="9148763" y="9682480"/>
            <a:ext cx="8083868" cy="9525"/>
          </a:xfrm>
          <a:prstGeom prst="rect">
            <a:avLst/>
          </a:prstGeom>
          <a:solidFill>
            <a:srgbClr val="B8E8D0"/>
          </a:solidFill>
          <a:ln/>
        </p:spPr>
      </p:sp>
      <p:sp>
        <p:nvSpPr>
          <p:cNvPr id="30" name="Text 28"/>
          <p:cNvSpPr/>
          <p:nvPr/>
        </p:nvSpPr>
        <p:spPr>
          <a:xfrm>
            <a:off x="9415463" y="10052050"/>
            <a:ext cx="7776982"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00557E"/>
                </a:solidFill>
                <a:latin typeface="Arial" pitchFamily="34" charset="0"/>
                <a:ea typeface="Arial" pitchFamily="34" charset="-122"/>
                <a:cs typeface="Arial" pitchFamily="34" charset="-120"/>
              </a:rPr>
              <a:t>Engage now → shape the roadmap. Wait → evaluate a finished product without influence over it.</a:t>
            </a:r>
            <a:endParaRPr lang="en-US" sz="1800" dirty="0"/>
          </a:p>
        </p:txBody>
      </p:sp>
      <p:pic>
        <p:nvPicPr>
          <p:cNvPr id="31"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10 · NEXT STEP</a:t>
            </a:r>
            <a:endParaRPr lang="en-US" sz="1800" dirty="0"/>
          </a:p>
        </p:txBody>
      </p:sp>
      <p:sp>
        <p:nvSpPr>
          <p:cNvPr id="3" name="Text 1"/>
          <p:cNvSpPr/>
          <p:nvPr/>
        </p:nvSpPr>
        <p:spPr>
          <a:xfrm>
            <a:off x="1047750" y="192532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00557E"/>
                </a:solidFill>
                <a:latin typeface="Arial" pitchFamily="34" charset="0"/>
                <a:ea typeface="Arial" pitchFamily="34" charset="-122"/>
                <a:cs typeface="Arial" pitchFamily="34" charset="-120"/>
              </a:rPr>
              <a:t>What a Pilot Engagement Looks Like</a:t>
            </a:r>
            <a:endParaRPr lang="en-US" sz="4350" dirty="0"/>
          </a:p>
        </p:txBody>
      </p:sp>
      <p:sp>
        <p:nvSpPr>
          <p:cNvPr id="4" name="Shape 2"/>
          <p:cNvSpPr/>
          <p:nvPr/>
        </p:nvSpPr>
        <p:spPr>
          <a:xfrm>
            <a:off x="1047750" y="2933065"/>
            <a:ext cx="7943850" cy="4180205"/>
          </a:xfrm>
          <a:prstGeom prst="roundRect">
            <a:avLst>
              <a:gd name="adj" fmla="val 1823"/>
            </a:avLst>
          </a:prstGeom>
          <a:solidFill>
            <a:srgbClr val="EAF5F0"/>
          </a:solidFill>
          <a:ln w="7620">
            <a:solidFill>
              <a:srgbClr val="60C094"/>
            </a:solidFill>
            <a:prstDash val="solid"/>
          </a:ln>
        </p:spPr>
      </p:sp>
      <p:sp>
        <p:nvSpPr>
          <p:cNvPr id="5" name="Text 3"/>
          <p:cNvSpPr/>
          <p:nvPr/>
        </p:nvSpPr>
        <p:spPr>
          <a:xfrm>
            <a:off x="1341120" y="3455035"/>
            <a:ext cx="809282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00557E"/>
                </a:solidFill>
                <a:latin typeface="Arial" pitchFamily="34" charset="0"/>
                <a:ea typeface="Arial" pitchFamily="34" charset="-122"/>
                <a:cs typeface="Arial" pitchFamily="34" charset="-120"/>
              </a:rPr>
              <a:t>TRACK A PILOT</a:t>
            </a:r>
            <a:endParaRPr lang="en-US" sz="1800" dirty="0"/>
          </a:p>
        </p:txBody>
      </p:sp>
      <p:sp>
        <p:nvSpPr>
          <p:cNvPr id="6" name="Text 4"/>
          <p:cNvSpPr/>
          <p:nvPr/>
        </p:nvSpPr>
        <p:spPr>
          <a:xfrm>
            <a:off x="1341120" y="4540885"/>
            <a:ext cx="7577824" cy="952500"/>
          </a:xfrm>
          <a:prstGeom prst="rect">
            <a:avLst/>
          </a:prstGeom>
          <a:noFill/>
          <a:ln/>
        </p:spPr>
        <p:txBody>
          <a:bodyPr wrap="square" lIns="25400" tIns="25400" rIns="25400" bIns="25400" rtlCol="0" anchor="t">
            <a:normAutofit/>
          </a:bodyPr>
          <a:lstStyle/>
          <a:p>
            <a:pPr algn="l" indent="0" marL="0">
              <a:lnSpc>
                <a:spcPct val="120000"/>
              </a:lnSpc>
              <a:buNone/>
            </a:pPr>
            <a:r>
              <a:rPr lang="en-US" sz="3000" b="1" dirty="0">
                <a:solidFill>
                  <a:srgbClr val="00557E"/>
                </a:solidFill>
                <a:latin typeface="Arial" pitchFamily="34" charset="0"/>
                <a:ea typeface="Arial" pitchFamily="34" charset="-122"/>
                <a:cs typeface="Arial" pitchFamily="34" charset="-120"/>
              </a:rPr>
              <a:t>Portfolio IQ + Full Governance Layer</a:t>
            </a:r>
            <a:endParaRPr lang="en-US" sz="3000" dirty="0"/>
          </a:p>
        </p:txBody>
      </p:sp>
      <p:sp>
        <p:nvSpPr>
          <p:cNvPr id="7" name="Text 5"/>
          <p:cNvSpPr/>
          <p:nvPr/>
        </p:nvSpPr>
        <p:spPr>
          <a:xfrm>
            <a:off x="1341120" y="6350635"/>
            <a:ext cx="7577824" cy="115252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LLM-generated portfolio summaries + CIO view with full audit trail. Compliance documentation produced as a byproduct, not assembled afterward.</a:t>
            </a:r>
            <a:endParaRPr lang="en-US" sz="1950" dirty="0"/>
          </a:p>
        </p:txBody>
      </p:sp>
      <p:sp>
        <p:nvSpPr>
          <p:cNvPr id="8" name="Shape 6"/>
          <p:cNvSpPr/>
          <p:nvPr/>
        </p:nvSpPr>
        <p:spPr>
          <a:xfrm>
            <a:off x="1341120" y="7846060"/>
            <a:ext cx="7357110" cy="990600"/>
          </a:xfrm>
          <a:prstGeom prst="roundRect">
            <a:avLst>
              <a:gd name="adj" fmla="val 5769"/>
            </a:avLst>
          </a:prstGeom>
          <a:solidFill>
            <a:srgbClr val="00557E"/>
          </a:solidFill>
          <a:ln/>
        </p:spPr>
      </p:sp>
      <p:sp>
        <p:nvSpPr>
          <p:cNvPr id="9" name="Text 7"/>
          <p:cNvSpPr/>
          <p:nvPr/>
        </p:nvSpPr>
        <p:spPr>
          <a:xfrm>
            <a:off x="1140905" y="8169910"/>
            <a:ext cx="7757541" cy="381000"/>
          </a:xfrm>
          <a:prstGeom prst="rect">
            <a:avLst/>
          </a:prstGeom>
          <a:noFill/>
          <a:ln/>
        </p:spPr>
        <p:txBody>
          <a:bodyPr wrap="square" lIns="25400" tIns="25400" rIns="25400" bIns="25400" rtlCol="0" anchor="t">
            <a:normAutofit/>
          </a:bodyPr>
          <a:lstStyle/>
          <a:p>
            <a:pPr algn="ctr" indent="0" marL="0">
              <a:lnSpc>
                <a:spcPct val="150000"/>
              </a:lnSpc>
              <a:buNone/>
            </a:pPr>
            <a:r>
              <a:rPr lang="en-US" sz="1800" b="1" dirty="0">
                <a:solidFill>
                  <a:srgbClr val="FFFFFF"/>
                </a:solidFill>
                <a:latin typeface="Arial" pitchFamily="34" charset="0"/>
                <a:ea typeface="Arial" pitchFamily="34" charset="-122"/>
                <a:cs typeface="Arial" pitchFamily="34" charset="-120"/>
              </a:rPr>
              <a:t>90-day deployment</a:t>
            </a:r>
            <a:endParaRPr lang="en-US" sz="1800" dirty="0"/>
          </a:p>
        </p:txBody>
      </p:sp>
      <p:sp>
        <p:nvSpPr>
          <p:cNvPr id="10" name="Shape 8"/>
          <p:cNvSpPr/>
          <p:nvPr/>
        </p:nvSpPr>
        <p:spPr>
          <a:xfrm>
            <a:off x="9296400" y="2933065"/>
            <a:ext cx="7943850" cy="4180205"/>
          </a:xfrm>
          <a:prstGeom prst="roundRect">
            <a:avLst>
              <a:gd name="adj" fmla="val 1823"/>
            </a:avLst>
          </a:prstGeom>
          <a:solidFill>
            <a:srgbClr val="F4F5F7"/>
          </a:solidFill>
          <a:ln w="7620">
            <a:solidFill>
              <a:srgbClr val="E0E0E0"/>
            </a:solidFill>
            <a:prstDash val="solid"/>
          </a:ln>
        </p:spPr>
      </p:sp>
      <p:sp>
        <p:nvSpPr>
          <p:cNvPr id="11" name="Text 9"/>
          <p:cNvSpPr/>
          <p:nvPr/>
        </p:nvSpPr>
        <p:spPr>
          <a:xfrm>
            <a:off x="9589770" y="3455035"/>
            <a:ext cx="809282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3D505D"/>
                </a:solidFill>
                <a:latin typeface="Arial" pitchFamily="34" charset="0"/>
                <a:ea typeface="Arial" pitchFamily="34" charset="-122"/>
                <a:cs typeface="Arial" pitchFamily="34" charset="-120"/>
              </a:rPr>
              <a:t>TRACK B PILOT</a:t>
            </a:r>
            <a:endParaRPr lang="en-US" sz="1800" dirty="0"/>
          </a:p>
        </p:txBody>
      </p:sp>
      <p:sp>
        <p:nvSpPr>
          <p:cNvPr id="12" name="Text 10"/>
          <p:cNvSpPr/>
          <p:nvPr/>
        </p:nvSpPr>
        <p:spPr>
          <a:xfrm>
            <a:off x="9589770" y="4540885"/>
            <a:ext cx="7577824" cy="952500"/>
          </a:xfrm>
          <a:prstGeom prst="rect">
            <a:avLst/>
          </a:prstGeom>
          <a:noFill/>
          <a:ln/>
        </p:spPr>
        <p:txBody>
          <a:bodyPr wrap="square" lIns="25400" tIns="25400" rIns="25400" bIns="25400" rtlCol="0" anchor="t">
            <a:normAutofit/>
          </a:bodyPr>
          <a:lstStyle/>
          <a:p>
            <a:pPr algn="l" indent="0" marL="0">
              <a:lnSpc>
                <a:spcPct val="120000"/>
              </a:lnSpc>
              <a:buNone/>
            </a:pPr>
            <a:r>
              <a:rPr lang="en-US" sz="3000" b="1" dirty="0">
                <a:solidFill>
                  <a:srgbClr val="3D505D"/>
                </a:solidFill>
                <a:latin typeface="Arial" pitchFamily="34" charset="0"/>
                <a:ea typeface="Arial" pitchFamily="34" charset="-122"/>
                <a:cs typeface="Arial" pitchFamily="34" charset="-120"/>
              </a:rPr>
              <a:t>One Custom Wealth Manager Tool</a:t>
            </a:r>
            <a:endParaRPr lang="en-US" sz="3000" dirty="0"/>
          </a:p>
        </p:txBody>
      </p:sp>
      <p:sp>
        <p:nvSpPr>
          <p:cNvPr id="13" name="Text 11"/>
          <p:cNvSpPr/>
          <p:nvPr/>
        </p:nvSpPr>
        <p:spPr>
          <a:xfrm>
            <a:off x="9589770" y="6350635"/>
            <a:ext cx="7577824"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333333"/>
                </a:solidFill>
                <a:latin typeface="Arial" pitchFamily="34" charset="0"/>
                <a:ea typeface="Arial" pitchFamily="34" charset="-122"/>
                <a:cs typeface="Arial" pitchFamily="34" charset="-120"/>
              </a:rPr>
              <a:t>Scoped to a single high-value workflow your team owns. Built in the independent AI platform — prototype delivered in 90 days.</a:t>
            </a:r>
            <a:endParaRPr lang="en-US" sz="1950" dirty="0"/>
          </a:p>
        </p:txBody>
      </p:sp>
      <p:sp>
        <p:nvSpPr>
          <p:cNvPr id="14" name="Shape 12"/>
          <p:cNvSpPr/>
          <p:nvPr/>
        </p:nvSpPr>
        <p:spPr>
          <a:xfrm>
            <a:off x="9589770" y="7474585"/>
            <a:ext cx="7357110" cy="990600"/>
          </a:xfrm>
          <a:prstGeom prst="roundRect">
            <a:avLst>
              <a:gd name="adj" fmla="val 5769"/>
            </a:avLst>
          </a:prstGeom>
          <a:solidFill>
            <a:srgbClr val="3D505D"/>
          </a:solidFill>
          <a:ln/>
        </p:spPr>
      </p:sp>
      <p:sp>
        <p:nvSpPr>
          <p:cNvPr id="15" name="Text 13"/>
          <p:cNvSpPr/>
          <p:nvPr/>
        </p:nvSpPr>
        <p:spPr>
          <a:xfrm>
            <a:off x="9389554" y="7798435"/>
            <a:ext cx="7757541" cy="381000"/>
          </a:xfrm>
          <a:prstGeom prst="rect">
            <a:avLst/>
          </a:prstGeom>
          <a:noFill/>
          <a:ln/>
        </p:spPr>
        <p:txBody>
          <a:bodyPr wrap="square" lIns="25400" tIns="25400" rIns="25400" bIns="25400" rtlCol="0" anchor="t">
            <a:normAutofit/>
          </a:bodyPr>
          <a:lstStyle/>
          <a:p>
            <a:pPr algn="ctr" indent="0" marL="0">
              <a:lnSpc>
                <a:spcPct val="150000"/>
              </a:lnSpc>
              <a:buNone/>
            </a:pPr>
            <a:r>
              <a:rPr lang="en-US" sz="1800" b="1" dirty="0">
                <a:solidFill>
                  <a:srgbClr val="FFFFFF"/>
                </a:solidFill>
                <a:latin typeface="Arial" pitchFamily="34" charset="0"/>
                <a:ea typeface="Arial" pitchFamily="34" charset="-122"/>
                <a:cs typeface="Arial" pitchFamily="34" charset="-120"/>
              </a:rPr>
              <a:t>90-day prototype</a:t>
            </a:r>
            <a:endParaRPr lang="en-US" sz="1800" dirty="0"/>
          </a:p>
        </p:txBody>
      </p:sp>
      <p:sp>
        <p:nvSpPr>
          <p:cNvPr id="16" name="Shape 14"/>
          <p:cNvSpPr/>
          <p:nvPr/>
        </p:nvSpPr>
        <p:spPr>
          <a:xfrm>
            <a:off x="1047750" y="7322820"/>
            <a:ext cx="5199380" cy="2240280"/>
          </a:xfrm>
          <a:prstGeom prst="roundRect">
            <a:avLst>
              <a:gd name="adj" fmla="val 3401"/>
            </a:avLst>
          </a:prstGeom>
          <a:solidFill>
            <a:srgbClr val="F4F5F7"/>
          </a:solidFill>
          <a:ln w="7620">
            <a:solidFill>
              <a:srgbClr val="E0E0E0"/>
            </a:solidFill>
            <a:prstDash val="solid"/>
          </a:ln>
        </p:spPr>
      </p:sp>
      <p:sp>
        <p:nvSpPr>
          <p:cNvPr id="17" name="Text 15"/>
          <p:cNvSpPr/>
          <p:nvPr/>
        </p:nvSpPr>
        <p:spPr>
          <a:xfrm>
            <a:off x="1322070" y="7768590"/>
            <a:ext cx="51158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00557E"/>
                </a:solidFill>
                <a:latin typeface="Arial" pitchFamily="34" charset="0"/>
                <a:ea typeface="Arial" pitchFamily="34" charset="-122"/>
                <a:cs typeface="Arial" pitchFamily="34" charset="-120"/>
              </a:rPr>
              <a:t>PRIVÉ PROVIDES</a:t>
            </a:r>
            <a:endParaRPr lang="en-US" sz="1800" dirty="0"/>
          </a:p>
        </p:txBody>
      </p:sp>
      <p:sp>
        <p:nvSpPr>
          <p:cNvPr id="18" name="Text 16"/>
          <p:cNvSpPr/>
          <p:nvPr/>
        </p:nvSpPr>
        <p:spPr>
          <a:xfrm>
            <a:off x="1322070" y="8340090"/>
            <a:ext cx="4790262" cy="81534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333333"/>
                </a:solidFill>
                <a:latin typeface="Arial" pitchFamily="34" charset="0"/>
                <a:ea typeface="Arial" pitchFamily="34" charset="-122"/>
                <a:cs typeface="Arial" pitchFamily="34" charset="-120"/>
              </a:rPr>
              <a:t>Platform access · Implementation support · Governance layer · Audit trail</a:t>
            </a:r>
            <a:endParaRPr lang="en-US" sz="1800" dirty="0"/>
          </a:p>
        </p:txBody>
      </p:sp>
      <p:sp>
        <p:nvSpPr>
          <p:cNvPr id="19" name="Shape 17"/>
          <p:cNvSpPr/>
          <p:nvPr/>
        </p:nvSpPr>
        <p:spPr>
          <a:xfrm>
            <a:off x="6551930" y="7322820"/>
            <a:ext cx="5199380" cy="2240280"/>
          </a:xfrm>
          <a:prstGeom prst="roundRect">
            <a:avLst>
              <a:gd name="adj" fmla="val 3401"/>
            </a:avLst>
          </a:prstGeom>
          <a:solidFill>
            <a:srgbClr val="F4F5F7"/>
          </a:solidFill>
          <a:ln w="7620">
            <a:solidFill>
              <a:srgbClr val="E0E0E0"/>
            </a:solidFill>
            <a:prstDash val="solid"/>
          </a:ln>
        </p:spPr>
      </p:sp>
      <p:sp>
        <p:nvSpPr>
          <p:cNvPr id="20" name="Text 18"/>
          <p:cNvSpPr/>
          <p:nvPr/>
        </p:nvSpPr>
        <p:spPr>
          <a:xfrm>
            <a:off x="6826250" y="7768590"/>
            <a:ext cx="51158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00557E"/>
                </a:solidFill>
                <a:latin typeface="Arial" pitchFamily="34" charset="0"/>
                <a:ea typeface="Arial" pitchFamily="34" charset="-122"/>
                <a:cs typeface="Arial" pitchFamily="34" charset="-120"/>
              </a:rPr>
              <a:t>CLIENT CONTRIBUTES</a:t>
            </a:r>
            <a:endParaRPr lang="en-US" sz="1800" dirty="0"/>
          </a:p>
        </p:txBody>
      </p:sp>
      <p:sp>
        <p:nvSpPr>
          <p:cNvPr id="21" name="Text 19"/>
          <p:cNvSpPr/>
          <p:nvPr/>
        </p:nvSpPr>
        <p:spPr>
          <a:xfrm>
            <a:off x="6826250" y="8340090"/>
            <a:ext cx="4790262" cy="81534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333333"/>
                </a:solidFill>
                <a:latin typeface="Arial" pitchFamily="34" charset="0"/>
                <a:ea typeface="Arial" pitchFamily="34" charset="-122"/>
                <a:cs typeface="Arial" pitchFamily="34" charset="-120"/>
              </a:rPr>
              <a:t>One use case · Internal champion / sponsor · Access to test data</a:t>
            </a:r>
            <a:endParaRPr lang="en-US" sz="1800" dirty="0"/>
          </a:p>
        </p:txBody>
      </p:sp>
      <p:sp>
        <p:nvSpPr>
          <p:cNvPr id="22" name="Shape 20"/>
          <p:cNvSpPr/>
          <p:nvPr/>
        </p:nvSpPr>
        <p:spPr>
          <a:xfrm>
            <a:off x="12056111" y="7322820"/>
            <a:ext cx="5184140" cy="2240280"/>
          </a:xfrm>
          <a:prstGeom prst="roundRect">
            <a:avLst>
              <a:gd name="adj" fmla="val 3401"/>
            </a:avLst>
          </a:prstGeom>
          <a:solidFill>
            <a:srgbClr val="1A2535"/>
          </a:solidFill>
          <a:ln/>
        </p:spPr>
      </p:sp>
      <p:sp>
        <p:nvSpPr>
          <p:cNvPr id="23" name="Text 21"/>
          <p:cNvSpPr/>
          <p:nvPr/>
        </p:nvSpPr>
        <p:spPr>
          <a:xfrm>
            <a:off x="12322811" y="7760970"/>
            <a:ext cx="5115814"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44" kern="0" dirty="0">
                <a:solidFill>
                  <a:srgbClr val="60C094"/>
                </a:solidFill>
                <a:latin typeface="Arial" pitchFamily="34" charset="0"/>
                <a:ea typeface="Arial" pitchFamily="34" charset="-122"/>
                <a:cs typeface="Arial" pitchFamily="34" charset="-120"/>
              </a:rPr>
              <a:t>SUCCESS AT 90 DAYS</a:t>
            </a:r>
            <a:endParaRPr lang="en-US" sz="1800" dirty="0"/>
          </a:p>
        </p:txBody>
      </p:sp>
      <p:sp>
        <p:nvSpPr>
          <p:cNvPr id="24" name="Text 22"/>
          <p:cNvSpPr/>
          <p:nvPr/>
        </p:nvSpPr>
        <p:spPr>
          <a:xfrm>
            <a:off x="12322811" y="8332470"/>
            <a:ext cx="4790262" cy="815340"/>
          </a:xfrm>
          <a:prstGeom prst="rect">
            <a:avLst/>
          </a:prstGeom>
          <a:noFill/>
          <a:ln/>
        </p:spPr>
        <p:txBody>
          <a:bodyPr wrap="square" lIns="25400" tIns="25400" rIns="25400" bIns="25400" rtlCol="0" anchor="t">
            <a:normAutofit/>
          </a:bodyPr>
          <a:lstStyle/>
          <a:p>
            <a:pPr algn="l" indent="0" marL="0">
              <a:lnSpc>
                <a:spcPct val="170000"/>
              </a:lnSpc>
              <a:buNone/>
            </a:pPr>
            <a:r>
              <a:rPr lang="en-US" sz="1800" dirty="0">
                <a:solidFill>
                  <a:srgbClr val="FFFFFF">
                    <a:alpha val="80000"/>
                  </a:srgbClr>
                </a:solidFill>
                <a:latin typeface="Arial" pitchFamily="34" charset="0"/>
                <a:ea typeface="Arial" pitchFamily="34" charset="-122"/>
                <a:cs typeface="Arial" pitchFamily="34" charset="-120"/>
              </a:rPr>
              <a:t>Working prototype · Audit trail demonstrated · Compliance docs produced · Override tested</a:t>
            </a:r>
            <a:endParaRPr lang="en-US" sz="1800" dirty="0"/>
          </a:p>
        </p:txBody>
      </p:sp>
      <p:pic>
        <p:nvPicPr>
          <p:cNvPr id="25" name="Image 0" descr="preencoded.png">    </p:cNvPr>
          <p:cNvPicPr>
            <a:picLocks noChangeAspect="1"/>
          </p:cNvPicPr>
          <p:nvPr/>
        </p:nvPicPr>
        <p:blipFill>
          <a:blip r:embed="rId1"/>
          <a:stretch>
            <a:fillRect/>
          </a:stretch>
        </p:blipFill>
        <p:spPr>
          <a:xfrm>
            <a:off x="16760190" y="9620250"/>
            <a:ext cx="480060" cy="2667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2535"/>
        </a:solidFill>
      </p:bgPr>
    </p:bg>
    <p:spTree>
      <p:nvGrpSpPr>
        <p:cNvPr id="1" name=""/>
        <p:cNvGrpSpPr/>
        <p:nvPr/>
      </p:nvGrpSpPr>
      <p:grpSpPr>
        <a:xfrm>
          <a:off x="0" y="0"/>
          <a:ext cx="0" cy="0"/>
          <a:chOff x="0" y="0"/>
          <a:chExt cx="0" cy="0"/>
        </a:xfrm>
      </p:grpSpPr>
      <p:sp>
        <p:nvSpPr>
          <p:cNvPr id="2" name="Text 0"/>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SECTION 10 · NEXT STEP</a:t>
            </a:r>
            <a:endParaRPr lang="en-US" sz="1800" dirty="0"/>
          </a:p>
        </p:txBody>
      </p:sp>
      <p:sp>
        <p:nvSpPr>
          <p:cNvPr id="3" name="Text 1"/>
          <p:cNvSpPr/>
          <p:nvPr/>
        </p:nvSpPr>
        <p:spPr>
          <a:xfrm>
            <a:off x="1047750" y="1944370"/>
            <a:ext cx="17811750" cy="645795"/>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FFFFFF"/>
                </a:solidFill>
                <a:latin typeface="Arial" pitchFamily="34" charset="0"/>
                <a:ea typeface="Arial" pitchFamily="34" charset="-122"/>
                <a:cs typeface="Arial" pitchFamily="34" charset="-120"/>
              </a:rPr>
              <a:t>Pilot Scope and Decisions</a:t>
            </a:r>
            <a:endParaRPr lang="en-US" sz="4350" dirty="0"/>
          </a:p>
        </p:txBody>
      </p:sp>
      <p:sp>
        <p:nvSpPr>
          <p:cNvPr id="4" name="Shape 2"/>
          <p:cNvSpPr/>
          <p:nvPr/>
        </p:nvSpPr>
        <p:spPr>
          <a:xfrm>
            <a:off x="1047750" y="2952115"/>
            <a:ext cx="7545864" cy="4349115"/>
          </a:xfrm>
          <a:prstGeom prst="roundRect">
            <a:avLst>
              <a:gd name="adj" fmla="val 1752"/>
            </a:avLst>
          </a:prstGeom>
          <a:solidFill>
            <a:srgbClr val="60C094">
              <a:alpha val="13000"/>
            </a:srgbClr>
          </a:solidFill>
          <a:ln w="7620">
            <a:solidFill>
              <a:srgbClr val="60C094">
                <a:alpha val="45000"/>
              </a:srgbClr>
            </a:solidFill>
            <a:prstDash val="solid"/>
          </a:ln>
        </p:spPr>
      </p:sp>
      <p:sp>
        <p:nvSpPr>
          <p:cNvPr id="5" name="Text 3"/>
          <p:cNvSpPr/>
          <p:nvPr/>
        </p:nvSpPr>
        <p:spPr>
          <a:xfrm>
            <a:off x="1360170" y="3455035"/>
            <a:ext cx="761312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60C094"/>
                </a:solidFill>
                <a:latin typeface="Arial" pitchFamily="34" charset="0"/>
                <a:ea typeface="Arial" pitchFamily="34" charset="-122"/>
                <a:cs typeface="Arial" pitchFamily="34" charset="-120"/>
              </a:rPr>
              <a:t>TRACK A</a:t>
            </a:r>
            <a:endParaRPr lang="en-US" sz="1800" dirty="0"/>
          </a:p>
        </p:txBody>
      </p:sp>
      <p:sp>
        <p:nvSpPr>
          <p:cNvPr id="6" name="Text 4"/>
          <p:cNvSpPr/>
          <p:nvPr/>
        </p:nvSpPr>
        <p:spPr>
          <a:xfrm>
            <a:off x="1360170" y="4521835"/>
            <a:ext cx="7613126" cy="609600"/>
          </a:xfrm>
          <a:prstGeom prst="rect">
            <a:avLst/>
          </a:prstGeom>
          <a:noFill/>
          <a:ln/>
        </p:spPr>
        <p:txBody>
          <a:bodyPr wrap="square" lIns="25400" tIns="25400" rIns="25400" bIns="25400" rtlCol="0" anchor="t">
            <a:normAutofit/>
          </a:bodyPr>
          <a:lstStyle/>
          <a:p>
            <a:pPr algn="l" indent="0" marL="0">
              <a:lnSpc>
                <a:spcPct val="150000"/>
              </a:lnSpc>
              <a:buNone/>
            </a:pPr>
            <a:r>
              <a:rPr lang="en-US" sz="3000" b="1" dirty="0">
                <a:solidFill>
                  <a:srgbClr val="FFFFFF"/>
                </a:solidFill>
                <a:latin typeface="Arial" pitchFamily="34" charset="0"/>
                <a:ea typeface="Arial" pitchFamily="34" charset="-122"/>
                <a:cs typeface="Arial" pitchFamily="34" charset="-120"/>
              </a:rPr>
              <a:t>Portfolio IQ + Governance Layer</a:t>
            </a:r>
            <a:endParaRPr lang="en-US" sz="3000" dirty="0"/>
          </a:p>
        </p:txBody>
      </p:sp>
      <p:sp>
        <p:nvSpPr>
          <p:cNvPr id="7" name="Text 5"/>
          <p:cNvSpPr/>
          <p:nvPr/>
        </p:nvSpPr>
        <p:spPr>
          <a:xfrm>
            <a:off x="1360170" y="5836285"/>
            <a:ext cx="761312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65000"/>
                  </a:srgbClr>
                </a:solidFill>
                <a:latin typeface="Arial" pitchFamily="34" charset="0"/>
                <a:ea typeface="Arial" pitchFamily="34" charset="-122"/>
                <a:cs typeface="Arial" pitchFamily="34" charset="-120"/>
              </a:rPr>
              <a:t>90-day deployment · Audit trail included · Compliance docs out</a:t>
            </a:r>
            <a:endParaRPr lang="en-US" sz="1950" dirty="0"/>
          </a:p>
        </p:txBody>
      </p:sp>
      <p:sp>
        <p:nvSpPr>
          <p:cNvPr id="8" name="Text 6"/>
          <p:cNvSpPr/>
          <p:nvPr/>
        </p:nvSpPr>
        <p:spPr>
          <a:xfrm>
            <a:off x="8974614" y="2952115"/>
            <a:ext cx="414973" cy="4387215"/>
          </a:xfrm>
          <a:prstGeom prst="rect">
            <a:avLst/>
          </a:prstGeom>
          <a:noFill/>
          <a:ln/>
        </p:spPr>
        <p:txBody>
          <a:bodyPr wrap="square" lIns="25400" tIns="25400" rIns="25400" bIns="25400" rtlCol="0" anchor="ctr">
            <a:normAutofit/>
          </a:bodyPr>
          <a:lstStyle/>
          <a:p>
            <a:pPr algn="l" indent="0" marL="0">
              <a:lnSpc>
                <a:spcPct val="150000"/>
              </a:lnSpc>
              <a:buNone/>
            </a:pPr>
            <a:r>
              <a:rPr lang="en-US" sz="3000" dirty="0">
                <a:solidFill>
                  <a:srgbClr val="FFFFFF">
                    <a:alpha val="30000"/>
                  </a:srgbClr>
                </a:solidFill>
                <a:latin typeface="Arial" pitchFamily="34" charset="0"/>
                <a:ea typeface="Arial" pitchFamily="34" charset="-122"/>
                <a:cs typeface="Arial" pitchFamily="34" charset="-120"/>
              </a:rPr>
              <a:t>or</a:t>
            </a:r>
            <a:endParaRPr lang="en-US" sz="3000" dirty="0"/>
          </a:p>
        </p:txBody>
      </p:sp>
      <p:sp>
        <p:nvSpPr>
          <p:cNvPr id="9" name="Shape 7"/>
          <p:cNvSpPr/>
          <p:nvPr/>
        </p:nvSpPr>
        <p:spPr>
          <a:xfrm>
            <a:off x="9694386" y="2952115"/>
            <a:ext cx="7545864" cy="4349115"/>
          </a:xfrm>
          <a:prstGeom prst="roundRect">
            <a:avLst>
              <a:gd name="adj" fmla="val 1752"/>
            </a:avLst>
          </a:prstGeom>
          <a:solidFill>
            <a:srgbClr val="FFFFFF">
              <a:alpha val="6000"/>
            </a:srgbClr>
          </a:solidFill>
          <a:ln w="7620">
            <a:solidFill>
              <a:srgbClr val="FFFFFF">
                <a:alpha val="14000"/>
              </a:srgbClr>
            </a:solidFill>
            <a:prstDash val="solid"/>
          </a:ln>
        </p:spPr>
      </p:sp>
      <p:sp>
        <p:nvSpPr>
          <p:cNvPr id="10" name="Text 8"/>
          <p:cNvSpPr/>
          <p:nvPr/>
        </p:nvSpPr>
        <p:spPr>
          <a:xfrm>
            <a:off x="10006807" y="3455035"/>
            <a:ext cx="761312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FFFFFF">
                    <a:alpha val="50000"/>
                  </a:srgbClr>
                </a:solidFill>
                <a:latin typeface="Arial" pitchFamily="34" charset="0"/>
                <a:ea typeface="Arial" pitchFamily="34" charset="-122"/>
                <a:cs typeface="Arial" pitchFamily="34" charset="-120"/>
              </a:rPr>
              <a:t>TRACK B</a:t>
            </a:r>
            <a:endParaRPr lang="en-US" sz="1800" dirty="0"/>
          </a:p>
        </p:txBody>
      </p:sp>
      <p:sp>
        <p:nvSpPr>
          <p:cNvPr id="11" name="Text 9"/>
          <p:cNvSpPr/>
          <p:nvPr/>
        </p:nvSpPr>
        <p:spPr>
          <a:xfrm>
            <a:off x="10006807" y="4521835"/>
            <a:ext cx="7128655" cy="1181100"/>
          </a:xfrm>
          <a:prstGeom prst="rect">
            <a:avLst/>
          </a:prstGeom>
          <a:noFill/>
          <a:ln/>
        </p:spPr>
        <p:txBody>
          <a:bodyPr wrap="square" lIns="25400" tIns="25400" rIns="25400" bIns="25400" rtlCol="0" anchor="t">
            <a:normAutofit/>
          </a:bodyPr>
          <a:lstStyle/>
          <a:p>
            <a:pPr algn="l" indent="0" marL="0">
              <a:lnSpc>
                <a:spcPct val="150000"/>
              </a:lnSpc>
              <a:buNone/>
            </a:pPr>
            <a:r>
              <a:rPr lang="en-US" sz="3000" b="1" dirty="0">
                <a:solidFill>
                  <a:srgbClr val="FFFFFF"/>
                </a:solidFill>
                <a:latin typeface="Arial" pitchFamily="34" charset="0"/>
                <a:ea typeface="Arial" pitchFamily="34" charset="-122"/>
                <a:cs typeface="Arial" pitchFamily="34" charset="-120"/>
              </a:rPr>
              <a:t>Custom wealth manager tool — your use case</a:t>
            </a:r>
            <a:endParaRPr lang="en-US" sz="3000" dirty="0"/>
          </a:p>
        </p:txBody>
      </p:sp>
      <p:sp>
        <p:nvSpPr>
          <p:cNvPr id="12" name="Text 10"/>
          <p:cNvSpPr/>
          <p:nvPr/>
        </p:nvSpPr>
        <p:spPr>
          <a:xfrm>
            <a:off x="10006807" y="6407785"/>
            <a:ext cx="7613126"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65000"/>
                  </a:srgbClr>
                </a:solidFill>
                <a:latin typeface="Arial" pitchFamily="34" charset="0"/>
                <a:ea typeface="Arial" pitchFamily="34" charset="-122"/>
                <a:cs typeface="Arial" pitchFamily="34" charset="-120"/>
              </a:rPr>
              <a:t>90-day prototype · Built in the independent AI platform</a:t>
            </a:r>
            <a:endParaRPr lang="en-US" sz="1950" dirty="0"/>
          </a:p>
        </p:txBody>
      </p:sp>
      <p:sp>
        <p:nvSpPr>
          <p:cNvPr id="13" name="Shape 11"/>
          <p:cNvSpPr/>
          <p:nvPr/>
        </p:nvSpPr>
        <p:spPr>
          <a:xfrm>
            <a:off x="1047750" y="7567930"/>
            <a:ext cx="16192500" cy="617855"/>
          </a:xfrm>
          <a:prstGeom prst="roundRect">
            <a:avLst>
              <a:gd name="adj" fmla="val 12333"/>
            </a:avLst>
          </a:prstGeom>
          <a:solidFill>
            <a:srgbClr val="FFFFFF">
              <a:alpha val="4000"/>
            </a:srgbClr>
          </a:solidFill>
          <a:ln w="7620">
            <a:solidFill>
              <a:srgbClr val="FFFFFF">
                <a:alpha val="10000"/>
              </a:srgbClr>
            </a:solidFill>
            <a:prstDash val="solid"/>
          </a:ln>
        </p:spPr>
      </p:sp>
      <p:sp>
        <p:nvSpPr>
          <p:cNvPr id="14" name="Text 12"/>
          <p:cNvSpPr/>
          <p:nvPr/>
        </p:nvSpPr>
        <p:spPr>
          <a:xfrm>
            <a:off x="1398270" y="8070850"/>
            <a:ext cx="1704060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180" kern="0" dirty="0">
                <a:solidFill>
                  <a:srgbClr val="60C094"/>
                </a:solidFill>
                <a:latin typeface="Arial" pitchFamily="34" charset="0"/>
                <a:ea typeface="Arial" pitchFamily="34" charset="-122"/>
                <a:cs typeface="Arial" pitchFamily="34" charset="-120"/>
              </a:rPr>
              <a:t>THREE DECISIONS BEFORE WE CLOSE</a:t>
            </a:r>
            <a:endParaRPr lang="en-US" sz="1800" dirty="0"/>
          </a:p>
        </p:txBody>
      </p:sp>
      <p:sp>
        <p:nvSpPr>
          <p:cNvPr id="15" name="Text 13"/>
          <p:cNvSpPr/>
          <p:nvPr/>
        </p:nvSpPr>
        <p:spPr>
          <a:xfrm>
            <a:off x="1398270" y="8832850"/>
            <a:ext cx="394018"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0C094"/>
                </a:solidFill>
                <a:latin typeface="Arial" pitchFamily="34" charset="0"/>
                <a:ea typeface="Arial" pitchFamily="34" charset="-122"/>
                <a:cs typeface="Arial" pitchFamily="34" charset="-120"/>
              </a:rPr>
              <a:t>1.</a:t>
            </a:r>
            <a:endParaRPr lang="en-US" sz="3000" dirty="0"/>
          </a:p>
        </p:txBody>
      </p:sp>
      <p:sp>
        <p:nvSpPr>
          <p:cNvPr id="16" name="Text 14"/>
          <p:cNvSpPr/>
          <p:nvPr/>
        </p:nvSpPr>
        <p:spPr>
          <a:xfrm>
            <a:off x="1906588" y="9118600"/>
            <a:ext cx="6061583"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FFFFFF"/>
                </a:solidFill>
                <a:latin typeface="Arial" pitchFamily="34" charset="0"/>
                <a:ea typeface="Arial" pitchFamily="34" charset="-122"/>
                <a:cs typeface="Arial" pitchFamily="34" charset="-120"/>
              </a:rPr>
              <a:t>Which pilot scope fits your near-term need?</a:t>
            </a:r>
            <a:endParaRPr lang="en-US" sz="2250" dirty="0"/>
          </a:p>
        </p:txBody>
      </p:sp>
      <p:sp>
        <p:nvSpPr>
          <p:cNvPr id="17" name="Text 15"/>
          <p:cNvSpPr/>
          <p:nvPr/>
        </p:nvSpPr>
        <p:spPr>
          <a:xfrm>
            <a:off x="1398270" y="9985375"/>
            <a:ext cx="394018"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0C094"/>
                </a:solidFill>
                <a:latin typeface="Arial" pitchFamily="34" charset="0"/>
                <a:ea typeface="Arial" pitchFamily="34" charset="-122"/>
                <a:cs typeface="Arial" pitchFamily="34" charset="-120"/>
              </a:rPr>
              <a:t>2.</a:t>
            </a:r>
            <a:endParaRPr lang="en-US" sz="3000" dirty="0"/>
          </a:p>
        </p:txBody>
      </p:sp>
      <p:sp>
        <p:nvSpPr>
          <p:cNvPr id="18" name="Text 16"/>
          <p:cNvSpPr/>
          <p:nvPr/>
        </p:nvSpPr>
        <p:spPr>
          <a:xfrm>
            <a:off x="1906588" y="10271125"/>
            <a:ext cx="6848443"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FFFFFF"/>
                </a:solidFill>
                <a:latin typeface="Arial" pitchFamily="34" charset="0"/>
                <a:ea typeface="Arial" pitchFamily="34" charset="-122"/>
                <a:cs typeface="Arial" pitchFamily="34" charset="-120"/>
              </a:rPr>
              <a:t>Who is the internal sponsor for this engagement?</a:t>
            </a:r>
            <a:endParaRPr lang="en-US" sz="2250" dirty="0"/>
          </a:p>
        </p:txBody>
      </p:sp>
      <p:sp>
        <p:nvSpPr>
          <p:cNvPr id="19" name="Text 17"/>
          <p:cNvSpPr/>
          <p:nvPr/>
        </p:nvSpPr>
        <p:spPr>
          <a:xfrm>
            <a:off x="1398270" y="11137900"/>
            <a:ext cx="394018"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0C094"/>
                </a:solidFill>
                <a:latin typeface="Arial" pitchFamily="34" charset="0"/>
                <a:ea typeface="Arial" pitchFamily="34" charset="-122"/>
                <a:cs typeface="Arial" pitchFamily="34" charset="-120"/>
              </a:rPr>
              <a:t>3.</a:t>
            </a:r>
            <a:endParaRPr lang="en-US" sz="3000" dirty="0"/>
          </a:p>
        </p:txBody>
      </p:sp>
      <p:sp>
        <p:nvSpPr>
          <p:cNvPr id="20" name="Text 18"/>
          <p:cNvSpPr/>
          <p:nvPr/>
        </p:nvSpPr>
        <p:spPr>
          <a:xfrm>
            <a:off x="1906588" y="11423650"/>
            <a:ext cx="6899783" cy="4667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FFFFFF"/>
                </a:solidFill>
                <a:latin typeface="Arial" pitchFamily="34" charset="0"/>
                <a:ea typeface="Arial" pitchFamily="34" charset="-122"/>
                <a:cs typeface="Arial" pitchFamily="34" charset="-120"/>
              </a:rPr>
              <a:t>What is your target timeline for a first deliverable?</a:t>
            </a:r>
            <a:endParaRPr lang="en-US" sz="2250" dirty="0"/>
          </a:p>
        </p:txBody>
      </p:sp>
      <p:sp>
        <p:nvSpPr>
          <p:cNvPr id="21" name="Shape 19"/>
          <p:cNvSpPr/>
          <p:nvPr/>
        </p:nvSpPr>
        <p:spPr>
          <a:xfrm>
            <a:off x="1047750" y="8376285"/>
            <a:ext cx="16192500" cy="1186815"/>
          </a:xfrm>
          <a:prstGeom prst="roundRect">
            <a:avLst>
              <a:gd name="adj" fmla="val 6421"/>
            </a:avLst>
          </a:prstGeom>
          <a:solidFill>
            <a:srgbClr val="60C094">
              <a:alpha val="10000"/>
            </a:srgbClr>
          </a:solidFill>
          <a:ln w="7620">
            <a:solidFill>
              <a:srgbClr val="60C094">
                <a:alpha val="30000"/>
              </a:srgbClr>
            </a:solidFill>
            <a:prstDash val="solid"/>
          </a:ln>
        </p:spPr>
      </p:sp>
      <p:sp>
        <p:nvSpPr>
          <p:cNvPr id="22" name="Text 20"/>
          <p:cNvSpPr/>
          <p:nvPr/>
        </p:nvSpPr>
        <p:spPr>
          <a:xfrm>
            <a:off x="581787" y="8783955"/>
            <a:ext cx="17124426" cy="409575"/>
          </a:xfrm>
          <a:prstGeom prst="rect">
            <a:avLst/>
          </a:prstGeom>
          <a:noFill/>
          <a:ln/>
        </p:spPr>
        <p:txBody>
          <a:bodyPr wrap="square" lIns="25400" tIns="25400" rIns="25400" bIns="25400" rtlCol="0" anchor="t">
            <a:normAutofit/>
          </a:bodyPr>
          <a:lstStyle/>
          <a:p>
            <a:pPr algn="ctr" indent="0" marL="0">
              <a:lnSpc>
                <a:spcPct val="150000"/>
              </a:lnSpc>
              <a:buNone/>
            </a:pPr>
            <a:r>
              <a:rPr lang="en-US" sz="1950" b="1" dirty="0">
                <a:solidFill>
                  <a:srgbClr val="60C094"/>
                </a:solidFill>
                <a:latin typeface="Arial" pitchFamily="34" charset="0"/>
                <a:ea typeface="Arial" pitchFamily="34" charset="-122"/>
                <a:cs typeface="Arial" pitchFamily="34" charset="-120"/>
              </a:rPr>
              <a:t>This meeting ends with a decision, not a calendar invite.</a:t>
            </a:r>
            <a:endParaRPr lang="en-US" sz="1950" dirty="0"/>
          </a:p>
        </p:txBody>
      </p:sp>
      <p:sp>
        <p:nvSpPr>
          <p:cNvPr id="23" name="Shape 21"/>
          <p:cNvSpPr/>
          <p:nvPr/>
        </p:nvSpPr>
        <p:spPr>
          <a:xfrm>
            <a:off x="16436340" y="9376410"/>
            <a:ext cx="803910" cy="453390"/>
          </a:xfrm>
          <a:prstGeom prst="roundRect">
            <a:avLst>
              <a:gd name="adj" fmla="val 12605"/>
            </a:avLst>
          </a:prstGeom>
          <a:solidFill>
            <a:srgbClr val="FFFFFF">
              <a:alpha val="8000"/>
            </a:srgbClr>
          </a:solidFill>
          <a:ln w="7620">
            <a:solidFill>
              <a:srgbClr val="FFFFFF">
                <a:alpha val="16000"/>
              </a:srgbClr>
            </a:solidFill>
            <a:prstDash val="solid"/>
          </a:ln>
        </p:spPr>
      </p:sp>
      <p:pic>
        <p:nvPicPr>
          <p:cNvPr id="24" name="Image 0" descr="preencoded.png">    </p:cNvPr>
          <p:cNvPicPr>
            <a:picLocks noChangeAspect="1"/>
          </p:cNvPicPr>
          <p:nvPr/>
        </p:nvPicPr>
        <p:blipFill>
          <a:blip r:embed="rId1"/>
          <a:stretch>
            <a:fillRect/>
          </a:stretch>
        </p:blipFill>
        <p:spPr>
          <a:xfrm>
            <a:off x="16615410" y="9479280"/>
            <a:ext cx="445770" cy="2476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2535"/>
        </a:solidFill>
      </p:bgPr>
    </p:bg>
    <p:spTree>
      <p:nvGrpSpPr>
        <p:cNvPr id="1" name=""/>
        <p:cNvGrpSpPr/>
        <p:nvPr/>
      </p:nvGrpSpPr>
      <p:grpSpPr>
        <a:xfrm>
          <a:off x="0" y="0"/>
          <a:ext cx="0" cy="0"/>
          <a:chOff x="0" y="0"/>
          <a:chExt cx="0" cy="0"/>
        </a:xfrm>
      </p:grpSpPr>
      <p:sp>
        <p:nvSpPr>
          <p:cNvPr id="2" name="Shape 0"/>
          <p:cNvSpPr/>
          <p:nvPr/>
        </p:nvSpPr>
        <p:spPr>
          <a:xfrm>
            <a:off x="18230850" y="0"/>
            <a:ext cx="57150" cy="10287000"/>
          </a:xfrm>
          <a:prstGeom prst="rect">
            <a:avLst/>
          </a:prstGeom>
          <a:gradFill rotWithShape="1">
            <a:gsLst>
              <a:gs pos="0">
                <a:srgbClr val="60C094">
                  <a:alpha val="100000"/>
                </a:srgbClr>
              </a:gs>
              <a:gs pos="100000">
                <a:srgbClr val="00557E">
                  <a:alpha val="100000"/>
                </a:srgbClr>
              </a:gs>
            </a:gsLst>
            <a:lin ang="5400000" scaled="0"/>
          </a:gradFill>
          <a:ln/>
        </p:spPr>
      </p:sp>
      <p:sp>
        <p:nvSpPr>
          <p:cNvPr id="3" name="Text 1"/>
          <p:cNvSpPr/>
          <p:nvPr/>
        </p:nvSpPr>
        <p:spPr>
          <a:xfrm>
            <a:off x="1047750" y="1047750"/>
            <a:ext cx="1781175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spc="216" kern="0" dirty="0">
                <a:solidFill>
                  <a:srgbClr val="60C094"/>
                </a:solidFill>
                <a:latin typeface="Arial" pitchFamily="34" charset="0"/>
                <a:ea typeface="Arial" pitchFamily="34" charset="-122"/>
                <a:cs typeface="Arial" pitchFamily="34" charset="-120"/>
              </a:rPr>
              <a:t>WHY PRIVÉ</a:t>
            </a:r>
            <a:endParaRPr lang="en-US" sz="1800" dirty="0"/>
          </a:p>
        </p:txBody>
      </p:sp>
      <p:sp>
        <p:nvSpPr>
          <p:cNvPr id="4" name="Text 2"/>
          <p:cNvSpPr/>
          <p:nvPr/>
        </p:nvSpPr>
        <p:spPr>
          <a:xfrm>
            <a:off x="1047750" y="1944370"/>
            <a:ext cx="16678275" cy="1253490"/>
          </a:xfrm>
          <a:prstGeom prst="rect">
            <a:avLst/>
          </a:prstGeom>
          <a:noFill/>
          <a:ln/>
        </p:spPr>
        <p:txBody>
          <a:bodyPr wrap="square" lIns="25400" tIns="25400" rIns="25400" bIns="25400" rtlCol="0" anchor="t">
            <a:normAutofit/>
          </a:bodyPr>
          <a:lstStyle/>
          <a:p>
            <a:pPr algn="l" indent="0" marL="0">
              <a:lnSpc>
                <a:spcPct val="110000"/>
              </a:lnSpc>
              <a:buNone/>
            </a:pPr>
            <a:r>
              <a:rPr lang="en-US" sz="4350" b="1" dirty="0">
                <a:solidFill>
                  <a:srgbClr val="FFFFFF"/>
                </a:solidFill>
                <a:latin typeface="Arial" pitchFamily="34" charset="0"/>
                <a:ea typeface="Arial" pitchFamily="34" charset="-122"/>
                <a:cs typeface="Arial" pitchFamily="34" charset="-120"/>
              </a:rPr>
              <a:t>Three reasons — each grounded in what is built, not what is planned.</a:t>
            </a:r>
            <a:endParaRPr lang="en-US" sz="4350" dirty="0"/>
          </a:p>
        </p:txBody>
      </p:sp>
      <p:sp>
        <p:nvSpPr>
          <p:cNvPr id="5" name="Shape 3"/>
          <p:cNvSpPr/>
          <p:nvPr/>
        </p:nvSpPr>
        <p:spPr>
          <a:xfrm>
            <a:off x="1047750" y="3559810"/>
            <a:ext cx="16192500" cy="1848644"/>
          </a:xfrm>
          <a:prstGeom prst="roundRect">
            <a:avLst>
              <a:gd name="adj" fmla="val 4122"/>
            </a:avLst>
          </a:prstGeom>
          <a:solidFill>
            <a:srgbClr val="FFFFFF">
              <a:alpha val="5000"/>
            </a:srgbClr>
          </a:solidFill>
          <a:ln w="7620">
            <a:solidFill>
              <a:srgbClr val="FFFFFF">
                <a:alpha val="12000"/>
              </a:srgbClr>
            </a:solidFill>
            <a:prstDash val="solid"/>
          </a:ln>
        </p:spPr>
      </p:sp>
      <p:sp>
        <p:nvSpPr>
          <p:cNvPr id="6" name="Text 4"/>
          <p:cNvSpPr/>
          <p:nvPr/>
        </p:nvSpPr>
        <p:spPr>
          <a:xfrm>
            <a:off x="1398270" y="4103052"/>
            <a:ext cx="711835"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dirty="0">
                <a:solidFill>
                  <a:srgbClr val="60C094"/>
                </a:solidFill>
                <a:latin typeface="Arial" pitchFamily="34" charset="0"/>
                <a:ea typeface="Arial" pitchFamily="34" charset="-122"/>
                <a:cs typeface="Arial" pitchFamily="34" charset="-120"/>
              </a:rPr>
              <a:t>1.</a:t>
            </a:r>
            <a:endParaRPr lang="en-US" sz="6000" dirty="0"/>
          </a:p>
        </p:txBody>
      </p:sp>
      <p:sp>
        <p:nvSpPr>
          <p:cNvPr id="7" name="Text 5"/>
          <p:cNvSpPr/>
          <p:nvPr/>
        </p:nvSpPr>
        <p:spPr>
          <a:xfrm>
            <a:off x="2300605" y="3769836"/>
            <a:ext cx="16048037" cy="609600"/>
          </a:xfrm>
          <a:prstGeom prst="rect">
            <a:avLst/>
          </a:prstGeom>
          <a:noFill/>
          <a:ln/>
        </p:spPr>
        <p:txBody>
          <a:bodyPr wrap="square" lIns="25400" tIns="25400" rIns="25400" bIns="25400" rtlCol="0" anchor="t">
            <a:normAutofit/>
          </a:bodyPr>
          <a:lstStyle/>
          <a:p>
            <a:pPr algn="l" indent="0" marL="0">
              <a:lnSpc>
                <a:spcPct val="150000"/>
              </a:lnSpc>
              <a:buNone/>
            </a:pPr>
            <a:r>
              <a:rPr lang="en-US" sz="3000" b="1" dirty="0">
                <a:solidFill>
                  <a:srgbClr val="FFFFFF"/>
                </a:solidFill>
                <a:latin typeface="Arial" pitchFamily="34" charset="0"/>
                <a:ea typeface="Arial" pitchFamily="34" charset="-122"/>
                <a:cs typeface="Arial" pitchFamily="34" charset="-120"/>
              </a:rPr>
              <a:t>Compliance Is Built, Not Planned</a:t>
            </a:r>
            <a:endParaRPr lang="en-US" sz="3000" dirty="0"/>
          </a:p>
        </p:txBody>
      </p:sp>
      <p:sp>
        <p:nvSpPr>
          <p:cNvPr id="8" name="Text 6"/>
          <p:cNvSpPr/>
          <p:nvPr/>
        </p:nvSpPr>
        <p:spPr>
          <a:xfrm>
            <a:off x="2300605" y="4588986"/>
            <a:ext cx="1502679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65000"/>
                  </a:srgbClr>
                </a:solidFill>
                <a:latin typeface="Arial" pitchFamily="34" charset="0"/>
                <a:ea typeface="Arial" pitchFamily="34" charset="-122"/>
                <a:cs typeface="Arial" pitchFamily="34" charset="-120"/>
              </a:rPr>
              <a:t>The governance layer — Logging Hook, Confidence Scorer, Decision Record Writer, Audit Store, Override UI — is in System Integration Testing now. Not on a roadmap.</a:t>
            </a:r>
            <a:endParaRPr lang="en-US" sz="1950" dirty="0"/>
          </a:p>
        </p:txBody>
      </p:sp>
      <p:sp>
        <p:nvSpPr>
          <p:cNvPr id="9" name="Shape 7"/>
          <p:cNvSpPr/>
          <p:nvPr/>
        </p:nvSpPr>
        <p:spPr>
          <a:xfrm>
            <a:off x="1047750" y="5637054"/>
            <a:ext cx="16192500" cy="1848803"/>
          </a:xfrm>
          <a:prstGeom prst="roundRect">
            <a:avLst>
              <a:gd name="adj" fmla="val 4122"/>
            </a:avLst>
          </a:prstGeom>
          <a:solidFill>
            <a:srgbClr val="60C094">
              <a:alpha val="10000"/>
            </a:srgbClr>
          </a:solidFill>
          <a:ln w="7620">
            <a:solidFill>
              <a:srgbClr val="60C094">
                <a:alpha val="30000"/>
              </a:srgbClr>
            </a:solidFill>
            <a:prstDash val="solid"/>
          </a:ln>
        </p:spPr>
      </p:sp>
      <p:sp>
        <p:nvSpPr>
          <p:cNvPr id="10" name="Text 8"/>
          <p:cNvSpPr/>
          <p:nvPr/>
        </p:nvSpPr>
        <p:spPr>
          <a:xfrm>
            <a:off x="1398270" y="6180455"/>
            <a:ext cx="711835"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dirty="0">
                <a:solidFill>
                  <a:srgbClr val="60C094"/>
                </a:solidFill>
                <a:latin typeface="Arial" pitchFamily="34" charset="0"/>
                <a:ea typeface="Arial" pitchFamily="34" charset="-122"/>
                <a:cs typeface="Arial" pitchFamily="34" charset="-120"/>
              </a:rPr>
              <a:t>2.</a:t>
            </a:r>
            <a:endParaRPr lang="en-US" sz="6000" dirty="0"/>
          </a:p>
        </p:txBody>
      </p:sp>
      <p:sp>
        <p:nvSpPr>
          <p:cNvPr id="11" name="Text 9"/>
          <p:cNvSpPr/>
          <p:nvPr/>
        </p:nvSpPr>
        <p:spPr>
          <a:xfrm>
            <a:off x="2300605" y="5847080"/>
            <a:ext cx="16048037" cy="609600"/>
          </a:xfrm>
          <a:prstGeom prst="rect">
            <a:avLst/>
          </a:prstGeom>
          <a:noFill/>
          <a:ln/>
        </p:spPr>
        <p:txBody>
          <a:bodyPr wrap="square" lIns="25400" tIns="25400" rIns="25400" bIns="25400" rtlCol="0" anchor="t">
            <a:normAutofit/>
          </a:bodyPr>
          <a:lstStyle/>
          <a:p>
            <a:pPr algn="l" indent="0" marL="0">
              <a:lnSpc>
                <a:spcPct val="150000"/>
              </a:lnSpc>
              <a:buNone/>
            </a:pPr>
            <a:r>
              <a:rPr lang="en-US" sz="3000" b="1" dirty="0">
                <a:solidFill>
                  <a:srgbClr val="FFFFFF"/>
                </a:solidFill>
                <a:latin typeface="Arial" pitchFamily="34" charset="0"/>
                <a:ea typeface="Arial" pitchFamily="34" charset="-122"/>
                <a:cs typeface="Arial" pitchFamily="34" charset="-120"/>
              </a:rPr>
              <a:t>Dual-Track Strategy Serves Both Time Horizons</a:t>
            </a:r>
            <a:endParaRPr lang="en-US" sz="3000" dirty="0"/>
          </a:p>
        </p:txBody>
      </p:sp>
      <p:sp>
        <p:nvSpPr>
          <p:cNvPr id="12" name="Text 10"/>
          <p:cNvSpPr/>
          <p:nvPr/>
        </p:nvSpPr>
        <p:spPr>
          <a:xfrm>
            <a:off x="2300605" y="6666230"/>
            <a:ext cx="1502679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65000"/>
                  </a:srgbClr>
                </a:solidFill>
                <a:latin typeface="Arial" pitchFamily="34" charset="0"/>
                <a:ea typeface="Arial" pitchFamily="34" charset="-122"/>
                <a:cs typeface="Arial" pitchFamily="34" charset="-120"/>
              </a:rPr>
              <a:t>Track A: operational scale and compliance posture, deployable now. Track B: proprietary differentiation, built at the client's pace. One vendor, both problems.</a:t>
            </a:r>
            <a:endParaRPr lang="en-US" sz="1950" dirty="0"/>
          </a:p>
        </p:txBody>
      </p:sp>
      <p:sp>
        <p:nvSpPr>
          <p:cNvPr id="13" name="Shape 11"/>
          <p:cNvSpPr/>
          <p:nvPr/>
        </p:nvSpPr>
        <p:spPr>
          <a:xfrm>
            <a:off x="1047750" y="7714456"/>
            <a:ext cx="16192500" cy="1848644"/>
          </a:xfrm>
          <a:prstGeom prst="roundRect">
            <a:avLst>
              <a:gd name="adj" fmla="val 4122"/>
            </a:avLst>
          </a:prstGeom>
          <a:solidFill>
            <a:srgbClr val="00557E">
              <a:alpha val="30000"/>
            </a:srgbClr>
          </a:solidFill>
          <a:ln w="7620">
            <a:solidFill>
              <a:srgbClr val="00557E">
                <a:alpha val="50000"/>
              </a:srgbClr>
            </a:solidFill>
            <a:prstDash val="solid"/>
          </a:ln>
        </p:spPr>
      </p:sp>
      <p:sp>
        <p:nvSpPr>
          <p:cNvPr id="14" name="Text 12"/>
          <p:cNvSpPr/>
          <p:nvPr/>
        </p:nvSpPr>
        <p:spPr>
          <a:xfrm>
            <a:off x="1398270" y="8257699"/>
            <a:ext cx="711835"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dirty="0">
                <a:solidFill>
                  <a:srgbClr val="60C094"/>
                </a:solidFill>
                <a:latin typeface="Arial" pitchFamily="34" charset="0"/>
                <a:ea typeface="Arial" pitchFamily="34" charset="-122"/>
                <a:cs typeface="Arial" pitchFamily="34" charset="-120"/>
              </a:rPr>
              <a:t>3.</a:t>
            </a:r>
            <a:endParaRPr lang="en-US" sz="6000" dirty="0"/>
          </a:p>
        </p:txBody>
      </p:sp>
      <p:sp>
        <p:nvSpPr>
          <p:cNvPr id="15" name="Text 13"/>
          <p:cNvSpPr/>
          <p:nvPr/>
        </p:nvSpPr>
        <p:spPr>
          <a:xfrm>
            <a:off x="2300605" y="7924483"/>
            <a:ext cx="16048037" cy="609600"/>
          </a:xfrm>
          <a:prstGeom prst="rect">
            <a:avLst/>
          </a:prstGeom>
          <a:noFill/>
          <a:ln/>
        </p:spPr>
        <p:txBody>
          <a:bodyPr wrap="square" lIns="25400" tIns="25400" rIns="25400" bIns="25400" rtlCol="0" anchor="t">
            <a:normAutofit/>
          </a:bodyPr>
          <a:lstStyle/>
          <a:p>
            <a:pPr algn="l" indent="0" marL="0">
              <a:lnSpc>
                <a:spcPct val="150000"/>
              </a:lnSpc>
              <a:buNone/>
            </a:pPr>
            <a:r>
              <a:rPr lang="en-US" sz="3000" b="1" dirty="0">
                <a:solidFill>
                  <a:srgbClr val="FFFFFF"/>
                </a:solidFill>
                <a:latin typeface="Arial" pitchFamily="34" charset="0"/>
                <a:ea typeface="Arial" pitchFamily="34" charset="-122"/>
                <a:cs typeface="Arial" pitchFamily="34" charset="-120"/>
              </a:rPr>
              <a:t>Single Accountable Vendor</a:t>
            </a:r>
            <a:endParaRPr lang="en-US" sz="3000" dirty="0"/>
          </a:p>
        </p:txBody>
      </p:sp>
      <p:sp>
        <p:nvSpPr>
          <p:cNvPr id="16" name="Text 14"/>
          <p:cNvSpPr/>
          <p:nvPr/>
        </p:nvSpPr>
        <p:spPr>
          <a:xfrm>
            <a:off x="2300605" y="8743633"/>
            <a:ext cx="15026798"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FFFFFF">
                    <a:alpha val="65000"/>
                  </a:srgbClr>
                </a:solidFill>
                <a:latin typeface="Arial" pitchFamily="34" charset="0"/>
                <a:ea typeface="Arial" pitchFamily="34" charset="-122"/>
                <a:cs typeface="Arial" pitchFamily="34" charset="-120"/>
              </a:rPr>
              <a:t>Governance, compliance infrastructure, and audit trail are internally owned. No third-party risk. No split accountability when a regulator asks a question.</a:t>
            </a:r>
            <a:endParaRPr lang="en-US" sz="1950" dirty="0"/>
          </a:p>
        </p:txBody>
      </p:sp>
      <p:sp>
        <p:nvSpPr>
          <p:cNvPr id="17" name="Shape 15"/>
          <p:cNvSpPr/>
          <p:nvPr/>
        </p:nvSpPr>
        <p:spPr>
          <a:xfrm>
            <a:off x="16245840" y="9376410"/>
            <a:ext cx="803910" cy="453390"/>
          </a:xfrm>
          <a:prstGeom prst="roundRect">
            <a:avLst>
              <a:gd name="adj" fmla="val 12605"/>
            </a:avLst>
          </a:prstGeom>
          <a:solidFill>
            <a:srgbClr val="FFFFFF">
              <a:alpha val="8000"/>
            </a:srgbClr>
          </a:solidFill>
          <a:ln w="7620">
            <a:solidFill>
              <a:srgbClr val="FFFFFF">
                <a:alpha val="16000"/>
              </a:srgbClr>
            </a:solidFill>
            <a:prstDash val="solid"/>
          </a:ln>
        </p:spPr>
      </p:sp>
      <p:pic>
        <p:nvPicPr>
          <p:cNvPr id="18" name="Image 0" descr="preencoded.png">    </p:cNvPr>
          <p:cNvPicPr>
            <a:picLocks noChangeAspect="1"/>
          </p:cNvPicPr>
          <p:nvPr/>
        </p:nvPicPr>
        <p:blipFill>
          <a:blip r:embed="rId1"/>
          <a:stretch>
            <a:fillRect/>
          </a:stretch>
        </p:blipFill>
        <p:spPr>
          <a:xfrm>
            <a:off x="16424910" y="9479280"/>
            <a:ext cx="445770" cy="2476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2026-06-26T04:40:23Z</dcterms:created>
  <dcterms:modified xsi:type="dcterms:W3CDTF">2026-06-26T04:40:23Z</dcterms:modified>
</cp:coreProperties>
</file>